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9400FF"/>
                </a:solidFill>
              </a:rPr>
              <a:t>ZEN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70432" y="18288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95909C"/>
                </a:solidFill>
              </a:rPr>
              <a:t>AI ONBOARDING AGENT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40080" y="420624"/>
            <a:ext cx="10908792" cy="0"/>
          </a:xfrm>
          <a:prstGeom prst="line">
            <a:avLst/>
          </a:prstGeom>
          <a:noFill/>
          <a:ln w="8890">
            <a:solidFill>
              <a:srgbClr val="E6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8890">
            <a:solidFill>
              <a:srgbClr val="E6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8368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5909C"/>
                </a:solidFill>
              </a:rPr>
              <a:t>ZEN  / 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9216" y="-1143000"/>
            <a:ext cx="3840480" cy="3840480"/>
          </a:xfrm>
          <a:prstGeom prst="ellipse">
            <a:avLst/>
          </a:prstGeom>
          <a:solidFill>
            <a:srgbClr val="F4E9FE">
              <a:alpha val="70000"/>
            </a:srgbClr>
          </a:solidFill>
          <a:ln w="12700">
            <a:solidFill>
              <a:srgbClr val="F4E9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603504" y="512064"/>
            <a:ext cx="438912" cy="438912"/>
          </a:xfrm>
          <a:prstGeom prst="arc">
            <a:avLst/>
          </a:prstGeom>
          <a:solidFill>
            <a:srgbClr val="FBFAFC">
              <a:alpha val="0"/>
            </a:srgbClr>
          </a:solidFill>
          <a:ln w="57150">
            <a:solidFill>
              <a:srgbClr val="94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630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141019"/>
                </a:solidFill>
              </a:rPr>
              <a:t>ZEN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5" kern="0" dirty="0">
                <a:solidFill>
                  <a:srgbClr val="9400FF"/>
                </a:solidFill>
              </a:rPr>
              <a:t>ZEN  |  AI-NATIVE ENTERPRISE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728216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41019"/>
                </a:solidFill>
              </a:rPr>
              <a:t>Your customer is stuck.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41019"/>
                </a:solidFill>
              </a:rPr>
              <a:t>Zen can see why.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3493008"/>
            <a:ext cx="4498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55F6D"/>
                </a:solidFill>
              </a:rPr>
              <a:t>An AI onboarding agent that sees the customer’s screen, guides every step, and brings in a human only when it matters.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50992" y="960120"/>
            <a:ext cx="6053328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1DCE5"/>
            </a:solidFill>
            <a:prstDash val="solid"/>
          </a:ln>
          <a:effectLst>
            <a:outerShdw sx="100000" sy="100000" kx="0" ky="0" algn="bl" rotWithShape="0" blurRad="25400" dist="50800" dir="2700000">
              <a:srgbClr val="AFA7B5">
                <a:alpha val="25000"/>
              </a:srgbClr>
            </a:outerShdw>
          </a:effectLst>
        </p:spPr>
      </p:sp>
      <p:pic>
        <p:nvPicPr>
          <p:cNvPr id="9" name="Image 0" descr="Q:\personal\hackathon\devpost\04-live-session-spo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051560"/>
            <a:ext cx="5870448" cy="3913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21424" y="4681728"/>
            <a:ext cx="3127248" cy="566928"/>
          </a:xfrm>
          <a:prstGeom prst="roundRect">
            <a:avLst>
              <a:gd name="adj" fmla="val 12903"/>
            </a:avLst>
          </a:prstGeom>
          <a:solidFill>
            <a:srgbClr val="141019"/>
          </a:solidFill>
          <a:ln w="12700">
            <a:solidFill>
              <a:srgbClr val="141019"/>
            </a:solidFill>
            <a:prstDash val="solid"/>
          </a:ln>
          <a:effectLst>
            <a:outerShdw sx="100000" sy="100000" kx="0" ky="0" algn="bl" rotWithShape="0" blurRad="19050" dist="50800" dir="2700000">
              <a:srgbClr val="5A516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40880" y="48463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Zen sees the active screen and points to the next action.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519379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90" kern="0" dirty="0">
                <a:solidFill>
                  <a:srgbClr val="9400FF"/>
                </a:solidFill>
              </a:rPr>
              <a:t>SEE</a:t>
            </a:r>
            <a:pPr indent="0" marL="0">
              <a:buNone/>
            </a:pPr>
            <a:r>
              <a:rPr lang="en-US" sz="850" spc="90" kern="0" dirty="0">
                <a:solidFill>
                  <a:srgbClr val="ADA7B4"/>
                </a:solidFill>
              </a:rPr>
              <a:t>     →     </a:t>
            </a:r>
            <a:pPr indent="0" marL="0">
              <a:buNone/>
            </a:pPr>
            <a:r>
              <a:rPr lang="en-US" sz="850" b="1" spc="90" kern="0" dirty="0">
                <a:solidFill>
                  <a:srgbClr val="141019"/>
                </a:solidFill>
              </a:rPr>
              <a:t>UNDERSTAND</a:t>
            </a:r>
            <a:pPr indent="0" marL="0">
              <a:buNone/>
            </a:pPr>
            <a:r>
              <a:rPr lang="en-US" sz="850" spc="90" kern="0" dirty="0">
                <a:solidFill>
                  <a:srgbClr val="ADA7B4"/>
                </a:solidFill>
              </a:rPr>
              <a:t>     →     </a:t>
            </a:r>
            <a:pPr indent="0" marL="0">
              <a:buNone/>
            </a:pPr>
            <a:r>
              <a:rPr lang="en-US" sz="850" b="1" spc="90" kern="0" dirty="0">
                <a:solidFill>
                  <a:srgbClr val="9400FF"/>
                </a:solidFill>
              </a:rPr>
              <a:t>GUIDE</a:t>
            </a:r>
            <a:pPr indent="0" marL="0">
              <a:buNone/>
            </a:pPr>
            <a:r>
              <a:rPr lang="en-US" sz="850" spc="90" kern="0" dirty="0">
                <a:solidFill>
                  <a:srgbClr val="ADA7B4"/>
                </a:solidFill>
              </a:rPr>
              <a:t>     →     </a:t>
            </a:r>
            <a:pPr indent="0" marL="0">
              <a:buNone/>
            </a:pPr>
            <a:r>
              <a:rPr lang="en-US" sz="850" b="1" spc="90" kern="0" dirty="0">
                <a:solidFill>
                  <a:srgbClr val="141019"/>
                </a:solidFill>
              </a:rPr>
              <a:t>ESCALATE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0080" y="5532120"/>
            <a:ext cx="4389120" cy="0"/>
          </a:xfrm>
          <a:prstGeom prst="line">
            <a:avLst/>
          </a:prstGeom>
          <a:noFill/>
          <a:ln w="10160">
            <a:solidFill>
              <a:srgbClr val="DED9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84301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8D8791"/>
                </a:solidFill>
              </a:rPr>
              <a:t>AI ONBOARDING FOR B2B SAAS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Onboarding still scales with headcount.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Every new customer adds scheduling, repetition and avoidable delay.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46704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4871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9400FF"/>
                </a:solidFill>
              </a:rPr>
              <a:t>5 days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32688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019"/>
                </a:solidFill>
              </a:rPr>
              <a:t>Waiting for a slot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32688" y="3712464"/>
            <a:ext cx="566928" cy="0"/>
          </a:xfrm>
          <a:prstGeom prst="line">
            <a:avLst/>
          </a:prstGeom>
          <a:noFill/>
          <a:ln w="25400">
            <a:solidFill>
              <a:srgbClr val="DDBF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931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5F6D"/>
                </a:solidFill>
              </a:rPr>
              <a:t>The customer is ready Monday.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55F6D"/>
                </a:solidFill>
              </a:rPr>
              <a:t>The specialist is free Friday.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346704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4871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9400FF"/>
                </a:solidFill>
              </a:rPr>
              <a:t>40×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36008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019"/>
                </a:solidFill>
              </a:rPr>
              <a:t>The same walkthrough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36008" y="3712464"/>
            <a:ext cx="566928" cy="0"/>
          </a:xfrm>
          <a:prstGeom prst="line">
            <a:avLst/>
          </a:prstGeom>
          <a:noFill/>
          <a:ln w="25400">
            <a:solidFill>
              <a:srgbClr val="DDBF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3931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5F6D"/>
                </a:solidFill>
              </a:rPr>
              <a:t>Your best CSM repeats 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55F6D"/>
                </a:solidFill>
              </a:rPr>
              <a:t>setup call over and over.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346704" cy="2697480"/>
          </a:xfrm>
          <a:prstGeom prst="roundRect">
            <a:avLst>
              <a:gd name="adj" fmla="val 3051"/>
            </a:avLst>
          </a:prstGeom>
          <a:solidFill>
            <a:srgbClr val="FDF3F3"/>
          </a:solidFill>
          <a:ln w="11430">
            <a:solidFill>
              <a:srgbClr val="F0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24871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CE3F3F"/>
                </a:solidFill>
              </a:rPr>
              <a:t>1 step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339328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019"/>
                </a:solidFill>
              </a:rPr>
              <a:t>Silent drop-off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39328" y="3712464"/>
            <a:ext cx="566928" cy="0"/>
          </a:xfrm>
          <a:prstGeom prst="line">
            <a:avLst/>
          </a:prstGeom>
          <a:noFill/>
          <a:ln w="25400">
            <a:solidFill>
              <a:srgbClr val="F0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3931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5F6D"/>
                </a:solidFill>
              </a:rPr>
              <a:t>One confusing screen and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55F6D"/>
                </a:solidFill>
              </a:rPr>
              <a:t>customer quietly disappears.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669280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019"/>
                </a:solidFill>
              </a:rPr>
              <a:t>The bottleneck is not knowledge. It is context, timing and availability.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C79BF0"/>
                </a:solidFill>
              </a:rPr>
              <a:t>THE INSIGHT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7C7484"/>
                </a:solidFill>
              </a:rPr>
              <a:t>A chatbot answers questions.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Zen sees the work.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3950208"/>
            <a:ext cx="1737360" cy="0"/>
          </a:xfrm>
          <a:prstGeom prst="line">
            <a:avLst/>
          </a:prstGeom>
          <a:noFill/>
          <a:ln w="38100">
            <a:solidFill>
              <a:srgbClr val="940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6110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5AFBC"/>
                </a:solidFill>
              </a:rPr>
              <a:t>It reads the live screen, knows which step the customer is on, and acts on what it sees — not on what it was asked.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HOW IT 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See. Understand. Guide. Escalate.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One loop that runs on every session, adapted to each customer.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39696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08093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9400FF"/>
                </a:solidFill>
              </a:rPr>
              <a:t>See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43230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Reads the live screen and the customer’s actual setup.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" y="2487168"/>
            <a:ext cx="0" cy="621792"/>
          </a:xfrm>
          <a:prstGeom prst="line">
            <a:avLst/>
          </a:prstGeom>
          <a:noFill/>
          <a:ln w="13970">
            <a:solidFill>
              <a:srgbClr val="E6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163824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32221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31272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1019"/>
                </a:solidFill>
              </a:rPr>
              <a:t>Understand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34564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Builds a plan around their goal — no fixed script.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" y="3511296"/>
            <a:ext cx="0" cy="621792"/>
          </a:xfrm>
          <a:prstGeom prst="line">
            <a:avLst/>
          </a:prstGeom>
          <a:noFill/>
          <a:ln w="13970">
            <a:solidFill>
              <a:srgbClr val="E6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87952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56349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" y="4151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9400FF"/>
                </a:solidFill>
              </a:rPr>
              <a:t>Guide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7280" y="4480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Highlights the exact next action and waits.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4535424"/>
            <a:ext cx="0" cy="621792"/>
          </a:xfrm>
          <a:prstGeom prst="line">
            <a:avLst/>
          </a:prstGeom>
          <a:noFill/>
          <a:ln w="13970">
            <a:solidFill>
              <a:srgbClr val="E6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212080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280477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7280" y="51755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1019"/>
                </a:solidFill>
              </a:rPr>
              <a:t>Escalate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97280" y="55046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Hands to a human with full context attached.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38444" y="2071116"/>
            <a:ext cx="5742432" cy="3849624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 w="12700">
            <a:solidFill>
              <a:srgbClr val="E6E2EA"/>
            </a:solidFill>
            <a:prstDash val="solid"/>
          </a:ln>
          <a:effectLst>
            <a:outerShdw sx="100000" sy="100000" kx="0" ky="0" algn="bl" rotWithShape="0" blurRad="25400" dist="50800" dir="2700000">
              <a:srgbClr val="A9A1B0">
                <a:alpha val="22000"/>
              </a:srgbClr>
            </a:outerShdw>
          </a:effectLst>
        </p:spPr>
      </p:sp>
      <p:pic>
        <p:nvPicPr>
          <p:cNvPr id="25" name="Image 0" descr="Q:\personal\hackathon\devpost\02-how-it-wo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103120"/>
            <a:ext cx="5678424" cy="3785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EXAMPLE 01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Zen points. The customer acts.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The instruction appears where the work is happening — not in a help article.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8076" y="2025396"/>
            <a:ext cx="6464808" cy="4331208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12700">
            <a:solidFill>
              <a:srgbClr val="E6E2EA"/>
            </a:solidFill>
            <a:prstDash val="solid"/>
          </a:ln>
          <a:effectLst>
            <a:outerShdw sx="100000" sy="100000" kx="0" ky="0" algn="bl" rotWithShape="0" blurRad="25400" dist="50800" dir="2700000">
              <a:srgbClr val="A9A1B0">
                <a:alpha val="22000"/>
              </a:srgbClr>
            </a:outerShdw>
          </a:effectLst>
        </p:spPr>
      </p:sp>
      <p:pic>
        <p:nvPicPr>
          <p:cNvPr id="6" name="Image 0" descr="Q:\personal\hackathon\devpost\04-live-session-spo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6400800" cy="426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79792" y="2103120"/>
            <a:ext cx="1325880" cy="246888"/>
          </a:xfrm>
          <a:prstGeom prst="roundRect">
            <a:avLst>
              <a:gd name="adj" fmla="val 50000"/>
            </a:avLst>
          </a:prstGeom>
          <a:solidFill>
            <a:srgbClr val="F4E9FE"/>
          </a:solidFill>
          <a:ln w="12700">
            <a:solidFill>
              <a:srgbClr val="F4E9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34656" y="2148840"/>
            <a:ext cx="12161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9400FF"/>
                </a:solidFill>
              </a:rPr>
              <a:t>IN THE MOMENT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479792" y="2606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5909C"/>
                </a:solidFill>
              </a:rPr>
              <a:t>Customer goal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79792" y="28712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1019"/>
                </a:solidFill>
              </a:rPr>
              <a:t>Connect the accounting system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479792" y="36576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Zen finds the right integration, spotlights the real button, and waits until it is done.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79792" y="4572000"/>
            <a:ext cx="3886200" cy="0"/>
          </a:xfrm>
          <a:prstGeom prst="line">
            <a:avLst/>
          </a:prstGeom>
          <a:noFill/>
          <a:ln w="11430">
            <a:solidFill>
              <a:srgbClr val="E6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79792" y="47914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9400FF"/>
                </a:solidFill>
              </a:rPr>
              <a:t>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479792" y="53218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clear next step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491472" y="47914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9400FF"/>
                </a:solidFill>
              </a:rPr>
              <a:t>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491472" y="53218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tabs to search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79792" y="5870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Context turns documentation into action.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EXAMPLE 02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Zen catches the costly “small” mistake.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Understanding the setup — not just answering the question.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8076" y="2025396"/>
            <a:ext cx="6464808" cy="4331208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12700">
            <a:solidFill>
              <a:srgbClr val="E6E2EA"/>
            </a:solidFill>
            <a:prstDash val="solid"/>
          </a:ln>
          <a:effectLst>
            <a:outerShdw sx="100000" sy="100000" kx="0" ky="0" algn="bl" rotWithShape="0" blurRad="25400" dist="50800" dir="2700000">
              <a:srgbClr val="A9A1B0">
                <a:alpha val="22000"/>
              </a:srgbClr>
            </a:outerShdw>
          </a:effectLst>
        </p:spPr>
      </p:sp>
      <p:pic>
        <p:nvPicPr>
          <p:cNvPr id="6" name="Image 0" descr="Q:\personal\hackathon\devpost\06-mapping-g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6400800" cy="426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79792" y="2084832"/>
            <a:ext cx="3931920" cy="1481328"/>
          </a:xfrm>
          <a:prstGeom prst="roundRect">
            <a:avLst>
              <a:gd name="adj" fmla="val 5556"/>
            </a:avLst>
          </a:prstGeom>
          <a:solidFill>
            <a:srgbClr val="FDF3F3"/>
          </a:solidFill>
          <a:ln w="11430">
            <a:solidFill>
              <a:srgbClr val="F0C9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54112" y="2340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E3F3F"/>
                </a:solidFill>
              </a:rPr>
              <a:t>DEFAULT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54112" y="26151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CE3F3F"/>
                </a:solidFill>
              </a:rPr>
              <a:t>GST 10%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54112" y="31455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Wrong for a health provider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253728" y="3712464"/>
            <a:ext cx="384048" cy="512064"/>
          </a:xfrm>
          <a:prstGeom prst="downArrow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79792" y="4389120"/>
            <a:ext cx="3931920" cy="1481328"/>
          </a:xfrm>
          <a:prstGeom prst="roundRect">
            <a:avLst>
              <a:gd name="adj" fmla="val 5556"/>
            </a:avLst>
          </a:prstGeom>
          <a:solidFill>
            <a:srgbClr val="E9F7EF"/>
          </a:solidFill>
          <a:ln w="11430">
            <a:solidFill>
              <a:srgbClr val="B4E2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54112" y="4645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1824A"/>
                </a:solidFill>
              </a:rPr>
              <a:t>ZEN CORRECTS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754112" y="49194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824A"/>
                </a:solidFill>
              </a:rPr>
              <a:t>GST-FREE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754112" y="5449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Correct for this customer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79792" y="6035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019"/>
                </a:solidFill>
              </a:rPr>
              <a:t>Prevents rework  •  Protects trust  •  Speeds go-live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WHERE WE START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Healthcare operations SaaS.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Begin where setup is complex, regulated and repeated across many sites.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794760" cy="4023360"/>
          </a:xfrm>
          <a:prstGeom prst="roundRect">
            <a:avLst>
              <a:gd name="adj" fmla="val 2169"/>
            </a:avLst>
          </a:prstGeom>
          <a:solidFill>
            <a:srgbClr val="141019"/>
          </a:solidFill>
          <a:ln w="11430">
            <a:solidFill>
              <a:srgbClr val="1410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95728"/>
            <a:ext cx="1371600" cy="246888"/>
          </a:xfrm>
          <a:prstGeom prst="roundRect">
            <a:avLst>
              <a:gd name="adj" fmla="val 50000"/>
            </a:avLst>
          </a:prstGeom>
          <a:solidFill>
            <a:srgbClr val="332C3B"/>
          </a:solidFill>
          <a:ln w="12700">
            <a:solidFill>
              <a:srgbClr val="332C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441448"/>
            <a:ext cx="1261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D3ADF5"/>
                </a:solidFill>
              </a:rPr>
              <a:t>IDEAL CUSTOMER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0" y="290779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Vertical SaaS serving multi-site clinics.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14400" y="40416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DA6B5"/>
                </a:solidFill>
              </a:rPr>
              <a:t>Practice management  •  Billing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DA6B5"/>
                </a:solidFill>
              </a:rPr>
              <a:t>Patient engagement  •  Workforce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4754880"/>
            <a:ext cx="1371600" cy="0"/>
          </a:xfrm>
          <a:prstGeom prst="line">
            <a:avLst/>
          </a:prstGeom>
          <a:noFill/>
          <a:ln w="31750">
            <a:solidFill>
              <a:srgbClr val="94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99262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 configuration, thin CS capacity, costly setup errors.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396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9400FF"/>
                </a:solidFill>
              </a:rPr>
              <a:t>ONE CUSTOMER, ONE TAILORED PLAYBOOK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56048" y="2578608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2647005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68112" y="25877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1019"/>
                </a:solidFill>
              </a:rPr>
              <a:t>Import practitioners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63840" y="2606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Roles, locations, provider IDs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11496" y="2944368"/>
            <a:ext cx="0" cy="457200"/>
          </a:xfrm>
          <a:prstGeom prst="line">
            <a:avLst/>
          </a:prstGeom>
          <a:noFill/>
          <a:ln w="13970">
            <a:solidFill>
              <a:srgbClr val="E6E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6048" y="3419856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3488253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68112" y="34290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1019"/>
                </a:solidFill>
              </a:rPr>
              <a:t>Connect systems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63840" y="3447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Calendar, accounting, payments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11496" y="3785616"/>
            <a:ext cx="0" cy="457200"/>
          </a:xfrm>
          <a:prstGeom prst="line">
            <a:avLst/>
          </a:prstGeom>
          <a:noFill/>
          <a:ln w="13970">
            <a:solidFill>
              <a:srgbClr val="E6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6048" y="4261104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4329501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68112" y="42702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1019"/>
                </a:solidFill>
              </a:rPr>
              <a:t>Apply clinic policy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863840" y="42885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Tax rules, permissions, workflows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11496" y="4626864"/>
            <a:ext cx="0" cy="457200"/>
          </a:xfrm>
          <a:prstGeom prst="line">
            <a:avLst/>
          </a:prstGeom>
          <a:noFill/>
          <a:ln w="13970">
            <a:solidFill>
              <a:srgbClr val="E6E2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6048" y="5102352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5170749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68112" y="51114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1019"/>
                </a:solidFill>
              </a:rPr>
              <a:t>Train each role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863840" y="5129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Front desk, clinicians, admins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5742432"/>
            <a:ext cx="6611112" cy="384048"/>
          </a:xfrm>
          <a:prstGeom prst="roundRect">
            <a:avLst>
              <a:gd name="adj" fmla="val 21429"/>
            </a:avLst>
          </a:prstGeom>
          <a:solidFill>
            <a:srgbClr val="F4E9FE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5852160"/>
            <a:ext cx="6336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00C4"/>
                </a:solidFill>
              </a:rPr>
              <a:t>Customization layer  →  customer policies  ·  role-based flows  ·  approved terminology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INTEGRATION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Embed once. Connect what they already run.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Zen orchestrates across systems — it does not replace the system of record.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21408"/>
            <a:ext cx="2788920" cy="3520440"/>
          </a:xfrm>
          <a:prstGeom prst="roundRect">
            <a:avLst>
              <a:gd name="adj" fmla="val 2951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95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95909C"/>
                </a:solidFill>
              </a:rPr>
              <a:t>YOUR PRODUCT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24128" y="283464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3072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400FF"/>
                </a:solidFill>
              </a:rPr>
              <a:t>&lt;/&gt;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24128" y="34930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019"/>
                </a:solidFill>
              </a:rPr>
              <a:t>Web or mobile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88720" y="4206240"/>
            <a:ext cx="1691640" cy="246888"/>
          </a:xfrm>
          <a:prstGeom prst="roundRect">
            <a:avLst>
              <a:gd name="adj" fmla="val 50000"/>
            </a:avLst>
          </a:prstGeom>
          <a:solidFill>
            <a:srgbClr val="141019"/>
          </a:solidFill>
          <a:ln w="12700">
            <a:solidFill>
              <a:srgbClr val="1410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4251960"/>
            <a:ext cx="1581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FFFFFF"/>
                </a:solidFill>
              </a:rPr>
              <a:t>ONE-LINE SDK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22960" y="4681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5F6D"/>
                </a:solidFill>
              </a:rPr>
              <a:t>or secure session link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3611880"/>
            <a:ext cx="256032" cy="475488"/>
          </a:xfrm>
          <a:prstGeom prst="chevron">
            <a:avLst/>
          </a:prstGeom>
          <a:solidFill>
            <a:srgbClr val="DDBFF7"/>
          </a:solidFill>
          <a:ln w="12700">
            <a:solidFill>
              <a:srgbClr val="DDBF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24528" y="2121408"/>
            <a:ext cx="2834640" cy="3520440"/>
          </a:xfrm>
          <a:prstGeom prst="roundRect">
            <a:avLst>
              <a:gd name="adj" fmla="val 2903"/>
            </a:avLst>
          </a:prstGeom>
          <a:solidFill>
            <a:srgbClr val="F4E9FE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39572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ZEN ORCHESTRATION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80560" y="2798064"/>
            <a:ext cx="2322576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2953512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019"/>
                </a:solidFill>
              </a:rPr>
              <a:t>Session + screen context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3419856"/>
            <a:ext cx="2322576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3575304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019"/>
                </a:solidFill>
              </a:rPr>
              <a:t>Customer playbook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80560" y="4041648"/>
            <a:ext cx="2322576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4197096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019"/>
                </a:solidFill>
              </a:rPr>
              <a:t>Tool calls + policy checks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4663440"/>
            <a:ext cx="2322576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4818888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019"/>
                </a:solidFill>
              </a:rPr>
              <a:t>Human escalation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69480" y="3611880"/>
            <a:ext cx="256032" cy="475488"/>
          </a:xfrm>
          <a:prstGeom prst="chevron">
            <a:avLst/>
          </a:prstGeom>
          <a:solidFill>
            <a:srgbClr val="DDBFF7"/>
          </a:solidFill>
          <a:ln w="12700">
            <a:solidFill>
              <a:srgbClr val="DDBF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2128" y="2121408"/>
            <a:ext cx="3666744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23957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95909C"/>
                </a:solidFill>
              </a:rPr>
              <a:t>SYSTEMS ALREADY IN PLACE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101584" y="28529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IDENTITY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942832" y="28346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019"/>
                </a:solidFill>
              </a:rPr>
              <a:t>Okta  ·  Entra ID  ·  WorkOS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01584" y="3172968"/>
            <a:ext cx="3246120" cy="0"/>
          </a:xfrm>
          <a:prstGeom prst="line">
            <a:avLst/>
          </a:prstGeom>
          <a:noFill/>
          <a:ln w="8890">
            <a:solidFill>
              <a:srgbClr val="E6E2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1584" y="340156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KNOWLEDGE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942832" y="3383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019"/>
                </a:solidFill>
              </a:rPr>
              <a:t>SharePoint  ·  Confluence  ·  Zendesk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01584" y="3721608"/>
            <a:ext cx="3246120" cy="0"/>
          </a:xfrm>
          <a:prstGeom prst="line">
            <a:avLst/>
          </a:prstGeom>
          <a:noFill/>
          <a:ln w="8890">
            <a:solidFill>
              <a:srgbClr val="E6E2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01584" y="395020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CUSTOMER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942832" y="3931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019"/>
                </a:solidFill>
              </a:rPr>
              <a:t>Salesforce  ·  HubSpot  ·  Gainsight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01584" y="4270248"/>
            <a:ext cx="3246120" cy="0"/>
          </a:xfrm>
          <a:prstGeom prst="line">
            <a:avLst/>
          </a:prstGeom>
          <a:noFill/>
          <a:ln w="8890">
            <a:solidFill>
              <a:srgbClr val="E6E2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01584" y="44988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WORK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942832" y="44805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019"/>
                </a:solidFill>
              </a:rPr>
              <a:t>Teams  ·  Slack  ·  Jira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01584" y="4818888"/>
            <a:ext cx="3246120" cy="0"/>
          </a:xfrm>
          <a:prstGeom prst="line">
            <a:avLst/>
          </a:prstGeom>
          <a:noFill/>
          <a:ln w="8890">
            <a:solidFill>
              <a:srgbClr val="E6E2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01584" y="504748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DATA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942832" y="50292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019"/>
                </a:solidFill>
              </a:rPr>
              <a:t>Segment  ·  Snowflake  ·  Power BI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0080" y="59253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019"/>
                </a:solidFill>
              </a:rPr>
              <a:t>Salesforce opens the session  →  Zen guides the setup  →  an unresolved issue becomes a Zendesk ticket with transcript  →  the outcome lands in Gainsight.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ENTERPRISE READY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A control plane around the agent.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Observable, governable and safe to put in front of customers.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487168" cy="2670048"/>
          </a:xfrm>
          <a:prstGeom prst="roundRect">
            <a:avLst>
              <a:gd name="adj" fmla="val 3309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414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95909C"/>
                </a:solidFill>
              </a:rPr>
              <a:t>CUSTOMER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04672" y="2798064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9535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019"/>
                </a:solidFill>
              </a:rPr>
              <a:t>Embedded widget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3456432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61188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019"/>
                </a:solidFill>
              </a:rPr>
              <a:t>Voice or 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" y="4114800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2702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019"/>
                </a:solidFill>
              </a:rPr>
              <a:t>Screen share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55264" y="3429000"/>
            <a:ext cx="256032" cy="475488"/>
          </a:xfrm>
          <a:prstGeom prst="chevron">
            <a:avLst/>
          </a:prstGeom>
          <a:solidFill>
            <a:srgbClr val="DDBFF7"/>
          </a:solidFill>
          <a:ln w="12700">
            <a:solidFill>
              <a:srgbClr val="DDBF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38144" y="2148840"/>
            <a:ext cx="2487168" cy="2670048"/>
          </a:xfrm>
          <a:prstGeom prst="roundRect">
            <a:avLst>
              <a:gd name="adj" fmla="val 3309"/>
            </a:avLst>
          </a:prstGeom>
          <a:solidFill>
            <a:srgbClr val="F4E9FE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2414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ZEN AGENT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02736" y="2798064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9535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019"/>
                </a:solidFill>
              </a:rPr>
              <a:t>Goal planner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02736" y="3456432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361188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019"/>
                </a:solidFill>
              </a:rPr>
              <a:t>Screen context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02736" y="4114800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5888" y="42702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019"/>
                </a:solidFill>
              </a:rPr>
              <a:t>Policy guardrails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53328" y="3429000"/>
            <a:ext cx="256032" cy="475488"/>
          </a:xfrm>
          <a:prstGeom prst="chevron">
            <a:avLst/>
          </a:prstGeom>
          <a:solidFill>
            <a:srgbClr val="DDBFF7"/>
          </a:solidFill>
          <a:ln w="12700">
            <a:solidFill>
              <a:srgbClr val="DDBF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2148840"/>
            <a:ext cx="2487168" cy="2670048"/>
          </a:xfrm>
          <a:prstGeom prst="roundRect">
            <a:avLst>
              <a:gd name="adj" fmla="val 3309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414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95909C"/>
                </a:solidFill>
              </a:rPr>
              <a:t>KNOWLEDGE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0" y="2798064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29535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019"/>
                </a:solidFill>
              </a:rPr>
              <a:t>Product docs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3456432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361188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019"/>
                </a:solidFill>
              </a:rPr>
              <a:t>Approved answers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4114800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42702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019"/>
                </a:solidFill>
              </a:rPr>
              <a:t>Session memory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51392" y="3429000"/>
            <a:ext cx="256032" cy="475488"/>
          </a:xfrm>
          <a:prstGeom prst="chevron">
            <a:avLst/>
          </a:prstGeom>
          <a:solidFill>
            <a:srgbClr val="DDBFF7"/>
          </a:solidFill>
          <a:ln w="12700">
            <a:solidFill>
              <a:srgbClr val="DDBF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34272" y="2148840"/>
            <a:ext cx="2487168" cy="2670048"/>
          </a:xfrm>
          <a:prstGeom prst="roundRect">
            <a:avLst>
              <a:gd name="adj" fmla="val 3309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0576" y="2414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95909C"/>
                </a:solidFill>
              </a:rPr>
              <a:t>ENTERPRISE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198864" y="2798064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72016" y="29535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019"/>
                </a:solidFill>
              </a:rPr>
              <a:t>CRM + support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98864" y="3456432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72016" y="361188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019"/>
                </a:solidFill>
              </a:rPr>
              <a:t>Slack / Teams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98864" y="4114800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72016" y="42702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019"/>
                </a:solidFill>
              </a:rPr>
              <a:t>Analytics + data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55412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CONTROL LAYER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157984" y="5486400"/>
            <a:ext cx="1700784" cy="246888"/>
          </a:xfrm>
          <a:prstGeom prst="roundRect">
            <a:avLst>
              <a:gd name="adj" fmla="val 50000"/>
            </a:avLst>
          </a:prstGeom>
          <a:solidFill>
            <a:srgbClr val="141019"/>
          </a:solidFill>
          <a:ln w="12700">
            <a:solidFill>
              <a:srgbClr val="14101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12848" y="5532120"/>
            <a:ext cx="15910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FFFFFF"/>
                </a:solidFill>
              </a:rPr>
              <a:t>IDENTITY &amp; RBAC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050792" y="5486400"/>
            <a:ext cx="1700784" cy="246888"/>
          </a:xfrm>
          <a:prstGeom prst="roundRect">
            <a:avLst>
              <a:gd name="adj" fmla="val 50000"/>
            </a:avLst>
          </a:prstGeom>
          <a:solidFill>
            <a:srgbClr val="141019"/>
          </a:solidFill>
          <a:ln w="12700">
            <a:solidFill>
              <a:srgbClr val="14101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05656" y="5532120"/>
            <a:ext cx="15910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FFFFFF"/>
                </a:solidFill>
              </a:rPr>
              <a:t>AUDIT TRAIL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43600" y="5486400"/>
            <a:ext cx="1700784" cy="246888"/>
          </a:xfrm>
          <a:prstGeom prst="roundRect">
            <a:avLst>
              <a:gd name="adj" fmla="val 50000"/>
            </a:avLst>
          </a:prstGeom>
          <a:solidFill>
            <a:srgbClr val="141019"/>
          </a:solidFill>
          <a:ln w="12700">
            <a:solidFill>
              <a:srgbClr val="14101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98464" y="5532120"/>
            <a:ext cx="15910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FFFFFF"/>
                </a:solidFill>
              </a:rPr>
              <a:t>DATA BOUNDARIES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836408" y="5486400"/>
            <a:ext cx="1700784" cy="246888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91272" y="5532120"/>
            <a:ext cx="15910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FFFFFF"/>
                </a:solidFill>
              </a:rPr>
              <a:t>HUMAN APPROVAL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729216" y="5486400"/>
            <a:ext cx="1700784" cy="246888"/>
          </a:xfrm>
          <a:prstGeom prst="roundRect">
            <a:avLst>
              <a:gd name="adj" fmla="val 50000"/>
            </a:avLst>
          </a:prstGeom>
          <a:solidFill>
            <a:srgbClr val="141019"/>
          </a:solidFill>
          <a:ln w="12700">
            <a:solidFill>
              <a:srgbClr val="14101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84080" y="5532120"/>
            <a:ext cx="15910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40080" y="6053328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55F6D"/>
                </a:solidFill>
              </a:rPr>
              <a:t>Architecture is the production target. The hackathon submission is a working frontend prototype.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FOR THE BUSINESS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Automate the work. Keep the visibility.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Zen runs the sessions. Customer Success still owns the portfolio.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8076" y="2025396"/>
            <a:ext cx="6464808" cy="4331208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12700">
            <a:solidFill>
              <a:srgbClr val="E6E2EA"/>
            </a:solidFill>
            <a:prstDash val="solid"/>
          </a:ln>
          <a:effectLst>
            <a:outerShdw sx="100000" sy="100000" kx="0" ky="0" algn="bl" rotWithShape="0" blurRad="25400" dist="50800" dir="2700000">
              <a:srgbClr val="A9A1B0">
                <a:alpha val="22000"/>
              </a:srgbClr>
            </a:outerShdw>
          </a:effectLst>
        </p:spPr>
      </p:sp>
      <p:pic>
        <p:nvPicPr>
          <p:cNvPr id="6" name="Image 0" descr="Q:\personal\hackathon\devpost\08-admin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6400800" cy="426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79792" y="2103120"/>
            <a:ext cx="3931920" cy="1060704"/>
          </a:xfrm>
          <a:prstGeom prst="roundRect">
            <a:avLst>
              <a:gd name="adj" fmla="val 7759"/>
            </a:avLst>
          </a:prstGeom>
          <a:solidFill>
            <a:srgbClr val="F4E9FE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35824" y="22860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400FF"/>
                </a:solidFill>
              </a:rPr>
              <a:t>91%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35824" y="2743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019"/>
                </a:solidFill>
              </a:rPr>
              <a:t>self-serve rate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79792" y="3401568"/>
            <a:ext cx="39319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35824" y="358444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400FF"/>
                </a:solidFill>
              </a:rPr>
              <a:t>2.4 days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735824" y="4041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019"/>
                </a:solidFill>
              </a:rPr>
              <a:t>to first value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79792" y="4700016"/>
            <a:ext cx="39319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35824" y="488289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400FF"/>
                </a:solidFill>
              </a:rPr>
              <a:t>4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735824" y="53400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019"/>
                </a:solidFill>
              </a:rPr>
              <a:t>human escalations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479792" y="6053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5909C"/>
                </a:solidFill>
              </a:rPr>
              <a:t>Illustrative prototype metrics.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737360"/>
            <a:ext cx="5120640" cy="5120640"/>
          </a:xfrm>
          <a:prstGeom prst="ellipse">
            <a:avLst/>
          </a:prstGeom>
          <a:solidFill>
            <a:srgbClr val="9400FF">
              <a:alpha val="10000"/>
            </a:srgbClr>
          </a:solidFill>
          <a:ln w="12700">
            <a:solidFill>
              <a:srgbClr val="940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658368" y="658368"/>
            <a:ext cx="512064" cy="512064"/>
          </a:xfrm>
          <a:prstGeom prst="arc">
            <a:avLst/>
          </a:prstGeom>
          <a:solidFill>
            <a:srgbClr val="141019">
              <a:alpha val="0"/>
            </a:srgbClr>
          </a:solidFill>
          <a:ln w="69850">
            <a:solidFill>
              <a:srgbClr val="94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8448" y="7955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FFFFFF"/>
                </a:solidFill>
              </a:rPr>
              <a:t>ZEN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6492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High-touch onboarding.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Every customer.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No extra headcount.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4315968"/>
            <a:ext cx="1737360" cy="0"/>
          </a:xfrm>
          <a:prstGeom prst="line">
            <a:avLst/>
          </a:prstGeom>
          <a:noFill/>
          <a:ln w="38100">
            <a:solidFill>
              <a:srgbClr val="94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5902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79BF0"/>
                </a:solidFill>
              </a:rPr>
              <a:t>Let’s see it live.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58368" y="51389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2B1"/>
                </a:solidFill>
              </a:rPr>
              <a:t>Landing page  →  Guided session  →  Admin Hub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71232" y="1371600"/>
            <a:ext cx="3977640" cy="2688336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3B3443"/>
            </a:solidFill>
            <a:prstDash val="solid"/>
          </a:ln>
        </p:spPr>
      </p:sp>
      <p:pic>
        <p:nvPicPr>
          <p:cNvPr id="10" name="Image 0" descr="Q:\personal\hackathon\devpost\07-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4" y="1444752"/>
            <a:ext cx="3831336" cy="255117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571232" y="4279392"/>
            <a:ext cx="3977640" cy="1051560"/>
          </a:xfrm>
          <a:prstGeom prst="roundRect">
            <a:avLst>
              <a:gd name="adj" fmla="val 7826"/>
            </a:avLst>
          </a:prstGeom>
          <a:solidFill>
            <a:srgbClr val="221D29"/>
          </a:solidFill>
          <a:ln w="11430">
            <a:solidFill>
              <a:srgbClr val="3B34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45171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/ 5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863840" y="4919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A2B1"/>
                </a:solidFill>
              </a:rPr>
              <a:t>steps completed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921240" y="45171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79BF0"/>
                </a:solidFill>
              </a:rPr>
              <a:t>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921240" y="4919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A2B1"/>
                </a:solidFill>
              </a:rPr>
              <a:t>human handoffs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Zen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— Your customer is stuck. Zen can see why.</dc:title>
  <dc:subject>AI onboarding agent for B2B SaaS</dc:subject>
  <dc:creator>Zen</dc:creator>
  <cp:lastModifiedBy>Zen</cp:lastModifiedBy>
  <cp:revision>1</cp:revision>
  <dcterms:created xsi:type="dcterms:W3CDTF">2026-08-30T13:05:03Z</dcterms:created>
  <dcterms:modified xsi:type="dcterms:W3CDTF">2026-08-30T13:05:03Z</dcterms:modified>
</cp:coreProperties>
</file>