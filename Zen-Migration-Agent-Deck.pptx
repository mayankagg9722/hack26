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Zen is an autonomous migration agent. Today: Jira Service Management customers and tickets into Freshservice requesters and tickets. Five steps — discover, map, migrate, review,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fails a migration because of the architecture diagram. They fail on a department called "Information Technology" that the target calls "IT", on a customer without an email, on a retry that creates a second requester.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tools. Two discovery tools, a mapping tool, the migration executor, and Claude insights. They are plain HTTP endpoints, so they can be driven by the UI, a scheduler, or an LLM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 is the first thing the agent does. Per the Freshworks hackathon cookbook we support both the Freshservice REST API v2 and the Freshservice Product MCP; MCP tool names are discovered at runtime. In this demo both systems are simulated, and the UI says MOCK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mapping reads both schemas. Exact names, then known JSM-to-Freshservice rules, then semantic similarity, then Claude for the leftovers. Low confidence blocks the run until a human confirms. Freshservice priority is 1 Low to 4 Urgent, so JSM Highest becomes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migration follows the pipeline in the prompt: plan, pre-check, fetch, transform, look up references, create or update, validate, reconcile, complete — per entity. It is idempotent: the second run of the demo created zero records and updated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failure has a type, a severity and a remediation log: what failed, why, what Zen tried, and whether it worked. A fix only counts once Freshservice accepted the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migration never silently continues past a critical failure. Customers are reviewed before tickets start, because tickets need their requesters. Decisions are remembered, so a re-run does not ask again. A name match alone is never applied automatically — Zen recommends it and a human confirms.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Insights use Claude with a JSON-schema response. The facts sent to Claude are counts, failure categories, remediation outcomes, mappings and reconciliation — no credentials and no personal data. In the demo the label reads Generated by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real numbers from the demo run on the simulated tenant — not projections. The second run proves idempotency: nothing was created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SourceAdapter and TargetAdapter isolate the vendors. Adding another source — ServiceNow, Zendesk — means another adapter; the engine does 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with judges: the demo runs on a simulated JSM and Freshservice tenant. The live REST and MCP paths are implemented but have not been exercised against a real tenant yet — that is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live demo on /agent: discover, generate mappings, run, approve the review items, show insights, then re-run to show zero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9400FF"/>
                </a:solidFill>
              </a:rPr>
              <a:t>ZEN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70432" y="18288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95909C"/>
                </a:solidFill>
              </a:rPr>
              <a:t>AUTONOMOUS MIGRATION AGENT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40080" y="420624"/>
            <a:ext cx="10908792" cy="0"/>
          </a:xfrm>
          <a:prstGeom prst="line">
            <a:avLst/>
          </a:prstGeom>
          <a:noFill/>
          <a:ln w="8890">
            <a:solidFill>
              <a:srgbClr val="E6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8890">
            <a:solidFill>
              <a:srgbClr val="E6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8368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5909C"/>
                </a:solidFill>
              </a:rPr>
              <a:t>ZEN  /  FRESHWORKS HACKATHON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9216" y="-1143000"/>
            <a:ext cx="3840480" cy="3840480"/>
          </a:xfrm>
          <a:prstGeom prst="ellipse">
            <a:avLst/>
          </a:prstGeom>
          <a:solidFill>
            <a:srgbClr val="F4E9FE">
              <a:alpha val="70000"/>
            </a:srgbClr>
          </a:solidFill>
          <a:ln w="12700">
            <a:solidFill>
              <a:srgbClr val="F4E9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603504" y="512064"/>
            <a:ext cx="438912" cy="438912"/>
          </a:xfrm>
          <a:prstGeom prst="arc">
            <a:avLst/>
          </a:prstGeom>
          <a:solidFill>
            <a:srgbClr val="FBFAFC">
              <a:alpha val="0"/>
            </a:srgbClr>
          </a:solidFill>
          <a:ln w="57150">
            <a:solidFill>
              <a:srgbClr val="94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630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141019"/>
                </a:solidFill>
              </a:rPr>
              <a:t>ZEN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5" kern="0" dirty="0">
                <a:solidFill>
                  <a:srgbClr val="9400FF"/>
                </a:solidFill>
              </a:rPr>
              <a:t>ZEN  |  AUTONOMOUS MIGRATION AGENT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728216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1019"/>
                </a:solidFill>
              </a:rPr>
              <a:t>Moving to Freshservice?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41019"/>
                </a:solidFill>
              </a:rPr>
              <a:t>Let an agent do the migration.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340156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55F6D"/>
                </a:solidFill>
              </a:rPr>
              <a:t>Zen discovers what Jira Service Management and Freshservice hold, maps one onto the other, migrates customers and tickets, fixes what is safe to fix, asks a human about the rest — and explains the result with Claude.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50992" y="960120"/>
            <a:ext cx="6053328" cy="409651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1DCE5"/>
            </a:solidFill>
            <a:prstDash val="solid"/>
          </a:ln>
          <a:effectLst>
            <a:outerShdw sx="100000" sy="100000" kx="0" ky="0" algn="bl" rotWithShape="0" blurRad="25400" dist="50800" dir="2700000">
              <a:srgbClr val="AFA7B5">
                <a:alpha val="25000"/>
              </a:srgbClr>
            </a:outerShdw>
          </a:effectLst>
        </p:spPr>
      </p:sp>
      <p:pic>
        <p:nvPicPr>
          <p:cNvPr id="9" name="Image 0" descr="/Users/tanyagoel/Downloads/hack26/hack26/deck/agent-shot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051560"/>
            <a:ext cx="5870448" cy="39136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19379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90" kern="0" dirty="0">
                <a:solidFill>
                  <a:srgbClr val="9400FF"/>
                </a:solidFill>
              </a:rPr>
              <a:t>DISCOVER</a:t>
            </a:r>
            <a:pPr indent="0" marL="0">
              <a:buNone/>
            </a:pPr>
            <a:r>
              <a:rPr lang="en-US" sz="850" spc="90" kern="0" dirty="0">
                <a:solidFill>
                  <a:srgbClr val="ADA7B4"/>
                </a:solidFill>
              </a:rPr>
              <a:t>   →   </a:t>
            </a:r>
            <a:pPr indent="0" marL="0">
              <a:buNone/>
            </a:pPr>
            <a:r>
              <a:rPr lang="en-US" sz="850" b="1" spc="90" kern="0" dirty="0">
                <a:solidFill>
                  <a:srgbClr val="141019"/>
                </a:solidFill>
              </a:rPr>
              <a:t>MAP</a:t>
            </a:r>
            <a:pPr indent="0" marL="0">
              <a:buNone/>
            </a:pPr>
            <a:r>
              <a:rPr lang="en-US" sz="850" spc="90" kern="0" dirty="0">
                <a:solidFill>
                  <a:srgbClr val="ADA7B4"/>
                </a:solidFill>
              </a:rPr>
              <a:t>   →   </a:t>
            </a:r>
            <a:pPr indent="0" marL="0">
              <a:buNone/>
            </a:pPr>
            <a:r>
              <a:rPr lang="en-US" sz="850" b="1" spc="90" kern="0" dirty="0">
                <a:solidFill>
                  <a:srgbClr val="9400FF"/>
                </a:solidFill>
              </a:rPr>
              <a:t>MIGRATE</a:t>
            </a:r>
            <a:pPr indent="0" marL="0">
              <a:buNone/>
            </a:pPr>
            <a:r>
              <a:rPr lang="en-US" sz="850" spc="90" kern="0" dirty="0">
                <a:solidFill>
                  <a:srgbClr val="ADA7B4"/>
                </a:solidFill>
              </a:rPr>
              <a:t>   →   </a:t>
            </a:r>
            <a:pPr indent="0" marL="0">
              <a:buNone/>
            </a:pPr>
            <a:r>
              <a:rPr lang="en-US" sz="850" b="1" spc="90" kern="0" dirty="0">
                <a:solidFill>
                  <a:srgbClr val="141019"/>
                </a:solidFill>
              </a:rPr>
              <a:t>REVIEW</a:t>
            </a:r>
            <a:pPr indent="0" marL="0">
              <a:buNone/>
            </a:pPr>
            <a:r>
              <a:rPr lang="en-US" sz="850" spc="90" kern="0" dirty="0">
                <a:solidFill>
                  <a:srgbClr val="ADA7B4"/>
                </a:solidFill>
              </a:rPr>
              <a:t>   →   </a:t>
            </a:r>
            <a:pPr indent="0" marL="0">
              <a:buNone/>
            </a:pPr>
            <a:r>
              <a:rPr lang="en-US" sz="850" b="1" spc="90" kern="0" dirty="0">
                <a:solidFill>
                  <a:srgbClr val="9400FF"/>
                </a:solidFill>
              </a:rPr>
              <a:t>EXPLAIN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5532120"/>
            <a:ext cx="4389120" cy="0"/>
          </a:xfrm>
          <a:prstGeom prst="line">
            <a:avLst/>
          </a:prstGeom>
          <a:noFill/>
          <a:ln w="10160">
            <a:solidFill>
              <a:srgbClr val="DED9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8430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8D8791"/>
                </a:solidFill>
              </a:rPr>
              <a:t>JSM  →  FRESHSERVICE  ·  CUSTOMERS + TICKETS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ITSM migrations fail in the details, not the big picture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Moving from one service desk to another is mostly careful, repetitive work — and the mistakes surface late.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87752" cy="3017520"/>
          </a:xfrm>
          <a:prstGeom prst="roundRect">
            <a:avLst>
              <a:gd name="adj" fmla="val 3180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00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019"/>
                </a:solidFill>
              </a:rPr>
              <a:t>Mapping is manual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Every field, every picklist value, every reference (requester, department, workspace) is matched by hand in spreadsheets.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2240280"/>
            <a:ext cx="2587752" cy="3017520"/>
          </a:xfrm>
          <a:prstGeom prst="roundRect">
            <a:avLst>
              <a:gd name="adj" fmla="val 3180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00FF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39312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019"/>
                </a:solidFill>
              </a:rPr>
              <a:t>Dirty data surfaces late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9312" y="3611880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Missing emails, unknown departments, custom priorities and blank summaries only fail when the target API rejects them.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2240280"/>
            <a:ext cx="2587752" cy="3017520"/>
          </a:xfrm>
          <a:prstGeom prst="roundRect">
            <a:avLst>
              <a:gd name="adj" fmla="val 3180"/>
            </a:avLst>
          </a:prstGeom>
          <a:solidFill>
            <a:srgbClr val="FDF3F3"/>
          </a:solidFill>
          <a:ln w="11430">
            <a:solidFill>
              <a:srgbClr val="F0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E3F3F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9944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019"/>
                </a:solidFill>
              </a:rPr>
              <a:t>Retries create duplicates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9944" y="3611880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Re-running a half-finished migration creates the same requester or ticket twice unless someone tracks every ID.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51976" y="2240280"/>
            <a:ext cx="2587752" cy="3017520"/>
          </a:xfrm>
          <a:prstGeom prst="roundRect">
            <a:avLst>
              <a:gd name="adj" fmla="val 3180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0576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00FF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80576" y="297180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019"/>
                </a:solidFill>
              </a:rPr>
              <a:t>People do the routine fixes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80576" y="3611880"/>
            <a:ext cx="2130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Admins spend their time normalising values and re-running batches instead of deciding the few cases that need judgement.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6235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00C4"/>
                </a:solidFill>
              </a:rPr>
              <a:t>Zen turns this into an agent loop: the machine does the routine work, the human makes the exceptions.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WHAT ZEN DOES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One agent, five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Each tool is a real backend capability with its own API — the UI and the agent loop call the same endpoints.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57907"/>
            <a:ext cx="3108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80160" y="2432304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F4E9FE"/>
          </a:solidFill>
          <a:ln w="12700">
            <a:solidFill>
              <a:srgbClr val="F4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5024" y="2478024"/>
            <a:ext cx="896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9400FF"/>
                </a:solidFill>
              </a:rPr>
              <a:t>DISCOVER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0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list_source_entities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3474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Asks JSM which entities exist and which fields they expose.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52928" y="219456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54096" y="2395728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2457907"/>
            <a:ext cx="3108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93008" y="2432304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F4E9FE"/>
          </a:solidFill>
          <a:ln w="12700">
            <a:solidFill>
              <a:srgbClr val="F4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2478024"/>
            <a:ext cx="896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9400FF"/>
                </a:solidFill>
              </a:rPr>
              <a:t>DISCOVER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54096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0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list_target_entities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54096" y="3474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Asks Freshservice for requesters, tickets, departments, groups, workspaces.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65776" y="219456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66944" y="2395728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2457907"/>
            <a:ext cx="3108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05856" y="2432304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F4E9FE"/>
          </a:solidFill>
          <a:ln w="12700">
            <a:solidFill>
              <a:srgbClr val="F4E9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478024"/>
            <a:ext cx="896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9400FF"/>
                </a:solidFill>
              </a:rPr>
              <a:t>MAP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66944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0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generate_mapping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66944" y="3474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Proposes source → target fields with confidence and transformations.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78624" y="219456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9792" y="2395728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9792" y="2457907"/>
            <a:ext cx="3108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18704" y="2432304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F4E9FE"/>
          </a:solidFill>
          <a:ln w="12700">
            <a:solidFill>
              <a:srgbClr val="F4E9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73568" y="2478024"/>
            <a:ext cx="896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9400FF"/>
                </a:solidFill>
              </a:rPr>
              <a:t>MIGRATE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479792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0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run_migration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79792" y="3474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Plans, pre-checks, migrates, remediates, pauses for review, reconciles.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491472" y="219456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4E9FE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2395728"/>
            <a:ext cx="310896" cy="310896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2457907"/>
            <a:ext cx="3108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131552" y="2432304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F4E9FE"/>
          </a:solidFill>
          <a:ln w="12700">
            <a:solidFill>
              <a:srgbClr val="F4E9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86416" y="2478024"/>
            <a:ext cx="896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9400FF"/>
                </a:solidFill>
              </a:rPr>
              <a:t>EXPLAIN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69264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10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generate_migration_insights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692640" y="3474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5F6D"/>
                </a:solidFill>
              </a:rPr>
              <a:t>Claude analyses the finished run and recommends what to fix next.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5669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909C"/>
                </a:solidFill>
              </a:rPr>
              <a:t>GET /api/agent/tools describes all five  ·  every response is credential-free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TOOL 1 + 2 · DISCOVER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Zen reads both systems before it moves anything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Every entity shows where its schema came from — and whether the data is real or simulated.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8076" y="2025396"/>
            <a:ext cx="7104888" cy="2777681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6E2EA"/>
            </a:solidFill>
            <a:prstDash val="solid"/>
          </a:ln>
          <a:effectLst>
            <a:outerShdw sx="100000" sy="100000" kx="0" ky="0" algn="bl" rotWithShape="0" blurRad="25400" dist="50800" dir="2700000">
              <a:srgbClr val="A9A1B0">
                <a:alpha val="22000"/>
              </a:srgbClr>
            </a:outerShdw>
          </a:effectLst>
        </p:spPr>
      </p:sp>
      <p:pic>
        <p:nvPicPr>
          <p:cNvPr id="6" name="Image 0" descr="/Users/tanyagoel/Downloads/hack26/hack26/deck/agent-shots/dis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7040880" cy="27136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103120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9400FF"/>
                </a:solidFill>
              </a:rPr>
              <a:t>FRESHWORKS INTEGRATION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01000" y="2377440"/>
            <a:ext cx="35478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430"/>
                </a:solidFill>
              </a:rPr>
              <a:t>Freshservice REST API v2 — /api/v2 (requester fields, ticket form fields, departments, groups, workspaces).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430"/>
                </a:solidFill>
              </a:rPr>
              <a:t>Freshservice Product MCP — https://{domain}.freshservice.com/mcp. Tools discovered via tools/list, never assumed; REST is the fallback.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430"/>
                </a:solidFill>
              </a:rPr>
              <a:t>JSM via Jira Cloud REST v3 (fields, JQL search) + the project customer endpoint.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01000" y="4572000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9400FF"/>
                </a:solidFill>
              </a:rPr>
              <a:t>HONEST BY DESIGN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001000" y="484632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55864" y="4892040"/>
            <a:ext cx="896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11824A"/>
                </a:solidFill>
              </a:rPr>
              <a:t>REAL API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9144000" y="4846320"/>
            <a:ext cx="1097280" cy="246888"/>
          </a:xfrm>
          <a:prstGeom prst="roundRect">
            <a:avLst>
              <a:gd name="adj" fmla="val 50000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98864" y="4892040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9A5B00"/>
                </a:solidFill>
              </a:rPr>
              <a:t>MOCK DATA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001000" y="5212080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The UI never passes simulated data off as real. Credentials stay server-side.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TOOL 3 · 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Mappings with confidence, transformations — and no guessing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Rules first, Claude second, a human for anything uncertain.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8076" y="2025396"/>
            <a:ext cx="6922008" cy="2921508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12700">
            <a:solidFill>
              <a:srgbClr val="E6E2EA"/>
            </a:solidFill>
            <a:prstDash val="solid"/>
          </a:ln>
          <a:effectLst>
            <a:outerShdw sx="100000" sy="100000" kx="0" ky="0" algn="bl" rotWithShape="0" blurRad="25400" dist="50800" dir="2700000">
              <a:srgbClr val="A9A1B0">
                <a:alpha val="22000"/>
              </a:srgbClr>
            </a:outerShdw>
          </a:effectLst>
        </p:spPr>
      </p:sp>
      <p:pic>
        <p:nvPicPr>
          <p:cNvPr id="6" name="Image 0" descr="/Users/tanyagoel/Downloads/hack26/hack26/deck/agent-shots/mapping-tick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6858000" cy="2857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210312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9400FF"/>
                </a:solidFill>
              </a:rPr>
              <a:t>HOW A FIELD GETS MAPPED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818120" y="2395728"/>
            <a:ext cx="274320" cy="274320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24505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02168" y="241401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019"/>
                </a:solidFill>
              </a:rPr>
              <a:t>Exact name</a:t>
            </a:r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   description → description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18120" y="2871216"/>
            <a:ext cx="274320" cy="274320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29260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02168" y="2889504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019"/>
                </a:solidFill>
              </a:rPr>
              <a:t>JSM → Freshservice vendor rules</a:t>
            </a:r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   summary → subject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18120" y="3346704"/>
            <a:ext cx="274320" cy="274320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34015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02168" y="33649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019"/>
                </a:solidFill>
              </a:rPr>
              <a:t>Semantic match</a:t>
            </a:r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   office → location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18120" y="3822192"/>
            <a:ext cx="274320" cy="274320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38770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02168" y="384048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019"/>
                </a:solidFill>
              </a:rPr>
              <a:t>Claude</a:t>
            </a:r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   fields the rules cannot place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18120" y="438912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9400FF"/>
                </a:solidFill>
              </a:rPr>
              <a:t>CONFIDENCE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818120" y="4645152"/>
            <a:ext cx="1097280" cy="246888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72984" y="4690872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11824A"/>
                </a:solidFill>
              </a:rPr>
              <a:t>HIGH ≥ 90%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9006840" y="464515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61704" y="4690872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9A5B00"/>
                </a:solidFill>
              </a:rPr>
              <a:t>MEDIUM ≥ 75%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10287000" y="4645152"/>
            <a:ext cx="1261872" cy="246888"/>
          </a:xfrm>
          <a:prstGeom prst="roundRect">
            <a:avLst>
              <a:gd name="adj" fmla="val 50000"/>
            </a:avLst>
          </a:prstGeom>
          <a:solidFill>
            <a:srgbClr val="FDF3F3"/>
          </a:solidFill>
          <a:ln w="12700">
            <a:solidFill>
              <a:srgbClr val="FDF3F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341864" y="4690872"/>
            <a:ext cx="1152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CE3F3F"/>
                </a:solidFill>
              </a:rPr>
              <a:t>LOW → CONFIRM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818120" y="5029200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Transformations: transformPriority() (Highest → 4 Urgent), transformStatus(), requester and department lookups, Workspace Classification. Unmapped fields stay unmapped.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TOOL 4 · RUN MIGRATION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A resumable pipeline, driven by real 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Customers first — tickets reference requesters. Every number on screen comes from the record ledger.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152144" cy="502920"/>
          </a:xfrm>
          <a:prstGeom prst="chevron">
            <a:avLst/>
          </a:prstGeom>
          <a:solidFill>
            <a:srgbClr val="F4E9FE"/>
          </a:solidFill>
          <a:ln w="8890">
            <a:solidFill>
              <a:srgbClr val="DDBF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1284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00C4"/>
                </a:solidFill>
              </a:rPr>
              <a:t>Plan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56232" y="2103120"/>
            <a:ext cx="1152144" cy="502920"/>
          </a:xfrm>
          <a:prstGeom prst="chevron">
            <a:avLst/>
          </a:prstGeom>
          <a:solidFill>
            <a:srgbClr val="F4E9FE"/>
          </a:solidFill>
          <a:ln w="8890">
            <a:solidFill>
              <a:srgbClr val="DDBF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0824" y="221284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00C4"/>
                </a:solidFill>
              </a:rPr>
              <a:t>Pre-check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72384" y="2103120"/>
            <a:ext cx="1152144" cy="502920"/>
          </a:xfrm>
          <a:prstGeom prst="chevron">
            <a:avLst/>
          </a:prstGeom>
          <a:solidFill>
            <a:srgbClr val="F4E9FE"/>
          </a:solidFill>
          <a:ln w="8890">
            <a:solidFill>
              <a:srgbClr val="DDBF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6976" y="221284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00C4"/>
                </a:solidFill>
              </a:rPr>
              <a:t>Fetch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88536" y="2103120"/>
            <a:ext cx="1152144" cy="502920"/>
          </a:xfrm>
          <a:prstGeom prst="chevron">
            <a:avLst/>
          </a:prstGeom>
          <a:solidFill>
            <a:srgbClr val="F4E9FE"/>
          </a:solidFill>
          <a:ln w="8890">
            <a:solidFill>
              <a:srgbClr val="DDBF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221284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00C4"/>
                </a:solidFill>
              </a:rPr>
              <a:t>Transform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04688" y="2103120"/>
            <a:ext cx="1152144" cy="502920"/>
          </a:xfrm>
          <a:prstGeom prst="chevron">
            <a:avLst/>
          </a:prstGeom>
          <a:solidFill>
            <a:srgbClr val="F4E9FE"/>
          </a:solidFill>
          <a:ln w="8890">
            <a:solidFill>
              <a:srgbClr val="DDBF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21284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00C4"/>
                </a:solidFill>
              </a:rPr>
              <a:t>Look up refs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2103120"/>
            <a:ext cx="1152144" cy="502920"/>
          </a:xfrm>
          <a:prstGeom prst="chevron">
            <a:avLst/>
          </a:prstGeom>
          <a:solidFill>
            <a:srgbClr val="9400FF"/>
          </a:solidFill>
          <a:ln w="8890">
            <a:solidFill>
              <a:srgbClr val="940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221284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Create / update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36992" y="2103120"/>
            <a:ext cx="1152144" cy="502920"/>
          </a:xfrm>
          <a:prstGeom prst="chevron">
            <a:avLst/>
          </a:prstGeom>
          <a:solidFill>
            <a:srgbClr val="F4E9FE"/>
          </a:solidFill>
          <a:ln w="8890">
            <a:solidFill>
              <a:srgbClr val="DDBF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221284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00C4"/>
                </a:solidFill>
              </a:rPr>
              <a:t>Validate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53144" y="2103120"/>
            <a:ext cx="1152144" cy="502920"/>
          </a:xfrm>
          <a:prstGeom prst="chevron">
            <a:avLst/>
          </a:prstGeom>
          <a:solidFill>
            <a:srgbClr val="F4E9FE"/>
          </a:solidFill>
          <a:ln w="8890">
            <a:solidFill>
              <a:srgbClr val="DDBF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17736" y="221284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00C4"/>
                </a:solidFill>
              </a:rPr>
              <a:t>Reconcile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369296" y="2103120"/>
            <a:ext cx="1152144" cy="502920"/>
          </a:xfrm>
          <a:prstGeom prst="chevron">
            <a:avLst/>
          </a:prstGeom>
          <a:solidFill>
            <a:srgbClr val="F4E9FE"/>
          </a:solidFill>
          <a:ln w="8890">
            <a:solidFill>
              <a:srgbClr val="DDBF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33888" y="221284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00C4"/>
                </a:solidFill>
              </a:rPr>
              <a:t>Complete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" y="2848356"/>
            <a:ext cx="6106617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6E2EA"/>
            </a:solidFill>
            <a:prstDash val="solid"/>
          </a:ln>
          <a:effectLst>
            <a:outerShdw sx="100000" sy="100000" kx="0" ky="0" algn="bl" rotWithShape="0" blurRad="25400" dist="50800" dir="2700000">
              <a:srgbClr val="A9A1B0">
                <a:alpha val="22000"/>
              </a:srgbClr>
            </a:outerShdw>
          </a:effectLst>
        </p:spPr>
      </p:sp>
      <p:pic>
        <p:nvPicPr>
          <p:cNvPr id="24" name="Image 0" descr="/Users/tanyagoel/Downloads/hack26/hack26/deck/agent-shots/run-bo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80360"/>
            <a:ext cx="6042609" cy="32461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635240" y="2880360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019"/>
                </a:solidFill>
              </a:rPr>
              <a:t>Idempotent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635240" y="3136392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Source → target ID stored the moment a record is written. Retries update or link — never duplicate.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635240" y="3703320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019"/>
                </a:solidFill>
              </a:rPr>
              <a:t>Resumable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635240" y="3959352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Each call does one bounded step and persists the run — works on serverless and schedulers.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635240" y="4526280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019"/>
                </a:solidFill>
              </a:rPr>
              <a:t>Verified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635240" y="4782312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Every written record is read back and checked; reconciliation balances source vs target.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635240" y="5349240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019"/>
                </a:solidFill>
              </a:rPr>
              <a:t>Goal-aware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635240" y="5605272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Runs can attach to a Goal Planner goal: its blackout windows and success criteria apply.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FAILURE HANDLING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Nine kinds of failure. Captured, typed, never hidden.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From the demo run: what went wrong, and who fixed it.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1097280"/>
                <a:gridCol w="822960"/>
                <a:gridCol w="60624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Failure type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Seen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Fixed by Zen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Human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What Zen does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430"/>
                          </a:solidFill>
                        </a:rPr>
                        <a:t>Invalid department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824A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E3F3F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'Information Technology' → IT; placeholders like 'Dept-42' go to a human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430"/>
                          </a:solidFill>
                        </a:rPr>
                        <a:t>Missing requester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824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E3F3F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ID map → search by email → search by name → human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430"/>
                          </a:solidFill>
                        </a:rPr>
                        <a:t>Missing required field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824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E3F3F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Subject from description; name from email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430"/>
                          </a:solidFill>
                        </a:rPr>
                        <a:t>API failure (5xx)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824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E3F3F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Retried with backoff; a persistent 500 goes to a human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430"/>
                          </a:solidFill>
                        </a:rPr>
                        <a:t>Invalid priority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824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E3F3F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'P1 - Critical' → Urgent; 'Whenever' needs a decision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430"/>
                          </a:solidFill>
                        </a:rPr>
                        <a:t>Duplicate requester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824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Existing requester linked instead of created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430"/>
                          </a:solidFill>
                        </a:rPr>
                        <a:t>Rate limit (429)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824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Backed off and retried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430"/>
                          </a:solidFill>
                        </a:rPr>
                        <a:t>Invalid workspace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824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Re-routed by Workspace Classification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430"/>
                          </a:solidFill>
                        </a:rPr>
                        <a:t>Missing email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824A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E3F3F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430"/>
                          </a:solidFill>
                        </a:rPr>
                        <a:t>Admin enters the email, Zen creates the requester</a:t>
                      </a:r>
                      <a:endParaRPr lang="en-US" sz="1050" dirty="0"/>
                    </a:p>
                  </a:txBody>
                  <a:tcPr marL="91440" marR="91440" marT="36576" marB="36576">
                    <a:lnL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6692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000C4"/>
                </a:solidFill>
              </a:rPr>
              <a:t>Totals in the demo: 30 failures across 29 records — 23 fixed automatically, 7 decided by a human, 0 left open.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HUMAN IN THE LOOP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AI handles routine work. Humans handle exceptions.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When a safe fix isn’t possible, Zen stops at a review gate and shows its working.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8076" y="2071116"/>
            <a:ext cx="10972800" cy="2390293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6E2EA"/>
            </a:solidFill>
            <a:prstDash val="solid"/>
          </a:ln>
          <a:effectLst>
            <a:outerShdw sx="100000" sy="100000" kx="0" ky="0" algn="bl" rotWithShape="0" blurRad="25400" dist="50800" dir="2700000">
              <a:srgbClr val="A9A1B0">
                <a:alpha val="22000"/>
              </a:srgbClr>
            </a:outerShdw>
          </a:effectLst>
        </p:spPr>
      </p:sp>
      <p:pic>
        <p:nvPicPr>
          <p:cNvPr id="6" name="Image 0" descr="/Users/tanyagoel/Downloads/hack26/hack26/deck/agent-shots/review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10908792" cy="23262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7548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489204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What failed and why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523036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The problem in plain language, with the failure type and severity.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47548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4568" y="489204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What Zen tried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44568" y="523036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Every lookup and fix it attempted — ID map, email search, name search, normalisation.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0" y="47548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47888" y="489204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What to do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47888" y="5230368"/>
            <a:ext cx="3099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5F6D"/>
                </a:solidFill>
              </a:rPr>
              <a:t>A recommendation the admin can approve, skip, or stop the migration 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TOOL 5 · CLAUDE INSIGHTS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Claude explains the migration — from facts, not guesses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Zen computes the numbers from the ledger; Claude writes what went well, what went wrong and what to do next.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8076" y="1979676"/>
            <a:ext cx="4180906" cy="4270248"/>
          </a:xfrm>
          <a:prstGeom prst="roundRect">
            <a:avLst>
              <a:gd name="adj" fmla="val 1312"/>
            </a:avLst>
          </a:prstGeom>
          <a:solidFill>
            <a:srgbClr val="FFFFFF"/>
          </a:solidFill>
          <a:ln w="12700">
            <a:solidFill>
              <a:srgbClr val="E6E2EA"/>
            </a:solidFill>
            <a:prstDash val="solid"/>
          </a:ln>
          <a:effectLst>
            <a:outerShdw sx="100000" sy="100000" kx="0" ky="0" algn="bl" rotWithShape="0" blurRad="25400" dist="50800" dir="2700000">
              <a:srgbClr val="A9A1B0">
                <a:alpha val="22000"/>
              </a:srgbClr>
            </a:outerShdw>
          </a:effectLst>
        </p:spPr>
      </p:sp>
      <p:pic>
        <p:nvPicPr>
          <p:cNvPr id="6" name="Image 0" descr="/Users/tanyagoel/Downloads/hack26/hack26/deck/agent-shots/ins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4116898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83880" y="2103120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9400FF"/>
                </a:solidFill>
              </a:rPr>
              <a:t>BUILT FOR TRUST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183880" y="2377440"/>
            <a:ext cx="33649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430"/>
                </a:solidFill>
              </a:rPr>
              <a:t>Structured output (JSON schema) — Summary, went well, went wrong, how Zen fixed it, needs a human, recommendations.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430"/>
                </a:solidFill>
              </a:rPr>
              <a:t>Claude is told to use only the facts it is given; every count comes from Zen.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430"/>
                </a:solidFill>
              </a:rPr>
              <a:t>No credentials, no emails or names in the prompt — record IDs only.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430"/>
                </a:solidFill>
              </a:rPr>
              <a:t>Without Claude, a rule-based summary is shown and labelled as such.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DEMO RESULTS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One run, end to end — every record accounted for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Simulated JSM + Freshservice tenant with controlled failures built in. Numbers are from the actual run shown in the demo.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057400" cy="1920240"/>
          </a:xfrm>
          <a:prstGeom prst="roundRect">
            <a:avLst>
              <a:gd name="adj" fmla="val 4286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00FF"/>
                </a:solidFill>
              </a:rPr>
              <a:t>299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records migrated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59 customers + 240 tickets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52928" y="2148840"/>
            <a:ext cx="2057400" cy="1920240"/>
          </a:xfrm>
          <a:prstGeom prst="roundRect">
            <a:avLst>
              <a:gd name="adj" fmla="val 4286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00FF"/>
                </a:solidFill>
              </a:rPr>
              <a:t>270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081528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clean on the first pass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81528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no failure at 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65776" y="2148840"/>
            <a:ext cx="2057400" cy="1920240"/>
          </a:xfrm>
          <a:prstGeom prst="roundRect">
            <a:avLst>
              <a:gd name="adj" fmla="val 4286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00FF"/>
                </a:solidFill>
              </a:rPr>
              <a:t>22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294376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fixed by Zen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94376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accepted by Freshservice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78624" y="2148840"/>
            <a:ext cx="2057400" cy="1920240"/>
          </a:xfrm>
          <a:prstGeom prst="roundRect">
            <a:avLst>
              <a:gd name="adj" fmla="val 4286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7224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00FF"/>
                </a:solidFill>
              </a:rPr>
              <a:t>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507224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decided by a human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07224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at two review gates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91472" y="2148840"/>
            <a:ext cx="2057400" cy="1920240"/>
          </a:xfrm>
          <a:prstGeom prst="roundRect">
            <a:avLst>
              <a:gd name="adj" fmla="val 4286"/>
            </a:avLst>
          </a:prstGeom>
          <a:solidFill>
            <a:srgbClr val="E9F7EF"/>
          </a:solidFill>
          <a:ln w="11430">
            <a:solidFill>
              <a:srgbClr val="B4E2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824A"/>
                </a:solidFill>
              </a:rPr>
              <a:t>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720072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duplicates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20072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5F6D"/>
                </a:solidFill>
              </a:rPr>
              <a:t>2 existing requesters linked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F4E9FE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526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9400FF"/>
                </a:solidFill>
              </a:rPr>
              <a:t>THEN WE RAN IT AGAIN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48463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1019"/>
                </a:solidFill>
              </a:rPr>
              <a:t>0 created · 297 updated · 2 still linked</a:t>
            </a:r>
            <a:pPr indent="0" marL="0">
              <a:buNone/>
            </a:pPr>
            <a:r>
              <a:rPr lang="en-US" sz="1300" dirty="0">
                <a:solidFill>
                  <a:srgbClr val="655F6D"/>
                </a:solidFill>
              </a:rPr>
              <a:t>   and no questions asked — Zen remembered every human decision.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" y="58978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909C"/>
                </a:solidFill>
              </a:rPr>
              <a:t>Reconciliation: customers 59 / 59 · tickets 240 / 240 · every record read back from the target.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Vendor-neutral core, pluggable adapters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5F6D"/>
                </a:solidFill>
              </a:rPr>
              <a:t>The engine only sees normalised entities; JSM and Freshservice details live in adapters.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92608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134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SourceAdapter · JSM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2523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Jira Cloud REST v3: fields, JQL search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JSM project customers (config)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Demo tenant when not configured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77640" y="2148840"/>
            <a:ext cx="4206240" cy="2468880"/>
          </a:xfrm>
          <a:prstGeom prst="roundRect">
            <a:avLst>
              <a:gd name="adj" fmla="val 3333"/>
            </a:avLst>
          </a:prstGeom>
          <a:solidFill>
            <a:srgbClr val="F4E9FE"/>
          </a:solidFill>
          <a:ln w="11430">
            <a:solidFill>
              <a:srgbClr val="DDBF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78808" y="231343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00C4"/>
                </a:solidFill>
              </a:rPr>
              <a:t>Zen migration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78808" y="2697480"/>
            <a:ext cx="38039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Normalised entities (customer, ticket, requester)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Mapping + transformations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Remediation + human review gate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Idempotent source → target ID map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Validate + reconcile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22792" y="2148840"/>
            <a:ext cx="292608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23134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TargetAdapter · Freshservice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23960" y="2697480"/>
            <a:ext cx="2523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Product MCP (tools/list) for reads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REST API v2 for writes + fallback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Live writes need an explicit switch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11880" y="3200400"/>
            <a:ext cx="320040" cy="320040"/>
          </a:xfrm>
          <a:prstGeom prst="rightArrow">
            <a:avLst/>
          </a:prstGeom>
          <a:solidFill>
            <a:srgbClr val="DDBFF7"/>
          </a:solidFill>
          <a:ln w="12700">
            <a:solidFill>
              <a:srgbClr val="DDBF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200400"/>
            <a:ext cx="320040" cy="320040"/>
          </a:xfrm>
          <a:prstGeom prst="rightArrow">
            <a:avLst/>
          </a:prstGeom>
          <a:solidFill>
            <a:srgbClr val="DDBFF7"/>
          </a:solidFill>
          <a:ln w="12700">
            <a:solidFill>
              <a:srgbClr val="DDBF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7640" y="4846320"/>
            <a:ext cx="4206240" cy="1325880"/>
          </a:xfrm>
          <a:prstGeom prst="roundRect">
            <a:avLst>
              <a:gd name="adj" fmla="val 6207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8808" y="501091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Claude (claude-opus-5)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78808" y="5394960"/>
            <a:ext cx="3803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Field mapping for what rules can’t place · department matching · migration insights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2926080" cy="1325880"/>
          </a:xfrm>
          <a:prstGeom prst="roundRect">
            <a:avLst>
              <a:gd name="adj" fmla="val 6207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0109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539496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Credentials server-side only (env / secrets)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No PII or keys in Claude prompts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22792" y="4846320"/>
            <a:ext cx="2926080" cy="1325880"/>
          </a:xfrm>
          <a:prstGeom prst="roundRect">
            <a:avLst>
              <a:gd name="adj" fmla="val 6207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23960" y="50109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019"/>
                </a:solidFill>
              </a:rPr>
              <a:t>Runs 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23960" y="539496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Firebase Hosting + Functions v2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430"/>
                </a:solidFill>
              </a:rPr>
              <a:t>React + Freshworks Dew UI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WHERE IT STANDS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019"/>
                </a:solidFill>
              </a:rPr>
              <a:t>Working today, and what comes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4389120"/>
          </a:xfrm>
          <a:prstGeom prst="roundRect">
            <a:avLst>
              <a:gd name="adj" fmla="val 1875"/>
            </a:avLst>
          </a:prstGeom>
          <a:solidFill>
            <a:srgbClr val="E9F7EF"/>
          </a:solidFill>
          <a:ln w="11430">
            <a:solidFill>
              <a:srgbClr val="B4E2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11824A"/>
                </a:solidFill>
              </a:rPr>
              <a:t>WORKING AND TESTED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430"/>
                </a:solidFill>
              </a:rPr>
              <a:t>All five tools, end to end in the UI and over the API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430"/>
                </a:solidFill>
              </a:rPr>
              <a:t>Customers → Requesters and Tickets → Tickets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430"/>
                </a:solidFill>
              </a:rPr>
              <a:t>Nine failure types with remediation and review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430"/>
                </a:solidFill>
              </a:rPr>
              <a:t>Idempotent re-runs, validation and reconciliation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430"/>
                </a:solidFill>
              </a:rPr>
              <a:t>Claude mapping suggestions and insights (live Claude calls)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430"/>
                </a:solidFill>
              </a:rPr>
              <a:t>78 automated backend tests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5303520" cy="4389120"/>
          </a:xfrm>
          <a:prstGeom prst="roundRect">
            <a:avLst>
              <a:gd name="adj" fmla="val 1875"/>
            </a:avLst>
          </a:prstGeom>
          <a:solidFill>
            <a:srgbClr val="FAF9FB"/>
          </a:solidFill>
          <a:ln w="11430">
            <a:solidFill>
              <a:srgbClr val="E6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920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9400FF"/>
                </a:solidFill>
              </a:rPr>
              <a:t>NEXT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19672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430"/>
                </a:solidFill>
              </a:rPr>
              <a:t>Connect a Freshservice sandbox (REST v2) and verify live writes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430"/>
                </a:solidFill>
              </a:rPr>
              <a:t>Turn on Freshservice Product MCP for discovery on a real tenant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430"/>
                </a:solidFill>
              </a:rPr>
              <a:t>Confirm the JSM project-customer endpoint for live customer reads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430"/>
                </a:solidFill>
              </a:rPr>
              <a:t>More entities: attachments, knowledge articles, assets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2430"/>
                </a:solidFill>
              </a:rPr>
              <a:t>Run large migrations as scheduled waves from the Goal Planner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83680"/>
            <a:ext cx="3931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5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40080" y="1874520"/>
            <a:ext cx="640080" cy="640080"/>
          </a:xfrm>
          <a:prstGeom prst="arc">
            <a:avLst/>
          </a:prstGeom>
          <a:solidFill>
            <a:srgbClr val="141019">
              <a:alpha val="0"/>
            </a:srgbClr>
          </a:solidFill>
          <a:ln w="76200">
            <a:solidFill>
              <a:srgbClr val="940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Zen does the migration.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 make the decisions that matter.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8E8"/>
                </a:solidFill>
              </a:rPr>
              <a:t>Discover  →  Map  →  Migrate  →  Review  →  Explain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5A3"/>
                </a:solidFill>
              </a:rPr>
              <a:t>Live demo: /agent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Zen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— the autonomous migration agent</dc:title>
  <dc:subject>Zen migration agent: JSM → Freshservice</dc:subject>
  <dc:creator>Zen</dc:creator>
  <cp:lastModifiedBy>Zen</cp:lastModifiedBy>
  <cp:revision>1</cp:revision>
  <dcterms:created xsi:type="dcterms:W3CDTF">2026-09-26T02:54:03Z</dcterms:created>
  <dcterms:modified xsi:type="dcterms:W3CDTF">2026-09-26T02:54:03Z</dcterms:modified>
</cp:coreProperties>
</file>