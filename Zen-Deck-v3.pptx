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Zen is the autonomous enterprise migration agent.
Give Zen a migration goal. Zen discovers, maps, tests, migrates, remediates and explains the outcome, with humans involved only when needed.
The shift we want customers to feel: from "Can we migrate?" to "Zen knows we're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ITSM platforms is more than moving data. Teams manage a whole journey: discover, map, transform, test, migrate, validate, fix and reconcile.
Friction shows up at every step: different entities and data models, complex field mappings and transformations, historical records and relationships, missing or incompatible data, API and rate-limit constraints, failures and retries, workflow and notification side effects, and manual validation and reconciliation.
Freshservice's own migration documentation calls out rate limits, API flexibility, migration-triggered notifications, workflow and business-rule execution, attachment constraints, and possible search and analytics delays.
The real problem: teams spend significant effort making migration safe, complete and trustworthy, not just moving records from A to B.
Today, migration = APIs + scripts + specialists + manual troubleshooting. The opportunity: an autonomous agent that manages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Enterprise migration remains high-touch. Basic Freshservice onboarding can be straightforward, but complexity rises with customized implementations and historical data migration.
2. Freshservice provides the integration foundation: REST API v2 and the Product MCP. The Product MCP exposes resources such as tickets, requesters, workspaces, departments and other organizational data, and supports Claude as a client.
3. Migration vendors already focus on confidence: mapping, test migrations, validation, custom migration support, delta migration and human assistance.
4. AI changes the operating model. Traditional: API, script, import, human troubleshooting. Agentic: goal, discover, reason, map, test, execute, remediate, explain.
Close: the opportunity is not another migration script. It is an intelligent migration experience that gives customers confidence before, during and after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starts with one goal: "Migrate all employees and tickets from Jira Service Management to Freshservice."
01 Discover: JSM customers/employees and tickets; Freshservice requesters, tickets, departments and workspaces.
02 Map: JSM customer to Freshservice requester, JSM ticket to Freshservice ticket, department to workspace, priority to priority, status to status.
03 Test: run a controlled sample migration.
04 Assess readiness: required fields, mapping, workspace classification, test migration and validation. The 96% readiness score is illustrative.
05 Execute the full migration. 06 Remediate: detect, diagnose, fix, retry. 07 Reconcile source vs target. 08 Explain: Claude summarizes what happened, what went wrong, what was fixed and what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states the goal in natural language. The Zen agent interprets it, discovers entities in the JSM source and the Freshservice target, and the AI mapping engine proposes the mapping.
A test migration feeds the readiness gate. Not ready: Zen remediates and retests. Ready: Zen runs the full migration, then validates and reconciles source vs target.
Recoverable failures are auto-fixed and retried. Unresolved records go to human review. Both paths feed Claude insights.
Technology layer: Source = Jira Service Management API / adapter. Agent = Zen Migration Engine. Target = Freshservice Product MCP / REST API v2. AI = Claude. Orchestration = Zen MCP.
The Freshworks cookbook identifies REST APIs and the Product MCP as the relevant connection layers, and distinguishes the Product MCP from the Developer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demo scenario. Suggested talk track (3-4 minutes):
"I give Zen one sentence." "Zen discovers the systems." "Zen maps them." "Zen tests the migration." "Zen tells me whether we're ready." "Zen executes." "Something fails." "Zen fixes it." "Claude tells me what happened."
Discover: source customers and tickets; target requesters, tickets, workspaces and departments.
Map: 42 fields discovered; 36 high-confidence, 5 medium-confidence, 1 requires review.
Test: 100 sample records; 98 successful, 2 automatically remediated, 0 critical errors. Migration ready.
Execute: 10,000 records; 9,650 successfully migrated (96.5% first-pass success rate), 280 automatically remediated, 70 sent to human review.
Claude explains: missing requester information was the primary failure category. Zen resolved records where an existing requester could be identified by email and normalized known department values. 70 records need human review because no reliable requester match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approach vs Zen: human defines every step vs user defines the goal; manual schema discovery vs automatic discovery; manual field mapping vs AI-assisted mapping; import and hope vs test before full migration; monitor failures manually vs agent detects failures; manually troubleshoot vs AI remediation and retry; manual reconciliation vs automated reconciliation; human involved throughout vs human only for exceptions; static migration report vs Claude-generated insights.
Existing migration solutions demonstrate the value of mapping, test migrations, validation and migration support. Zen brings these capabilities together into one goal-driven agent.
The Zen principle: automate where confidence is high, escalate where judgment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value: faster (automate repetitive migration work), safer (test, validate and reconcile before and after migration), autonomous (AI handles routine failures and remediation), human-controlled (escalate uncertain or critical issues instead of silently proceeding).
Target customers: enterprise customers adopting Freshservice. Primary users: IT administrators, customer onboarding teams, Professional Services and migration teams.
MVP success targets: at least 95% migration success rate, at least 80% of recoverable failures automatically remediated, under 10% of records requiring human intervention, and zero duplicate records. These are targets for the MVP, not claimed achieved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human configures, maps, scripts, tests, migrates, troubleshoots and validates, managing every step.
With Zen: a human says "Move JSM to Freshservice." Zen discovers, maps, tests, executes, remediates, reconciles and explains, and brings the human back only when needed.
Close: Give Zen the goal. Let Zen own the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B12"/>
        </a:solidFill>
      </p:bgPr>
    </p:bg>
    <p:spTree>
      <p:nvGrpSpPr>
        <p:cNvPr id="1" name=""/>
        <p:cNvGrpSpPr/>
        <p:nvPr/>
      </p:nvGrpSpPr>
      <p:grpSpPr>
        <a:xfrm>
          <a:off x="0" y="0"/>
          <a:ext cx="0" cy="0"/>
          <a:chOff x="0" y="0"/>
          <a:chExt cx="0" cy="0"/>
        </a:xfrm>
      </p:grpSpPr>
      <p:sp>
        <p:nvSpPr>
          <p:cNvPr id="3" name="Shape 0"/>
          <p:cNvSpPr/>
          <p:nvPr/>
        </p:nvSpPr>
        <p:spPr>
          <a:xfrm>
            <a:off x="7543800" y="502920"/>
            <a:ext cx="4297680" cy="4297680"/>
          </a:xfrm>
          <a:prstGeom prst="ellipse">
            <a:avLst/>
          </a:prstGeom>
          <a:noFill/>
          <a:ln w="9525">
            <a:solidFill>
              <a:srgbClr val="2F2A3A"/>
            </a:solidFill>
            <a:prstDash val="solid"/>
          </a:ln>
        </p:spPr>
      </p:sp>
      <p:sp>
        <p:nvSpPr>
          <p:cNvPr id="4" name="Shape 1"/>
          <p:cNvSpPr/>
          <p:nvPr/>
        </p:nvSpPr>
        <p:spPr>
          <a:xfrm>
            <a:off x="7863840" y="822960"/>
            <a:ext cx="3657600" cy="3657600"/>
          </a:xfrm>
          <a:prstGeom prst="arc">
            <a:avLst>
              <a:gd name="adj1" fmla="val 20100000"/>
              <a:gd name="adj2" fmla="val 17100000"/>
            </a:avLst>
          </a:prstGeom>
          <a:noFill/>
          <a:ln w="228600">
            <a:solidFill>
              <a:srgbClr val="9400FF"/>
            </a:solidFill>
            <a:prstDash val="solid"/>
          </a:ln>
        </p:spPr>
      </p:sp>
      <p:sp>
        <p:nvSpPr>
          <p:cNvPr id="5" name="Text 2"/>
          <p:cNvSpPr/>
          <p:nvPr/>
        </p:nvSpPr>
        <p:spPr>
          <a:xfrm>
            <a:off x="640080" y="822960"/>
            <a:ext cx="6583680" cy="201168"/>
          </a:xfrm>
          <a:prstGeom prst="rect">
            <a:avLst/>
          </a:prstGeom>
          <a:noFill/>
          <a:ln/>
        </p:spPr>
        <p:txBody>
          <a:bodyPr wrap="square" lIns="0" tIns="0" rIns="0" bIns="0" rtlCol="0" anchor="ctr"/>
          <a:lstStyle/>
          <a:p>
            <a:pPr indent="0" marL="0">
              <a:buNone/>
            </a:pPr>
            <a:r>
              <a:rPr lang="en-US" sz="1100" b="1" spc="200" kern="0" dirty="0">
                <a:solidFill>
                  <a:srgbClr val="C9A2FF"/>
                </a:solidFill>
                <a:latin typeface="Aptos" pitchFamily="34" charset="0"/>
                <a:ea typeface="Aptos" pitchFamily="34" charset="-122"/>
                <a:cs typeface="Aptos" pitchFamily="34" charset="-120"/>
              </a:rPr>
              <a:t>JIRA SERVICE MANAGEMENT  →  FRESHSERVICE</a:t>
            </a:r>
            <a:endParaRPr lang="en-US" sz="1100" dirty="0"/>
          </a:p>
        </p:txBody>
      </p:sp>
      <p:sp>
        <p:nvSpPr>
          <p:cNvPr id="6" name="Text 3"/>
          <p:cNvSpPr/>
          <p:nvPr/>
        </p:nvSpPr>
        <p:spPr>
          <a:xfrm>
            <a:off x="594360" y="1097280"/>
            <a:ext cx="5943600" cy="1737360"/>
          </a:xfrm>
          <a:prstGeom prst="rect">
            <a:avLst/>
          </a:prstGeom>
          <a:noFill/>
          <a:ln/>
        </p:spPr>
        <p:txBody>
          <a:bodyPr wrap="square" lIns="0" tIns="0" rIns="0" bIns="0" rtlCol="0" anchor="ctr"/>
          <a:lstStyle/>
          <a:p>
            <a:pPr indent="0" marL="0">
              <a:buNone/>
            </a:pPr>
            <a:r>
              <a:rPr lang="en-US" sz="12000" b="1" dirty="0">
                <a:solidFill>
                  <a:srgbClr val="FFFFFF"/>
                </a:solidFill>
                <a:latin typeface="Aptos Display" pitchFamily="34" charset="0"/>
                <a:ea typeface="Aptos Display" pitchFamily="34" charset="-122"/>
                <a:cs typeface="Aptos Display" pitchFamily="34" charset="-120"/>
              </a:rPr>
              <a:t>Zen</a:t>
            </a:r>
            <a:endParaRPr lang="en-US" sz="12000" dirty="0"/>
          </a:p>
        </p:txBody>
      </p:sp>
      <p:sp>
        <p:nvSpPr>
          <p:cNvPr id="7" name="Text 4"/>
          <p:cNvSpPr/>
          <p:nvPr/>
        </p:nvSpPr>
        <p:spPr>
          <a:xfrm>
            <a:off x="640080" y="2944368"/>
            <a:ext cx="6766560" cy="960120"/>
          </a:xfrm>
          <a:prstGeom prst="rect">
            <a:avLst/>
          </a:prstGeom>
          <a:noFill/>
          <a:ln/>
        </p:spPr>
        <p:txBody>
          <a:bodyPr wrap="square" lIns="0" tIns="0" rIns="0" bIns="0" rtlCol="0" anchor="t"/>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The Autonomous Enterprise</a:t>
            </a:r>
            <a:endParaRPr lang="en-US" sz="3000" dirty="0"/>
          </a:p>
          <a:p>
            <a:pPr indent="0" marL="0">
              <a:buNone/>
            </a:pPr>
            <a:r>
              <a:rPr lang="en-US" sz="3000" b="1" dirty="0">
                <a:solidFill>
                  <a:srgbClr val="FFFFFF"/>
                </a:solidFill>
                <a:latin typeface="Aptos Display" pitchFamily="34" charset="0"/>
                <a:ea typeface="Aptos Display" pitchFamily="34" charset="-122"/>
                <a:cs typeface="Aptos Display" pitchFamily="34" charset="-120"/>
              </a:rPr>
              <a:t>Migration Agent</a:t>
            </a:r>
            <a:endParaRPr lang="en-US" sz="3000" dirty="0"/>
          </a:p>
        </p:txBody>
      </p:sp>
      <p:sp>
        <p:nvSpPr>
          <p:cNvPr id="8" name="Text 5"/>
          <p:cNvSpPr/>
          <p:nvPr/>
        </p:nvSpPr>
        <p:spPr>
          <a:xfrm>
            <a:off x="640080" y="4041648"/>
            <a:ext cx="6766560" cy="310896"/>
          </a:xfrm>
          <a:prstGeom prst="rect">
            <a:avLst/>
          </a:prstGeom>
          <a:noFill/>
          <a:ln/>
        </p:spPr>
        <p:txBody>
          <a:bodyPr wrap="square" lIns="0" tIns="0" rIns="0" bIns="0" rtlCol="0" anchor="ctr"/>
          <a:lstStyle/>
          <a:p>
            <a:pPr indent="0" marL="0">
              <a:buNone/>
            </a:pPr>
            <a:r>
              <a:rPr lang="en-US" sz="1500" dirty="0">
                <a:solidFill>
                  <a:srgbClr val="A39DB0"/>
                </a:solidFill>
                <a:latin typeface="Aptos" pitchFamily="34" charset="0"/>
                <a:ea typeface="Aptos" pitchFamily="34" charset="-122"/>
                <a:cs typeface="Aptos" pitchFamily="34" charset="-120"/>
              </a:rPr>
              <a:t>From manual migration projects to goal-driven, intelligent migration.</a:t>
            </a:r>
            <a:endParaRPr lang="en-US" sz="1500" dirty="0"/>
          </a:p>
        </p:txBody>
      </p:sp>
      <p:sp>
        <p:nvSpPr>
          <p:cNvPr id="9" name="Shape 6"/>
          <p:cNvSpPr/>
          <p:nvPr/>
        </p:nvSpPr>
        <p:spPr>
          <a:xfrm>
            <a:off x="713232" y="5138928"/>
            <a:ext cx="9692640" cy="0"/>
          </a:xfrm>
          <a:prstGeom prst="line">
            <a:avLst/>
          </a:prstGeom>
          <a:noFill/>
          <a:ln w="15875">
            <a:solidFill>
              <a:srgbClr val="2F2A3A"/>
            </a:solidFill>
            <a:prstDash val="solid"/>
          </a:ln>
        </p:spPr>
      </p:sp>
      <p:sp>
        <p:nvSpPr>
          <p:cNvPr id="10" name="Shape 7"/>
          <p:cNvSpPr/>
          <p:nvPr/>
        </p:nvSpPr>
        <p:spPr>
          <a:xfrm>
            <a:off x="640080" y="5065776"/>
            <a:ext cx="146304" cy="146304"/>
          </a:xfrm>
          <a:prstGeom prst="ellipse">
            <a:avLst/>
          </a:prstGeom>
          <a:solidFill>
            <a:srgbClr val="9400FF"/>
          </a:solidFill>
          <a:ln/>
        </p:spPr>
      </p:sp>
      <p:sp>
        <p:nvSpPr>
          <p:cNvPr id="11" name="Text 8"/>
          <p:cNvSpPr/>
          <p:nvPr/>
        </p:nvSpPr>
        <p:spPr>
          <a:xfrm>
            <a:off x="640080" y="5340096"/>
            <a:ext cx="1645920" cy="201168"/>
          </a:xfrm>
          <a:prstGeom prst="rect">
            <a:avLst/>
          </a:prstGeom>
          <a:noFill/>
          <a:ln/>
        </p:spPr>
        <p:txBody>
          <a:bodyPr wrap="square" lIns="0" tIns="0" rIns="0" bIns="0" rtlCol="0" anchor="ctr"/>
          <a:lstStyle/>
          <a:p>
            <a:pPr indent="0" marL="0">
              <a:buNone/>
            </a:pPr>
            <a:r>
              <a:rPr lang="en-US" sz="1150" b="1" spc="200" kern="0" dirty="0">
                <a:solidFill>
                  <a:srgbClr val="FFFFFF"/>
                </a:solidFill>
                <a:latin typeface="Aptos" pitchFamily="34" charset="0"/>
                <a:ea typeface="Aptos" pitchFamily="34" charset="-122"/>
                <a:cs typeface="Aptos" pitchFamily="34" charset="-120"/>
              </a:rPr>
              <a:t>DISCOVER</a:t>
            </a:r>
            <a:endParaRPr lang="en-US" sz="1150" dirty="0"/>
          </a:p>
        </p:txBody>
      </p:sp>
      <p:sp>
        <p:nvSpPr>
          <p:cNvPr id="12" name="Shape 9"/>
          <p:cNvSpPr/>
          <p:nvPr/>
        </p:nvSpPr>
        <p:spPr>
          <a:xfrm>
            <a:off x="2578608" y="5065776"/>
            <a:ext cx="146304" cy="146304"/>
          </a:xfrm>
          <a:prstGeom prst="ellipse">
            <a:avLst/>
          </a:prstGeom>
          <a:solidFill>
            <a:srgbClr val="9400FF"/>
          </a:solidFill>
          <a:ln/>
        </p:spPr>
      </p:sp>
      <p:sp>
        <p:nvSpPr>
          <p:cNvPr id="13" name="Text 10"/>
          <p:cNvSpPr/>
          <p:nvPr/>
        </p:nvSpPr>
        <p:spPr>
          <a:xfrm>
            <a:off x="2578608" y="5340096"/>
            <a:ext cx="1645920" cy="201168"/>
          </a:xfrm>
          <a:prstGeom prst="rect">
            <a:avLst/>
          </a:prstGeom>
          <a:noFill/>
          <a:ln/>
        </p:spPr>
        <p:txBody>
          <a:bodyPr wrap="square" lIns="0" tIns="0" rIns="0" bIns="0" rtlCol="0" anchor="ctr"/>
          <a:lstStyle/>
          <a:p>
            <a:pPr indent="0" marL="0">
              <a:buNone/>
            </a:pPr>
            <a:r>
              <a:rPr lang="en-US" sz="1150" b="1" spc="200" kern="0" dirty="0">
                <a:solidFill>
                  <a:srgbClr val="FFFFFF"/>
                </a:solidFill>
                <a:latin typeface="Aptos" pitchFamily="34" charset="0"/>
                <a:ea typeface="Aptos" pitchFamily="34" charset="-122"/>
                <a:cs typeface="Aptos" pitchFamily="34" charset="-120"/>
              </a:rPr>
              <a:t>MAP</a:t>
            </a:r>
            <a:endParaRPr lang="en-US" sz="1150" dirty="0"/>
          </a:p>
        </p:txBody>
      </p:sp>
      <p:sp>
        <p:nvSpPr>
          <p:cNvPr id="14" name="Shape 11"/>
          <p:cNvSpPr/>
          <p:nvPr/>
        </p:nvSpPr>
        <p:spPr>
          <a:xfrm>
            <a:off x="4517136" y="5065776"/>
            <a:ext cx="146304" cy="146304"/>
          </a:xfrm>
          <a:prstGeom prst="ellipse">
            <a:avLst/>
          </a:prstGeom>
          <a:solidFill>
            <a:srgbClr val="9400FF"/>
          </a:solidFill>
          <a:ln/>
        </p:spPr>
      </p:sp>
      <p:sp>
        <p:nvSpPr>
          <p:cNvPr id="15" name="Text 12"/>
          <p:cNvSpPr/>
          <p:nvPr/>
        </p:nvSpPr>
        <p:spPr>
          <a:xfrm>
            <a:off x="4517136" y="5340096"/>
            <a:ext cx="1645920" cy="201168"/>
          </a:xfrm>
          <a:prstGeom prst="rect">
            <a:avLst/>
          </a:prstGeom>
          <a:noFill/>
          <a:ln/>
        </p:spPr>
        <p:txBody>
          <a:bodyPr wrap="square" lIns="0" tIns="0" rIns="0" bIns="0" rtlCol="0" anchor="ctr"/>
          <a:lstStyle/>
          <a:p>
            <a:pPr indent="0" marL="0">
              <a:buNone/>
            </a:pPr>
            <a:r>
              <a:rPr lang="en-US" sz="1150" b="1" spc="200" kern="0" dirty="0">
                <a:solidFill>
                  <a:srgbClr val="FFFFFF"/>
                </a:solidFill>
                <a:latin typeface="Aptos" pitchFamily="34" charset="0"/>
                <a:ea typeface="Aptos" pitchFamily="34" charset="-122"/>
                <a:cs typeface="Aptos" pitchFamily="34" charset="-120"/>
              </a:rPr>
              <a:t>TEST</a:t>
            </a:r>
            <a:endParaRPr lang="en-US" sz="1150" dirty="0"/>
          </a:p>
        </p:txBody>
      </p:sp>
      <p:sp>
        <p:nvSpPr>
          <p:cNvPr id="16" name="Shape 13"/>
          <p:cNvSpPr/>
          <p:nvPr/>
        </p:nvSpPr>
        <p:spPr>
          <a:xfrm>
            <a:off x="6455664" y="5065776"/>
            <a:ext cx="146304" cy="146304"/>
          </a:xfrm>
          <a:prstGeom prst="ellipse">
            <a:avLst/>
          </a:prstGeom>
          <a:solidFill>
            <a:srgbClr val="9400FF"/>
          </a:solidFill>
          <a:ln/>
        </p:spPr>
      </p:sp>
      <p:sp>
        <p:nvSpPr>
          <p:cNvPr id="17" name="Text 14"/>
          <p:cNvSpPr/>
          <p:nvPr/>
        </p:nvSpPr>
        <p:spPr>
          <a:xfrm>
            <a:off x="6455664" y="5340096"/>
            <a:ext cx="1645920" cy="201168"/>
          </a:xfrm>
          <a:prstGeom prst="rect">
            <a:avLst/>
          </a:prstGeom>
          <a:noFill/>
          <a:ln/>
        </p:spPr>
        <p:txBody>
          <a:bodyPr wrap="square" lIns="0" tIns="0" rIns="0" bIns="0" rtlCol="0" anchor="ctr"/>
          <a:lstStyle/>
          <a:p>
            <a:pPr indent="0" marL="0">
              <a:buNone/>
            </a:pPr>
            <a:r>
              <a:rPr lang="en-US" sz="1150" b="1" spc="200" kern="0" dirty="0">
                <a:solidFill>
                  <a:srgbClr val="FFFFFF"/>
                </a:solidFill>
                <a:latin typeface="Aptos" pitchFamily="34" charset="0"/>
                <a:ea typeface="Aptos" pitchFamily="34" charset="-122"/>
                <a:cs typeface="Aptos" pitchFamily="34" charset="-120"/>
              </a:rPr>
              <a:t>EXECUTE</a:t>
            </a:r>
            <a:endParaRPr lang="en-US" sz="1150" dirty="0"/>
          </a:p>
        </p:txBody>
      </p:sp>
      <p:sp>
        <p:nvSpPr>
          <p:cNvPr id="18" name="Shape 15"/>
          <p:cNvSpPr/>
          <p:nvPr/>
        </p:nvSpPr>
        <p:spPr>
          <a:xfrm>
            <a:off x="8394192" y="5065776"/>
            <a:ext cx="146304" cy="146304"/>
          </a:xfrm>
          <a:prstGeom prst="ellipse">
            <a:avLst/>
          </a:prstGeom>
          <a:solidFill>
            <a:srgbClr val="9400FF"/>
          </a:solidFill>
          <a:ln/>
        </p:spPr>
      </p:sp>
      <p:sp>
        <p:nvSpPr>
          <p:cNvPr id="19" name="Text 16"/>
          <p:cNvSpPr/>
          <p:nvPr/>
        </p:nvSpPr>
        <p:spPr>
          <a:xfrm>
            <a:off x="8394192" y="5340096"/>
            <a:ext cx="1645920" cy="201168"/>
          </a:xfrm>
          <a:prstGeom prst="rect">
            <a:avLst/>
          </a:prstGeom>
          <a:noFill/>
          <a:ln/>
        </p:spPr>
        <p:txBody>
          <a:bodyPr wrap="square" lIns="0" tIns="0" rIns="0" bIns="0" rtlCol="0" anchor="ctr"/>
          <a:lstStyle/>
          <a:p>
            <a:pPr indent="0" marL="0">
              <a:buNone/>
            </a:pPr>
            <a:r>
              <a:rPr lang="en-US" sz="1150" b="1" spc="200" kern="0" dirty="0">
                <a:solidFill>
                  <a:srgbClr val="FFFFFF"/>
                </a:solidFill>
                <a:latin typeface="Aptos" pitchFamily="34" charset="0"/>
                <a:ea typeface="Aptos" pitchFamily="34" charset="-122"/>
                <a:cs typeface="Aptos" pitchFamily="34" charset="-120"/>
              </a:rPr>
              <a:t>REMEDIATE</a:t>
            </a:r>
            <a:endParaRPr lang="en-US" sz="1150" dirty="0"/>
          </a:p>
        </p:txBody>
      </p:sp>
      <p:sp>
        <p:nvSpPr>
          <p:cNvPr id="20" name="Shape 17"/>
          <p:cNvSpPr/>
          <p:nvPr/>
        </p:nvSpPr>
        <p:spPr>
          <a:xfrm>
            <a:off x="10332720" y="5065776"/>
            <a:ext cx="146304" cy="146304"/>
          </a:xfrm>
          <a:prstGeom prst="ellipse">
            <a:avLst/>
          </a:prstGeom>
          <a:solidFill>
            <a:srgbClr val="5EE6A8"/>
          </a:solidFill>
          <a:ln/>
        </p:spPr>
      </p:sp>
      <p:sp>
        <p:nvSpPr>
          <p:cNvPr id="21" name="Text 18"/>
          <p:cNvSpPr/>
          <p:nvPr/>
        </p:nvSpPr>
        <p:spPr>
          <a:xfrm>
            <a:off x="10332720" y="5340096"/>
            <a:ext cx="1218895" cy="201168"/>
          </a:xfrm>
          <a:prstGeom prst="rect">
            <a:avLst/>
          </a:prstGeom>
          <a:noFill/>
          <a:ln/>
        </p:spPr>
        <p:txBody>
          <a:bodyPr wrap="square" lIns="0" tIns="0" rIns="0" bIns="0" rtlCol="0" anchor="ctr"/>
          <a:lstStyle/>
          <a:p>
            <a:pPr indent="0" marL="0">
              <a:buNone/>
            </a:pPr>
            <a:r>
              <a:rPr lang="en-US" sz="1150" b="1" spc="200" kern="0" dirty="0">
                <a:solidFill>
                  <a:srgbClr val="5EE6A8"/>
                </a:solidFill>
                <a:latin typeface="Aptos" pitchFamily="34" charset="0"/>
                <a:ea typeface="Aptos" pitchFamily="34" charset="-122"/>
                <a:cs typeface="Aptos" pitchFamily="34" charset="-120"/>
              </a:rPr>
              <a:t>EXPLAIN</a:t>
            </a:r>
            <a:endParaRPr lang="en-US" sz="1150" dirty="0"/>
          </a:p>
        </p:txBody>
      </p:sp>
      <p:sp>
        <p:nvSpPr>
          <p:cNvPr id="22" name="Text 19"/>
          <p:cNvSpPr/>
          <p:nvPr/>
        </p:nvSpPr>
        <p:spPr>
          <a:xfrm>
            <a:off x="640080" y="5870448"/>
            <a:ext cx="10911535" cy="365760"/>
          </a:xfrm>
          <a:prstGeom prst="rect">
            <a:avLst/>
          </a:prstGeom>
          <a:noFill/>
          <a:ln/>
        </p:spPr>
        <p:txBody>
          <a:bodyPr wrap="square" lIns="0" tIns="0" rIns="0" bIns="0" rtlCol="0" anchor="ctr"/>
          <a:lstStyle/>
          <a:p>
            <a:pPr indent="0" marL="0">
              <a:buNone/>
            </a:pPr>
            <a:r>
              <a:rPr lang="en-US" sz="1700" dirty="0">
                <a:solidFill>
                  <a:srgbClr val="A39DB0"/>
                </a:solidFill>
                <a:latin typeface="Aptos" pitchFamily="34" charset="0"/>
                <a:ea typeface="Aptos" pitchFamily="34" charset="-122"/>
                <a:cs typeface="Aptos" pitchFamily="34" charset="-120"/>
              </a:rPr>
              <a:t>From “Can we migrate?”  →  </a:t>
            </a:r>
            <a:pPr indent="0" marL="0">
              <a:buNone/>
            </a:pPr>
            <a:r>
              <a:rPr lang="en-US" sz="1700" b="1" dirty="0">
                <a:solidFill>
                  <a:srgbClr val="5EE6A8"/>
                </a:solidFill>
                <a:latin typeface="Aptos" pitchFamily="34" charset="0"/>
                <a:ea typeface="Aptos" pitchFamily="34" charset="-122"/>
                <a:cs typeface="Aptos" pitchFamily="34" charset="-120"/>
              </a:rPr>
              <a:t>“Zen knows we’re ready.”</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73952"/>
            <a:ext cx="5486400" cy="164592"/>
          </a:xfrm>
          <a:prstGeom prst="rect">
            <a:avLst/>
          </a:prstGeom>
          <a:noFill/>
          <a:ln/>
        </p:spPr>
        <p:txBody>
          <a:bodyPr wrap="square" lIns="0" tIns="0" rIns="0" bIns="0" rtlCol="0" anchor="ctr"/>
          <a:lstStyle/>
          <a:p>
            <a:pPr indent="0" marL="0">
              <a:buNone/>
            </a:pPr>
            <a:r>
              <a:rPr lang="en-US" sz="800" spc="100" kern="0" dirty="0">
                <a:solidFill>
                  <a:srgbClr val="8A8A93"/>
                </a:solidFill>
                <a:latin typeface="Aptos" pitchFamily="34" charset="0"/>
                <a:ea typeface="Aptos" pitchFamily="34" charset="-122"/>
                <a:cs typeface="Aptos" pitchFamily="34" charset="-120"/>
              </a:rPr>
              <a:t>ZEN  ·  AUTONOMOUS ENTERPRISE MIGRATION AGENT</a:t>
            </a:r>
            <a:endParaRPr lang="en-US" sz="800" dirty="0"/>
          </a:p>
        </p:txBody>
      </p:sp>
      <p:sp>
        <p:nvSpPr>
          <p:cNvPr id="3" name="Text 1"/>
          <p:cNvSpPr/>
          <p:nvPr/>
        </p:nvSpPr>
        <p:spPr>
          <a:xfrm>
            <a:off x="11002975" y="6473952"/>
            <a:ext cx="548640" cy="164592"/>
          </a:xfrm>
          <a:prstGeom prst="rect">
            <a:avLst/>
          </a:prstGeom>
          <a:noFill/>
          <a:ln/>
        </p:spPr>
        <p:txBody>
          <a:bodyPr wrap="square" lIns="0" tIns="0" rIns="0" bIns="0" rtlCol="0" anchor="ctr"/>
          <a:lstStyle/>
          <a:p>
            <a:pPr algn="r" indent="0" marL="0">
              <a:buNone/>
            </a:pPr>
            <a:r>
              <a:rPr lang="en-US" sz="800" dirty="0">
                <a:solidFill>
                  <a:srgbClr val="8A8A93"/>
                </a:solidFill>
                <a:latin typeface="Aptos" pitchFamily="34" charset="0"/>
                <a:ea typeface="Aptos" pitchFamily="34" charset="-122"/>
                <a:cs typeface="Aptos" pitchFamily="34" charset="-120"/>
              </a:rPr>
              <a:t>02</a:t>
            </a:r>
            <a:endParaRPr lang="en-US" sz="800" dirty="0"/>
          </a:p>
        </p:txBody>
      </p:sp>
      <p:sp>
        <p:nvSpPr>
          <p:cNvPr id="5" name="Text 2"/>
          <p:cNvSpPr/>
          <p:nvPr/>
        </p:nvSpPr>
        <p:spPr>
          <a:xfrm>
            <a:off x="640080" y="502920"/>
            <a:ext cx="6400800" cy="201168"/>
          </a:xfrm>
          <a:prstGeom prst="rect">
            <a:avLst/>
          </a:prstGeom>
          <a:noFill/>
          <a:ln/>
        </p:spPr>
        <p:txBody>
          <a:bodyPr wrap="square" lIns="0" tIns="0" rIns="0" bIns="0" rtlCol="0" anchor="ctr"/>
          <a:lstStyle/>
          <a:p>
            <a:pPr indent="0" marL="0">
              <a:buNone/>
            </a:pPr>
            <a:r>
              <a:rPr lang="en-US" sz="1050" b="1" spc="200" kern="0" dirty="0">
                <a:solidFill>
                  <a:srgbClr val="9400FF"/>
                </a:solidFill>
                <a:latin typeface="Aptos" pitchFamily="34" charset="0"/>
                <a:ea typeface="Aptos" pitchFamily="34" charset="-122"/>
                <a:cs typeface="Aptos" pitchFamily="34" charset="-120"/>
              </a:rPr>
              <a:t>THE PROBLEM</a:t>
            </a:r>
            <a:endParaRPr lang="en-US" sz="1050" dirty="0"/>
          </a:p>
        </p:txBody>
      </p:sp>
      <p:sp>
        <p:nvSpPr>
          <p:cNvPr id="6" name="Text 3"/>
          <p:cNvSpPr/>
          <p:nvPr/>
        </p:nvSpPr>
        <p:spPr>
          <a:xfrm>
            <a:off x="640080" y="768096"/>
            <a:ext cx="10911535" cy="603504"/>
          </a:xfrm>
          <a:prstGeom prst="rect">
            <a:avLst/>
          </a:prstGeom>
          <a:noFill/>
          <a:ln/>
        </p:spPr>
        <p:txBody>
          <a:bodyPr wrap="square" lIns="0" tIns="0" rIns="0" bIns="0" rtlCol="0" anchor="ctr"/>
          <a:lstStyle/>
          <a:p>
            <a:pPr indent="0" marL="0">
              <a:buNone/>
            </a:pPr>
            <a:r>
              <a:rPr lang="en-US" sz="2800" b="1" dirty="0">
                <a:solidFill>
                  <a:srgbClr val="111111"/>
                </a:solidFill>
                <a:latin typeface="Aptos Display" pitchFamily="34" charset="0"/>
                <a:ea typeface="Aptos Display" pitchFamily="34" charset="-122"/>
                <a:cs typeface="Aptos Display" pitchFamily="34" charset="-120"/>
              </a:rPr>
              <a:t>Enterprise migration is more than moving data</a:t>
            </a:r>
            <a:endParaRPr lang="en-US" sz="2800" dirty="0"/>
          </a:p>
        </p:txBody>
      </p:sp>
      <p:sp>
        <p:nvSpPr>
          <p:cNvPr id="7" name="Text 4"/>
          <p:cNvSpPr/>
          <p:nvPr/>
        </p:nvSpPr>
        <p:spPr>
          <a:xfrm>
            <a:off x="640080" y="1389888"/>
            <a:ext cx="10911535" cy="310896"/>
          </a:xfrm>
          <a:prstGeom prst="rect">
            <a:avLst/>
          </a:prstGeom>
          <a:noFill/>
          <a:ln/>
        </p:spPr>
        <p:txBody>
          <a:bodyPr wrap="square" lIns="0" tIns="0" rIns="0" bIns="0" rtlCol="0" anchor="ctr"/>
          <a:lstStyle/>
          <a:p>
            <a:pPr indent="0" marL="0">
              <a:buNone/>
            </a:pPr>
            <a:r>
              <a:rPr lang="en-US" sz="1400" dirty="0">
                <a:solidFill>
                  <a:srgbClr val="5F5F66"/>
                </a:solidFill>
                <a:latin typeface="Aptos" pitchFamily="34" charset="0"/>
                <a:ea typeface="Aptos" pitchFamily="34" charset="-122"/>
                <a:cs typeface="Aptos" pitchFamily="34" charset="-120"/>
              </a:rPr>
              <a:t>The hard part isn’t moving records from A to B. It’s making migration safe, complete and trustworthy.</a:t>
            </a:r>
            <a:endParaRPr lang="en-US" sz="1400" dirty="0"/>
          </a:p>
        </p:txBody>
      </p:sp>
      <p:sp>
        <p:nvSpPr>
          <p:cNvPr id="8" name="Text 5"/>
          <p:cNvSpPr/>
          <p:nvPr/>
        </p:nvSpPr>
        <p:spPr>
          <a:xfrm>
            <a:off x="640080" y="2084832"/>
            <a:ext cx="4572000" cy="201168"/>
          </a:xfrm>
          <a:prstGeom prst="rect">
            <a:avLst/>
          </a:prstGeom>
          <a:noFill/>
          <a:ln/>
        </p:spPr>
        <p:txBody>
          <a:bodyPr wrap="square" lIns="0" tIns="0" rIns="0" bIns="0" rtlCol="0" anchor="ctr"/>
          <a:lstStyle/>
          <a:p>
            <a:pPr indent="0" marL="0">
              <a:buNone/>
            </a:pPr>
            <a:r>
              <a:rPr lang="en-US" sz="950" b="1" spc="150" kern="0" dirty="0">
                <a:solidFill>
                  <a:srgbClr val="8A8A93"/>
                </a:solidFill>
                <a:latin typeface="Aptos" pitchFamily="34" charset="0"/>
                <a:ea typeface="Aptos" pitchFamily="34" charset="-122"/>
                <a:cs typeface="Aptos" pitchFamily="34" charset="-120"/>
              </a:rPr>
              <a:t>THE MIGRATION JOURNEY</a:t>
            </a:r>
            <a:endParaRPr lang="en-US" sz="950" dirty="0"/>
          </a:p>
        </p:txBody>
      </p:sp>
      <p:sp>
        <p:nvSpPr>
          <p:cNvPr id="9" name="Text 6"/>
          <p:cNvSpPr/>
          <p:nvPr/>
        </p:nvSpPr>
        <p:spPr>
          <a:xfrm>
            <a:off x="9265615" y="2084832"/>
            <a:ext cx="2286000" cy="201168"/>
          </a:xfrm>
          <a:prstGeom prst="rect">
            <a:avLst/>
          </a:prstGeom>
          <a:noFill/>
          <a:ln/>
        </p:spPr>
        <p:txBody>
          <a:bodyPr wrap="square" lIns="0" tIns="0" rIns="0" bIns="0" rtlCol="0" anchor="ctr"/>
          <a:lstStyle/>
          <a:p>
            <a:pPr algn="r" indent="0" marL="0">
              <a:buNone/>
            </a:pPr>
            <a:r>
              <a:rPr lang="en-US" sz="950" dirty="0">
                <a:solidFill>
                  <a:srgbClr val="D97706"/>
                </a:solidFill>
                <a:latin typeface="Aptos" pitchFamily="34" charset="0"/>
                <a:ea typeface="Aptos" pitchFamily="34" charset="-122"/>
                <a:cs typeface="Aptos" pitchFamily="34" charset="-120"/>
              </a:rPr>
              <a:t>●  </a:t>
            </a:r>
            <a:pPr algn="r" indent="0" marL="0">
              <a:buNone/>
            </a:pPr>
            <a:r>
              <a:rPr lang="en-US" sz="950" b="1" spc="150" kern="0" dirty="0">
                <a:solidFill>
                  <a:srgbClr val="8A8A93"/>
                </a:solidFill>
                <a:latin typeface="Aptos" pitchFamily="34" charset="0"/>
                <a:ea typeface="Aptos" pitchFamily="34" charset="-122"/>
                <a:cs typeface="Aptos" pitchFamily="34" charset="-120"/>
              </a:rPr>
              <a:t>FRICTION POINT</a:t>
            </a:r>
            <a:endParaRPr lang="en-US" sz="950" dirty="0"/>
          </a:p>
        </p:txBody>
      </p:sp>
      <p:sp>
        <p:nvSpPr>
          <p:cNvPr id="10" name="Text 7"/>
          <p:cNvSpPr/>
          <p:nvPr/>
        </p:nvSpPr>
        <p:spPr>
          <a:xfrm>
            <a:off x="640080" y="2377440"/>
            <a:ext cx="1547622" cy="548640"/>
          </a:xfrm>
          <a:prstGeom prst="homePlate">
            <a:avLst/>
          </a:prstGeom>
          <a:solidFill>
            <a:srgbClr val="EFECF4"/>
          </a:solidFill>
          <a:ln/>
        </p:spPr>
        <p:txBody>
          <a:bodyPr wrap="square" lIns="0" tIns="0" rIns="0" bIns="0" rtlCol="0" anchor="ctr"/>
          <a:lstStyle/>
          <a:p>
            <a:pPr algn="ctr" indent="0" marL="0">
              <a:buNone/>
            </a:pPr>
            <a:r>
              <a:rPr lang="en-US" sz="1250" b="1" dirty="0">
                <a:solidFill>
                  <a:srgbClr val="111111"/>
                </a:solidFill>
                <a:latin typeface="Aptos" pitchFamily="34" charset="0"/>
                <a:ea typeface="Aptos" pitchFamily="34" charset="-122"/>
                <a:cs typeface="Aptos" pitchFamily="34" charset="-120"/>
              </a:rPr>
              <a:t>Discover</a:t>
            </a:r>
            <a:endParaRPr lang="en-US" sz="1250" dirty="0"/>
          </a:p>
        </p:txBody>
      </p:sp>
      <p:sp>
        <p:nvSpPr>
          <p:cNvPr id="11" name="Shape 8"/>
          <p:cNvSpPr/>
          <p:nvPr/>
        </p:nvSpPr>
        <p:spPr>
          <a:xfrm>
            <a:off x="1298448" y="3017520"/>
            <a:ext cx="0" cy="219456"/>
          </a:xfrm>
          <a:prstGeom prst="line">
            <a:avLst/>
          </a:prstGeom>
          <a:noFill/>
          <a:ln w="12700">
            <a:solidFill>
              <a:srgbClr val="D8D4E0"/>
            </a:solidFill>
            <a:prstDash val="solid"/>
          </a:ln>
        </p:spPr>
      </p:sp>
      <p:sp>
        <p:nvSpPr>
          <p:cNvPr id="12" name="Shape 9"/>
          <p:cNvSpPr/>
          <p:nvPr/>
        </p:nvSpPr>
        <p:spPr>
          <a:xfrm>
            <a:off x="1234440" y="3236976"/>
            <a:ext cx="128016" cy="128016"/>
          </a:xfrm>
          <a:prstGeom prst="ellipse">
            <a:avLst/>
          </a:prstGeom>
          <a:solidFill>
            <a:srgbClr val="D97706"/>
          </a:solidFill>
          <a:ln/>
        </p:spPr>
      </p:sp>
      <p:sp>
        <p:nvSpPr>
          <p:cNvPr id="13" name="Text 10"/>
          <p:cNvSpPr/>
          <p:nvPr/>
        </p:nvSpPr>
        <p:spPr>
          <a:xfrm>
            <a:off x="658368" y="3456432"/>
            <a:ext cx="1280160"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Different entities &amp; data models</a:t>
            </a:r>
            <a:endParaRPr lang="en-US" sz="1050" dirty="0"/>
          </a:p>
        </p:txBody>
      </p:sp>
      <p:sp>
        <p:nvSpPr>
          <p:cNvPr id="14" name="Text 11"/>
          <p:cNvSpPr/>
          <p:nvPr/>
        </p:nvSpPr>
        <p:spPr>
          <a:xfrm>
            <a:off x="1977390" y="2377440"/>
            <a:ext cx="1547622" cy="548640"/>
          </a:xfrm>
          <a:prstGeom prst="chevron">
            <a:avLst/>
          </a:prstGeom>
          <a:solidFill>
            <a:srgbClr val="EFECF4"/>
          </a:solidFill>
          <a:ln/>
        </p:spPr>
        <p:txBody>
          <a:bodyPr wrap="square" lIns="0" tIns="0" rIns="0" bIns="0" rtlCol="0" anchor="ctr"/>
          <a:lstStyle/>
          <a:p>
            <a:pPr algn="ctr" indent="0" marL="0">
              <a:buNone/>
            </a:pPr>
            <a:r>
              <a:rPr lang="en-US" sz="1250" b="1" dirty="0">
                <a:solidFill>
                  <a:srgbClr val="111111"/>
                </a:solidFill>
                <a:latin typeface="Aptos" pitchFamily="34" charset="0"/>
                <a:ea typeface="Aptos" pitchFamily="34" charset="-122"/>
                <a:cs typeface="Aptos" pitchFamily="34" charset="-120"/>
              </a:rPr>
              <a:t>Map</a:t>
            </a:r>
            <a:endParaRPr lang="en-US" sz="1250" dirty="0"/>
          </a:p>
        </p:txBody>
      </p:sp>
      <p:sp>
        <p:nvSpPr>
          <p:cNvPr id="15" name="Shape 12"/>
          <p:cNvSpPr/>
          <p:nvPr/>
        </p:nvSpPr>
        <p:spPr>
          <a:xfrm>
            <a:off x="2751201" y="3017520"/>
            <a:ext cx="0" cy="219456"/>
          </a:xfrm>
          <a:prstGeom prst="line">
            <a:avLst/>
          </a:prstGeom>
          <a:noFill/>
          <a:ln w="12700">
            <a:solidFill>
              <a:srgbClr val="D8D4E0"/>
            </a:solidFill>
            <a:prstDash val="solid"/>
          </a:ln>
        </p:spPr>
      </p:sp>
      <p:sp>
        <p:nvSpPr>
          <p:cNvPr id="16" name="Shape 13"/>
          <p:cNvSpPr/>
          <p:nvPr/>
        </p:nvSpPr>
        <p:spPr>
          <a:xfrm>
            <a:off x="2687193" y="3236976"/>
            <a:ext cx="128016" cy="128016"/>
          </a:xfrm>
          <a:prstGeom prst="ellipse">
            <a:avLst/>
          </a:prstGeom>
          <a:solidFill>
            <a:srgbClr val="D97706"/>
          </a:solidFill>
          <a:ln/>
        </p:spPr>
      </p:sp>
      <p:sp>
        <p:nvSpPr>
          <p:cNvPr id="17" name="Text 14"/>
          <p:cNvSpPr/>
          <p:nvPr/>
        </p:nvSpPr>
        <p:spPr>
          <a:xfrm>
            <a:off x="2111121" y="3456432"/>
            <a:ext cx="1280160"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Complex field mappings</a:t>
            </a:r>
            <a:endParaRPr lang="en-US" sz="1050" dirty="0"/>
          </a:p>
        </p:txBody>
      </p:sp>
      <p:sp>
        <p:nvSpPr>
          <p:cNvPr id="18" name="Text 15"/>
          <p:cNvSpPr/>
          <p:nvPr/>
        </p:nvSpPr>
        <p:spPr>
          <a:xfrm>
            <a:off x="3314700" y="2377440"/>
            <a:ext cx="1547622" cy="548640"/>
          </a:xfrm>
          <a:prstGeom prst="chevron">
            <a:avLst/>
          </a:prstGeom>
          <a:solidFill>
            <a:srgbClr val="EFECF4"/>
          </a:solidFill>
          <a:ln/>
        </p:spPr>
        <p:txBody>
          <a:bodyPr wrap="square" lIns="0" tIns="0" rIns="0" bIns="0" rtlCol="0" anchor="ctr"/>
          <a:lstStyle/>
          <a:p>
            <a:pPr algn="ctr" indent="0" marL="0">
              <a:buNone/>
            </a:pPr>
            <a:r>
              <a:rPr lang="en-US" sz="1250" b="1" dirty="0">
                <a:solidFill>
                  <a:srgbClr val="111111"/>
                </a:solidFill>
                <a:latin typeface="Aptos" pitchFamily="34" charset="0"/>
                <a:ea typeface="Aptos" pitchFamily="34" charset="-122"/>
                <a:cs typeface="Aptos" pitchFamily="34" charset="-120"/>
              </a:rPr>
              <a:t>Transform</a:t>
            </a:r>
            <a:endParaRPr lang="en-US" sz="1250" dirty="0"/>
          </a:p>
        </p:txBody>
      </p:sp>
      <p:sp>
        <p:nvSpPr>
          <p:cNvPr id="19" name="Shape 16"/>
          <p:cNvSpPr/>
          <p:nvPr/>
        </p:nvSpPr>
        <p:spPr>
          <a:xfrm>
            <a:off x="4088511" y="3017520"/>
            <a:ext cx="0" cy="219456"/>
          </a:xfrm>
          <a:prstGeom prst="line">
            <a:avLst/>
          </a:prstGeom>
          <a:noFill/>
          <a:ln w="12700">
            <a:solidFill>
              <a:srgbClr val="D8D4E0"/>
            </a:solidFill>
            <a:prstDash val="solid"/>
          </a:ln>
        </p:spPr>
      </p:sp>
      <p:sp>
        <p:nvSpPr>
          <p:cNvPr id="20" name="Shape 17"/>
          <p:cNvSpPr/>
          <p:nvPr/>
        </p:nvSpPr>
        <p:spPr>
          <a:xfrm>
            <a:off x="4024503" y="3236976"/>
            <a:ext cx="128016" cy="128016"/>
          </a:xfrm>
          <a:prstGeom prst="ellipse">
            <a:avLst/>
          </a:prstGeom>
          <a:solidFill>
            <a:srgbClr val="D97706"/>
          </a:solidFill>
          <a:ln/>
        </p:spPr>
      </p:sp>
      <p:sp>
        <p:nvSpPr>
          <p:cNvPr id="21" name="Text 18"/>
          <p:cNvSpPr/>
          <p:nvPr/>
        </p:nvSpPr>
        <p:spPr>
          <a:xfrm>
            <a:off x="3448431" y="3456432"/>
            <a:ext cx="1280160"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Missing or incompatible data</a:t>
            </a:r>
            <a:endParaRPr lang="en-US" sz="1050" dirty="0"/>
          </a:p>
        </p:txBody>
      </p:sp>
      <p:sp>
        <p:nvSpPr>
          <p:cNvPr id="22" name="Text 19"/>
          <p:cNvSpPr/>
          <p:nvPr/>
        </p:nvSpPr>
        <p:spPr>
          <a:xfrm>
            <a:off x="4652010" y="2377440"/>
            <a:ext cx="1547622" cy="548640"/>
          </a:xfrm>
          <a:prstGeom prst="chevron">
            <a:avLst/>
          </a:prstGeom>
          <a:solidFill>
            <a:srgbClr val="EFECF4"/>
          </a:solidFill>
          <a:ln/>
        </p:spPr>
        <p:txBody>
          <a:bodyPr wrap="square" lIns="0" tIns="0" rIns="0" bIns="0" rtlCol="0" anchor="ctr"/>
          <a:lstStyle/>
          <a:p>
            <a:pPr algn="ctr" indent="0" marL="0">
              <a:buNone/>
            </a:pPr>
            <a:r>
              <a:rPr lang="en-US" sz="1250" b="1" dirty="0">
                <a:solidFill>
                  <a:srgbClr val="111111"/>
                </a:solidFill>
                <a:latin typeface="Aptos" pitchFamily="34" charset="0"/>
                <a:ea typeface="Aptos" pitchFamily="34" charset="-122"/>
                <a:cs typeface="Aptos" pitchFamily="34" charset="-120"/>
              </a:rPr>
              <a:t>Test</a:t>
            </a:r>
            <a:endParaRPr lang="en-US" sz="1250" dirty="0"/>
          </a:p>
        </p:txBody>
      </p:sp>
      <p:sp>
        <p:nvSpPr>
          <p:cNvPr id="23" name="Shape 20"/>
          <p:cNvSpPr/>
          <p:nvPr/>
        </p:nvSpPr>
        <p:spPr>
          <a:xfrm>
            <a:off x="5425821" y="3017520"/>
            <a:ext cx="0" cy="219456"/>
          </a:xfrm>
          <a:prstGeom prst="line">
            <a:avLst/>
          </a:prstGeom>
          <a:noFill/>
          <a:ln w="12700">
            <a:solidFill>
              <a:srgbClr val="D8D4E0"/>
            </a:solidFill>
            <a:prstDash val="solid"/>
          </a:ln>
        </p:spPr>
      </p:sp>
      <p:sp>
        <p:nvSpPr>
          <p:cNvPr id="24" name="Shape 21"/>
          <p:cNvSpPr/>
          <p:nvPr/>
        </p:nvSpPr>
        <p:spPr>
          <a:xfrm>
            <a:off x="5361813" y="3236976"/>
            <a:ext cx="128016" cy="128016"/>
          </a:xfrm>
          <a:prstGeom prst="ellipse">
            <a:avLst/>
          </a:prstGeom>
          <a:solidFill>
            <a:srgbClr val="D97706"/>
          </a:solidFill>
          <a:ln/>
        </p:spPr>
      </p:sp>
      <p:sp>
        <p:nvSpPr>
          <p:cNvPr id="25" name="Text 22"/>
          <p:cNvSpPr/>
          <p:nvPr/>
        </p:nvSpPr>
        <p:spPr>
          <a:xfrm>
            <a:off x="4785741" y="3456432"/>
            <a:ext cx="1280160"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Workflow &amp; notification effects</a:t>
            </a:r>
            <a:endParaRPr lang="en-US" sz="1050" dirty="0"/>
          </a:p>
        </p:txBody>
      </p:sp>
      <p:sp>
        <p:nvSpPr>
          <p:cNvPr id="26" name="Text 23"/>
          <p:cNvSpPr/>
          <p:nvPr/>
        </p:nvSpPr>
        <p:spPr>
          <a:xfrm>
            <a:off x="5989320" y="2377440"/>
            <a:ext cx="1547622" cy="548640"/>
          </a:xfrm>
          <a:prstGeom prst="chevron">
            <a:avLst/>
          </a:prstGeom>
          <a:solidFill>
            <a:srgbClr val="EFECF4"/>
          </a:solidFill>
          <a:ln/>
        </p:spPr>
        <p:txBody>
          <a:bodyPr wrap="square" lIns="0" tIns="0" rIns="0" bIns="0" rtlCol="0" anchor="ctr"/>
          <a:lstStyle/>
          <a:p>
            <a:pPr algn="ctr" indent="0" marL="0">
              <a:buNone/>
            </a:pPr>
            <a:r>
              <a:rPr lang="en-US" sz="1250" b="1" dirty="0">
                <a:solidFill>
                  <a:srgbClr val="111111"/>
                </a:solidFill>
                <a:latin typeface="Aptos" pitchFamily="34" charset="0"/>
                <a:ea typeface="Aptos" pitchFamily="34" charset="-122"/>
                <a:cs typeface="Aptos" pitchFamily="34" charset="-120"/>
              </a:rPr>
              <a:t>Migrate</a:t>
            </a:r>
            <a:endParaRPr lang="en-US" sz="1250" dirty="0"/>
          </a:p>
        </p:txBody>
      </p:sp>
      <p:sp>
        <p:nvSpPr>
          <p:cNvPr id="27" name="Shape 24"/>
          <p:cNvSpPr/>
          <p:nvPr/>
        </p:nvSpPr>
        <p:spPr>
          <a:xfrm>
            <a:off x="6763131" y="3017520"/>
            <a:ext cx="0" cy="219456"/>
          </a:xfrm>
          <a:prstGeom prst="line">
            <a:avLst/>
          </a:prstGeom>
          <a:noFill/>
          <a:ln w="12700">
            <a:solidFill>
              <a:srgbClr val="D8D4E0"/>
            </a:solidFill>
            <a:prstDash val="solid"/>
          </a:ln>
        </p:spPr>
      </p:sp>
      <p:sp>
        <p:nvSpPr>
          <p:cNvPr id="28" name="Shape 25"/>
          <p:cNvSpPr/>
          <p:nvPr/>
        </p:nvSpPr>
        <p:spPr>
          <a:xfrm>
            <a:off x="6699123" y="3236976"/>
            <a:ext cx="128016" cy="128016"/>
          </a:xfrm>
          <a:prstGeom prst="ellipse">
            <a:avLst/>
          </a:prstGeom>
          <a:solidFill>
            <a:srgbClr val="D97706"/>
          </a:solidFill>
          <a:ln/>
        </p:spPr>
      </p:sp>
      <p:sp>
        <p:nvSpPr>
          <p:cNvPr id="29" name="Text 26"/>
          <p:cNvSpPr/>
          <p:nvPr/>
        </p:nvSpPr>
        <p:spPr>
          <a:xfrm>
            <a:off x="6123051" y="3456432"/>
            <a:ext cx="1280160"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API &amp; rate-limit constraints</a:t>
            </a:r>
            <a:endParaRPr lang="en-US" sz="1050" dirty="0"/>
          </a:p>
        </p:txBody>
      </p:sp>
      <p:sp>
        <p:nvSpPr>
          <p:cNvPr id="30" name="Text 27"/>
          <p:cNvSpPr/>
          <p:nvPr/>
        </p:nvSpPr>
        <p:spPr>
          <a:xfrm>
            <a:off x="7326630" y="2377440"/>
            <a:ext cx="1547622" cy="548640"/>
          </a:xfrm>
          <a:prstGeom prst="chevron">
            <a:avLst/>
          </a:prstGeom>
          <a:solidFill>
            <a:srgbClr val="EFECF4"/>
          </a:solidFill>
          <a:ln/>
        </p:spPr>
        <p:txBody>
          <a:bodyPr wrap="square" lIns="0" tIns="0" rIns="0" bIns="0" rtlCol="0" anchor="ctr"/>
          <a:lstStyle/>
          <a:p>
            <a:pPr algn="ctr" indent="0" marL="0">
              <a:buNone/>
            </a:pPr>
            <a:r>
              <a:rPr lang="en-US" sz="1250" b="1" dirty="0">
                <a:solidFill>
                  <a:srgbClr val="111111"/>
                </a:solidFill>
                <a:latin typeface="Aptos" pitchFamily="34" charset="0"/>
                <a:ea typeface="Aptos" pitchFamily="34" charset="-122"/>
                <a:cs typeface="Aptos" pitchFamily="34" charset="-120"/>
              </a:rPr>
              <a:t>Validate</a:t>
            </a:r>
            <a:endParaRPr lang="en-US" sz="1250" dirty="0"/>
          </a:p>
        </p:txBody>
      </p:sp>
      <p:sp>
        <p:nvSpPr>
          <p:cNvPr id="31" name="Shape 28"/>
          <p:cNvSpPr/>
          <p:nvPr/>
        </p:nvSpPr>
        <p:spPr>
          <a:xfrm>
            <a:off x="8100441" y="3017520"/>
            <a:ext cx="0" cy="219456"/>
          </a:xfrm>
          <a:prstGeom prst="line">
            <a:avLst/>
          </a:prstGeom>
          <a:noFill/>
          <a:ln w="12700">
            <a:solidFill>
              <a:srgbClr val="D8D4E0"/>
            </a:solidFill>
            <a:prstDash val="solid"/>
          </a:ln>
        </p:spPr>
      </p:sp>
      <p:sp>
        <p:nvSpPr>
          <p:cNvPr id="32" name="Shape 29"/>
          <p:cNvSpPr/>
          <p:nvPr/>
        </p:nvSpPr>
        <p:spPr>
          <a:xfrm>
            <a:off x="8036433" y="3236976"/>
            <a:ext cx="128016" cy="128016"/>
          </a:xfrm>
          <a:prstGeom prst="ellipse">
            <a:avLst/>
          </a:prstGeom>
          <a:solidFill>
            <a:srgbClr val="D97706"/>
          </a:solidFill>
          <a:ln/>
        </p:spPr>
      </p:sp>
      <p:sp>
        <p:nvSpPr>
          <p:cNvPr id="33" name="Text 30"/>
          <p:cNvSpPr/>
          <p:nvPr/>
        </p:nvSpPr>
        <p:spPr>
          <a:xfrm>
            <a:off x="7460361" y="3456432"/>
            <a:ext cx="1280160"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Manual validation &amp; reconciliation</a:t>
            </a:r>
            <a:endParaRPr lang="en-US" sz="1050" dirty="0"/>
          </a:p>
        </p:txBody>
      </p:sp>
      <p:sp>
        <p:nvSpPr>
          <p:cNvPr id="34" name="Text 31"/>
          <p:cNvSpPr/>
          <p:nvPr/>
        </p:nvSpPr>
        <p:spPr>
          <a:xfrm>
            <a:off x="8663940" y="2377440"/>
            <a:ext cx="1547622" cy="548640"/>
          </a:xfrm>
          <a:prstGeom prst="chevron">
            <a:avLst/>
          </a:prstGeom>
          <a:solidFill>
            <a:srgbClr val="EFECF4"/>
          </a:solidFill>
          <a:ln/>
        </p:spPr>
        <p:txBody>
          <a:bodyPr wrap="square" lIns="0" tIns="0" rIns="0" bIns="0" rtlCol="0" anchor="ctr"/>
          <a:lstStyle/>
          <a:p>
            <a:pPr algn="ctr" indent="0" marL="0">
              <a:buNone/>
            </a:pPr>
            <a:r>
              <a:rPr lang="en-US" sz="1250" b="1" dirty="0">
                <a:solidFill>
                  <a:srgbClr val="111111"/>
                </a:solidFill>
                <a:latin typeface="Aptos" pitchFamily="34" charset="0"/>
                <a:ea typeface="Aptos" pitchFamily="34" charset="-122"/>
                <a:cs typeface="Aptos" pitchFamily="34" charset="-120"/>
              </a:rPr>
              <a:t>Fix</a:t>
            </a:r>
            <a:endParaRPr lang="en-US" sz="1250" dirty="0"/>
          </a:p>
        </p:txBody>
      </p:sp>
      <p:sp>
        <p:nvSpPr>
          <p:cNvPr id="35" name="Shape 32"/>
          <p:cNvSpPr/>
          <p:nvPr/>
        </p:nvSpPr>
        <p:spPr>
          <a:xfrm>
            <a:off x="9437751" y="3017520"/>
            <a:ext cx="0" cy="219456"/>
          </a:xfrm>
          <a:prstGeom prst="line">
            <a:avLst/>
          </a:prstGeom>
          <a:noFill/>
          <a:ln w="12700">
            <a:solidFill>
              <a:srgbClr val="D8D4E0"/>
            </a:solidFill>
            <a:prstDash val="solid"/>
          </a:ln>
        </p:spPr>
      </p:sp>
      <p:sp>
        <p:nvSpPr>
          <p:cNvPr id="36" name="Shape 33"/>
          <p:cNvSpPr/>
          <p:nvPr/>
        </p:nvSpPr>
        <p:spPr>
          <a:xfrm>
            <a:off x="9373743" y="3236976"/>
            <a:ext cx="128016" cy="128016"/>
          </a:xfrm>
          <a:prstGeom prst="ellipse">
            <a:avLst/>
          </a:prstGeom>
          <a:solidFill>
            <a:srgbClr val="D97706"/>
          </a:solidFill>
          <a:ln/>
        </p:spPr>
      </p:sp>
      <p:sp>
        <p:nvSpPr>
          <p:cNvPr id="37" name="Text 34"/>
          <p:cNvSpPr/>
          <p:nvPr/>
        </p:nvSpPr>
        <p:spPr>
          <a:xfrm>
            <a:off x="8797671" y="3456432"/>
            <a:ext cx="1280160"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Failures &amp; retries</a:t>
            </a:r>
            <a:endParaRPr lang="en-US" sz="1050" dirty="0"/>
          </a:p>
        </p:txBody>
      </p:sp>
      <p:sp>
        <p:nvSpPr>
          <p:cNvPr id="38" name="Text 35"/>
          <p:cNvSpPr/>
          <p:nvPr/>
        </p:nvSpPr>
        <p:spPr>
          <a:xfrm>
            <a:off x="10001250" y="2377440"/>
            <a:ext cx="1547622" cy="548640"/>
          </a:xfrm>
          <a:prstGeom prst="chevron">
            <a:avLst/>
          </a:prstGeom>
          <a:solidFill>
            <a:srgbClr val="EFECF4"/>
          </a:solidFill>
          <a:ln/>
        </p:spPr>
        <p:txBody>
          <a:bodyPr wrap="square" lIns="0" tIns="0" rIns="0" bIns="0" rtlCol="0" anchor="ctr"/>
          <a:lstStyle/>
          <a:p>
            <a:pPr algn="ctr" indent="0" marL="0">
              <a:buNone/>
            </a:pPr>
            <a:r>
              <a:rPr lang="en-US" sz="1250" b="1" dirty="0">
                <a:solidFill>
                  <a:srgbClr val="111111"/>
                </a:solidFill>
                <a:latin typeface="Aptos" pitchFamily="34" charset="0"/>
                <a:ea typeface="Aptos" pitchFamily="34" charset="-122"/>
                <a:cs typeface="Aptos" pitchFamily="34" charset="-120"/>
              </a:rPr>
              <a:t>Reconcile</a:t>
            </a:r>
            <a:endParaRPr lang="en-US" sz="1250" dirty="0"/>
          </a:p>
        </p:txBody>
      </p:sp>
      <p:sp>
        <p:nvSpPr>
          <p:cNvPr id="39" name="Shape 36"/>
          <p:cNvSpPr/>
          <p:nvPr/>
        </p:nvSpPr>
        <p:spPr>
          <a:xfrm>
            <a:off x="10775061" y="3017520"/>
            <a:ext cx="0" cy="219456"/>
          </a:xfrm>
          <a:prstGeom prst="line">
            <a:avLst/>
          </a:prstGeom>
          <a:noFill/>
          <a:ln w="12700">
            <a:solidFill>
              <a:srgbClr val="D8D4E0"/>
            </a:solidFill>
            <a:prstDash val="solid"/>
          </a:ln>
        </p:spPr>
      </p:sp>
      <p:sp>
        <p:nvSpPr>
          <p:cNvPr id="40" name="Shape 37"/>
          <p:cNvSpPr/>
          <p:nvPr/>
        </p:nvSpPr>
        <p:spPr>
          <a:xfrm>
            <a:off x="10711053" y="3236976"/>
            <a:ext cx="128016" cy="128016"/>
          </a:xfrm>
          <a:prstGeom prst="ellipse">
            <a:avLst/>
          </a:prstGeom>
          <a:solidFill>
            <a:srgbClr val="D97706"/>
          </a:solidFill>
          <a:ln/>
        </p:spPr>
      </p:sp>
      <p:sp>
        <p:nvSpPr>
          <p:cNvPr id="41" name="Text 38"/>
          <p:cNvSpPr/>
          <p:nvPr/>
        </p:nvSpPr>
        <p:spPr>
          <a:xfrm>
            <a:off x="10134981" y="3456432"/>
            <a:ext cx="1280160"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Historical records &amp; relationships</a:t>
            </a:r>
            <a:endParaRPr lang="en-US" sz="1050" dirty="0"/>
          </a:p>
        </p:txBody>
      </p:sp>
      <p:sp>
        <p:nvSpPr>
          <p:cNvPr id="42" name="Shape 39"/>
          <p:cNvSpPr/>
          <p:nvPr/>
        </p:nvSpPr>
        <p:spPr>
          <a:xfrm>
            <a:off x="640080" y="4315968"/>
            <a:ext cx="10911535" cy="1517904"/>
          </a:xfrm>
          <a:prstGeom prst="roundRect">
            <a:avLst>
              <a:gd name="adj" fmla="val 8434"/>
            </a:avLst>
          </a:prstGeom>
          <a:solidFill>
            <a:srgbClr val="F6F5F8"/>
          </a:solidFill>
          <a:ln/>
        </p:spPr>
      </p:sp>
      <p:sp>
        <p:nvSpPr>
          <p:cNvPr id="43" name="Text 40"/>
          <p:cNvSpPr/>
          <p:nvPr/>
        </p:nvSpPr>
        <p:spPr>
          <a:xfrm>
            <a:off x="960120" y="4654296"/>
            <a:ext cx="1737360" cy="201168"/>
          </a:xfrm>
          <a:prstGeom prst="rect">
            <a:avLst/>
          </a:prstGeom>
          <a:noFill/>
          <a:ln/>
        </p:spPr>
        <p:txBody>
          <a:bodyPr wrap="square" lIns="0" tIns="0" rIns="0" bIns="0" rtlCol="0" anchor="ctr"/>
          <a:lstStyle/>
          <a:p>
            <a:pPr indent="0" marL="0">
              <a:buNone/>
            </a:pPr>
            <a:r>
              <a:rPr lang="en-US" sz="950" b="1" spc="150" kern="0" dirty="0">
                <a:solidFill>
                  <a:srgbClr val="8A8A93"/>
                </a:solidFill>
                <a:latin typeface="Aptos" pitchFamily="34" charset="0"/>
                <a:ea typeface="Aptos" pitchFamily="34" charset="-122"/>
                <a:cs typeface="Aptos" pitchFamily="34" charset="-120"/>
              </a:rPr>
              <a:t>MIGRATION TODAY</a:t>
            </a:r>
            <a:endParaRPr lang="en-US" sz="950" dirty="0"/>
          </a:p>
        </p:txBody>
      </p:sp>
      <p:sp>
        <p:nvSpPr>
          <p:cNvPr id="44" name="Text 41"/>
          <p:cNvSpPr/>
          <p:nvPr/>
        </p:nvSpPr>
        <p:spPr>
          <a:xfrm>
            <a:off x="2788920" y="4526280"/>
            <a:ext cx="1234440" cy="457200"/>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300" dirty="0">
                <a:solidFill>
                  <a:srgbClr val="111111"/>
                </a:solidFill>
                <a:latin typeface="Aptos" pitchFamily="34" charset="0"/>
                <a:ea typeface="Aptos" pitchFamily="34" charset="-122"/>
                <a:cs typeface="Aptos" pitchFamily="34" charset="-120"/>
              </a:rPr>
              <a:t>APIs</a:t>
            </a:r>
            <a:endParaRPr lang="en-US" sz="1300" dirty="0"/>
          </a:p>
        </p:txBody>
      </p:sp>
      <p:sp>
        <p:nvSpPr>
          <p:cNvPr id="45" name="Text 42"/>
          <p:cNvSpPr/>
          <p:nvPr/>
        </p:nvSpPr>
        <p:spPr>
          <a:xfrm>
            <a:off x="4023360" y="4526280"/>
            <a:ext cx="384048" cy="457200"/>
          </a:xfrm>
          <a:prstGeom prst="rect">
            <a:avLst/>
          </a:prstGeom>
          <a:noFill/>
          <a:ln/>
        </p:spPr>
        <p:txBody>
          <a:bodyPr wrap="square" lIns="0" tIns="0" rIns="0" bIns="0" rtlCol="0" anchor="ctr"/>
          <a:lstStyle/>
          <a:p>
            <a:pPr algn="ctr" indent="0" marL="0">
              <a:buNone/>
            </a:pPr>
            <a:r>
              <a:rPr lang="en-US" sz="1600" b="1" dirty="0">
                <a:solidFill>
                  <a:srgbClr val="8A8A93"/>
                </a:solidFill>
                <a:latin typeface="Aptos" pitchFamily="34" charset="0"/>
                <a:ea typeface="Aptos" pitchFamily="34" charset="-122"/>
                <a:cs typeface="Aptos" pitchFamily="34" charset="-120"/>
              </a:rPr>
              <a:t>+</a:t>
            </a:r>
            <a:endParaRPr lang="en-US" sz="1600" dirty="0"/>
          </a:p>
        </p:txBody>
      </p:sp>
      <p:sp>
        <p:nvSpPr>
          <p:cNvPr id="46" name="Text 43"/>
          <p:cNvSpPr/>
          <p:nvPr/>
        </p:nvSpPr>
        <p:spPr>
          <a:xfrm>
            <a:off x="4407408" y="4526280"/>
            <a:ext cx="1417320" cy="457200"/>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300" dirty="0">
                <a:solidFill>
                  <a:srgbClr val="111111"/>
                </a:solidFill>
                <a:latin typeface="Aptos" pitchFamily="34" charset="0"/>
                <a:ea typeface="Aptos" pitchFamily="34" charset="-122"/>
                <a:cs typeface="Aptos" pitchFamily="34" charset="-120"/>
              </a:rPr>
              <a:t>Scripts</a:t>
            </a:r>
            <a:endParaRPr lang="en-US" sz="1300" dirty="0"/>
          </a:p>
        </p:txBody>
      </p:sp>
      <p:sp>
        <p:nvSpPr>
          <p:cNvPr id="47" name="Text 44"/>
          <p:cNvSpPr/>
          <p:nvPr/>
        </p:nvSpPr>
        <p:spPr>
          <a:xfrm>
            <a:off x="5824728" y="4526280"/>
            <a:ext cx="384048" cy="457200"/>
          </a:xfrm>
          <a:prstGeom prst="rect">
            <a:avLst/>
          </a:prstGeom>
          <a:noFill/>
          <a:ln/>
        </p:spPr>
        <p:txBody>
          <a:bodyPr wrap="square" lIns="0" tIns="0" rIns="0" bIns="0" rtlCol="0" anchor="ctr"/>
          <a:lstStyle/>
          <a:p>
            <a:pPr algn="ctr" indent="0" marL="0">
              <a:buNone/>
            </a:pPr>
            <a:r>
              <a:rPr lang="en-US" sz="1600" b="1" dirty="0">
                <a:solidFill>
                  <a:srgbClr val="8A8A93"/>
                </a:solidFill>
                <a:latin typeface="Aptos" pitchFamily="34" charset="0"/>
                <a:ea typeface="Aptos" pitchFamily="34" charset="-122"/>
                <a:cs typeface="Aptos" pitchFamily="34" charset="-120"/>
              </a:rPr>
              <a:t>+</a:t>
            </a:r>
            <a:endParaRPr lang="en-US" sz="1600" dirty="0"/>
          </a:p>
        </p:txBody>
      </p:sp>
      <p:sp>
        <p:nvSpPr>
          <p:cNvPr id="48" name="Text 45"/>
          <p:cNvSpPr/>
          <p:nvPr/>
        </p:nvSpPr>
        <p:spPr>
          <a:xfrm>
            <a:off x="6208776" y="4526280"/>
            <a:ext cx="1691640" cy="457200"/>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300" dirty="0">
                <a:solidFill>
                  <a:srgbClr val="111111"/>
                </a:solidFill>
                <a:latin typeface="Aptos" pitchFamily="34" charset="0"/>
                <a:ea typeface="Aptos" pitchFamily="34" charset="-122"/>
                <a:cs typeface="Aptos" pitchFamily="34" charset="-120"/>
              </a:rPr>
              <a:t>Specialists</a:t>
            </a:r>
            <a:endParaRPr lang="en-US" sz="1300" dirty="0"/>
          </a:p>
        </p:txBody>
      </p:sp>
      <p:sp>
        <p:nvSpPr>
          <p:cNvPr id="49" name="Text 46"/>
          <p:cNvSpPr/>
          <p:nvPr/>
        </p:nvSpPr>
        <p:spPr>
          <a:xfrm>
            <a:off x="7900416" y="4526280"/>
            <a:ext cx="384048" cy="457200"/>
          </a:xfrm>
          <a:prstGeom prst="rect">
            <a:avLst/>
          </a:prstGeom>
          <a:noFill/>
          <a:ln/>
        </p:spPr>
        <p:txBody>
          <a:bodyPr wrap="square" lIns="0" tIns="0" rIns="0" bIns="0" rtlCol="0" anchor="ctr"/>
          <a:lstStyle/>
          <a:p>
            <a:pPr algn="ctr" indent="0" marL="0">
              <a:buNone/>
            </a:pPr>
            <a:r>
              <a:rPr lang="en-US" sz="1600" b="1" dirty="0">
                <a:solidFill>
                  <a:srgbClr val="8A8A93"/>
                </a:solidFill>
                <a:latin typeface="Aptos" pitchFamily="34" charset="0"/>
                <a:ea typeface="Aptos" pitchFamily="34" charset="-122"/>
                <a:cs typeface="Aptos" pitchFamily="34" charset="-120"/>
              </a:rPr>
              <a:t>+</a:t>
            </a:r>
            <a:endParaRPr lang="en-US" sz="1600" dirty="0"/>
          </a:p>
        </p:txBody>
      </p:sp>
      <p:sp>
        <p:nvSpPr>
          <p:cNvPr id="50" name="Text 47"/>
          <p:cNvSpPr/>
          <p:nvPr/>
        </p:nvSpPr>
        <p:spPr>
          <a:xfrm>
            <a:off x="8284464" y="4526280"/>
            <a:ext cx="2651760" cy="457200"/>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300" dirty="0">
                <a:solidFill>
                  <a:srgbClr val="111111"/>
                </a:solidFill>
                <a:latin typeface="Aptos" pitchFamily="34" charset="0"/>
                <a:ea typeface="Aptos" pitchFamily="34" charset="-122"/>
                <a:cs typeface="Aptos" pitchFamily="34" charset="-120"/>
              </a:rPr>
              <a:t>Manual troubleshooting</a:t>
            </a:r>
            <a:endParaRPr lang="en-US" sz="1300" dirty="0"/>
          </a:p>
        </p:txBody>
      </p:sp>
      <p:sp>
        <p:nvSpPr>
          <p:cNvPr id="51" name="Text 48"/>
          <p:cNvSpPr/>
          <p:nvPr/>
        </p:nvSpPr>
        <p:spPr>
          <a:xfrm>
            <a:off x="960120" y="5312664"/>
            <a:ext cx="1737360" cy="201168"/>
          </a:xfrm>
          <a:prstGeom prst="rect">
            <a:avLst/>
          </a:prstGeom>
          <a:noFill/>
          <a:ln/>
        </p:spPr>
        <p:txBody>
          <a:bodyPr wrap="square" lIns="0" tIns="0" rIns="0" bIns="0" rtlCol="0" anchor="ctr"/>
          <a:lstStyle/>
          <a:p>
            <a:pPr indent="0" marL="0">
              <a:buNone/>
            </a:pPr>
            <a:r>
              <a:rPr lang="en-US" sz="950" b="1" spc="150" kern="0" dirty="0">
                <a:solidFill>
                  <a:srgbClr val="9400FF"/>
                </a:solidFill>
                <a:latin typeface="Aptos" pitchFamily="34" charset="0"/>
                <a:ea typeface="Aptos" pitchFamily="34" charset="-122"/>
                <a:cs typeface="Aptos" pitchFamily="34" charset="-120"/>
              </a:rPr>
              <a:t>THE OPPORTUNITY</a:t>
            </a:r>
            <a:endParaRPr lang="en-US" sz="950" dirty="0"/>
          </a:p>
        </p:txBody>
      </p:sp>
      <p:sp>
        <p:nvSpPr>
          <p:cNvPr id="52" name="Text 49"/>
          <p:cNvSpPr/>
          <p:nvPr/>
        </p:nvSpPr>
        <p:spPr>
          <a:xfrm>
            <a:off x="2788920" y="5184648"/>
            <a:ext cx="8147304" cy="457200"/>
          </a:xfrm>
          <a:prstGeom prst="roundRect">
            <a:avLst>
              <a:gd name="adj" fmla="val 50000"/>
            </a:avLst>
          </a:prstGeom>
          <a:solidFill>
            <a:srgbClr val="9400FF"/>
          </a:solidFill>
          <a:ln/>
        </p:spPr>
        <p:txBody>
          <a:bodyPr wrap="square" lIns="0" tIns="0" rIns="0" bIns="0" rtlCol="0" anchor="ctr"/>
          <a:lstStyle/>
          <a:p>
            <a:pPr algn="ctr" indent="0" marL="0">
              <a:buNone/>
            </a:pPr>
            <a:r>
              <a:rPr lang="en-US" sz="1350" b="1" dirty="0">
                <a:solidFill>
                  <a:srgbClr val="FFFFFF"/>
                </a:solidFill>
                <a:latin typeface="Aptos" pitchFamily="34" charset="0"/>
                <a:ea typeface="Aptos" pitchFamily="34" charset="-122"/>
                <a:cs typeface="Aptos" pitchFamily="34" charset="-120"/>
              </a:rPr>
              <a:t>An autonomous agent that manages the workflow</a:t>
            </a:r>
            <a:endParaRPr lang="en-US" sz="1350" dirty="0"/>
          </a:p>
        </p:txBody>
      </p:sp>
      <p:sp>
        <p:nvSpPr>
          <p:cNvPr id="53" name="Text 50"/>
          <p:cNvSpPr/>
          <p:nvPr/>
        </p:nvSpPr>
        <p:spPr>
          <a:xfrm>
            <a:off x="640080" y="6035040"/>
            <a:ext cx="10911535" cy="182880"/>
          </a:xfrm>
          <a:prstGeom prst="rect">
            <a:avLst/>
          </a:prstGeom>
          <a:noFill/>
          <a:ln/>
        </p:spPr>
        <p:txBody>
          <a:bodyPr wrap="square" lIns="0" tIns="0" rIns="0" bIns="0" rtlCol="0" anchor="ctr"/>
          <a:lstStyle/>
          <a:p>
            <a:pPr indent="0" marL="0">
              <a:buNone/>
            </a:pPr>
            <a:r>
              <a:rPr lang="en-US" sz="900" dirty="0">
                <a:solidFill>
                  <a:srgbClr val="8A8A93"/>
                </a:solidFill>
                <a:latin typeface="Aptos" pitchFamily="34" charset="0"/>
                <a:ea typeface="Aptos" pitchFamily="34" charset="-122"/>
                <a:cs typeface="Aptos" pitchFamily="34" charset="-120"/>
              </a:rPr>
              <a:t>Source: Freshservice migration documentation cites rate limits, API flexibility, notifications, workflow execution, attachments and search/analytics delays.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73952"/>
            <a:ext cx="5486400" cy="164592"/>
          </a:xfrm>
          <a:prstGeom prst="rect">
            <a:avLst/>
          </a:prstGeom>
          <a:noFill/>
          <a:ln/>
        </p:spPr>
        <p:txBody>
          <a:bodyPr wrap="square" lIns="0" tIns="0" rIns="0" bIns="0" rtlCol="0" anchor="ctr"/>
          <a:lstStyle/>
          <a:p>
            <a:pPr indent="0" marL="0">
              <a:buNone/>
            </a:pPr>
            <a:r>
              <a:rPr lang="en-US" sz="800" spc="100" kern="0" dirty="0">
                <a:solidFill>
                  <a:srgbClr val="8A8A93"/>
                </a:solidFill>
                <a:latin typeface="Aptos" pitchFamily="34" charset="0"/>
                <a:ea typeface="Aptos" pitchFamily="34" charset="-122"/>
                <a:cs typeface="Aptos" pitchFamily="34" charset="-120"/>
              </a:rPr>
              <a:t>ZEN  ·  AUTONOMOUS ENTERPRISE MIGRATION AGENT</a:t>
            </a:r>
            <a:endParaRPr lang="en-US" sz="800" dirty="0"/>
          </a:p>
        </p:txBody>
      </p:sp>
      <p:sp>
        <p:nvSpPr>
          <p:cNvPr id="3" name="Text 1"/>
          <p:cNvSpPr/>
          <p:nvPr/>
        </p:nvSpPr>
        <p:spPr>
          <a:xfrm>
            <a:off x="11002975" y="6473952"/>
            <a:ext cx="548640" cy="164592"/>
          </a:xfrm>
          <a:prstGeom prst="rect">
            <a:avLst/>
          </a:prstGeom>
          <a:noFill/>
          <a:ln/>
        </p:spPr>
        <p:txBody>
          <a:bodyPr wrap="square" lIns="0" tIns="0" rIns="0" bIns="0" rtlCol="0" anchor="ctr"/>
          <a:lstStyle/>
          <a:p>
            <a:pPr algn="r" indent="0" marL="0">
              <a:buNone/>
            </a:pPr>
            <a:r>
              <a:rPr lang="en-US" sz="800" dirty="0">
                <a:solidFill>
                  <a:srgbClr val="8A8A93"/>
                </a:solidFill>
                <a:latin typeface="Aptos" pitchFamily="34" charset="0"/>
                <a:ea typeface="Aptos" pitchFamily="34" charset="-122"/>
                <a:cs typeface="Aptos" pitchFamily="34" charset="-120"/>
              </a:rPr>
              <a:t>03</a:t>
            </a:r>
            <a:endParaRPr lang="en-US" sz="800" dirty="0"/>
          </a:p>
        </p:txBody>
      </p:sp>
      <p:sp>
        <p:nvSpPr>
          <p:cNvPr id="5" name="Text 2"/>
          <p:cNvSpPr/>
          <p:nvPr/>
        </p:nvSpPr>
        <p:spPr>
          <a:xfrm>
            <a:off x="640080" y="502920"/>
            <a:ext cx="6400800" cy="201168"/>
          </a:xfrm>
          <a:prstGeom prst="rect">
            <a:avLst/>
          </a:prstGeom>
          <a:noFill/>
          <a:ln/>
        </p:spPr>
        <p:txBody>
          <a:bodyPr wrap="square" lIns="0" tIns="0" rIns="0" bIns="0" rtlCol="0" anchor="ctr"/>
          <a:lstStyle/>
          <a:p>
            <a:pPr indent="0" marL="0">
              <a:buNone/>
            </a:pPr>
            <a:r>
              <a:rPr lang="en-US" sz="1050" b="1" spc="200" kern="0" dirty="0">
                <a:solidFill>
                  <a:srgbClr val="9400FF"/>
                </a:solidFill>
                <a:latin typeface="Aptos" pitchFamily="34" charset="0"/>
                <a:ea typeface="Aptos" pitchFamily="34" charset="-122"/>
                <a:cs typeface="Aptos" pitchFamily="34" charset="-120"/>
              </a:rPr>
              <a:t>WHY NOW</a:t>
            </a:r>
            <a:endParaRPr lang="en-US" sz="1050" dirty="0"/>
          </a:p>
        </p:txBody>
      </p:sp>
      <p:sp>
        <p:nvSpPr>
          <p:cNvPr id="6" name="Text 3"/>
          <p:cNvSpPr/>
          <p:nvPr/>
        </p:nvSpPr>
        <p:spPr>
          <a:xfrm>
            <a:off x="640080" y="768096"/>
            <a:ext cx="10911535" cy="603504"/>
          </a:xfrm>
          <a:prstGeom prst="rect">
            <a:avLst/>
          </a:prstGeom>
          <a:noFill/>
          <a:ln/>
        </p:spPr>
        <p:txBody>
          <a:bodyPr wrap="square" lIns="0" tIns="0" rIns="0" bIns="0" rtlCol="0" anchor="ctr"/>
          <a:lstStyle/>
          <a:p>
            <a:pPr indent="0" marL="0">
              <a:buNone/>
            </a:pPr>
            <a:r>
              <a:rPr lang="en-US" sz="2800" b="1" dirty="0">
                <a:solidFill>
                  <a:srgbClr val="111111"/>
                </a:solidFill>
                <a:latin typeface="Aptos Display" pitchFamily="34" charset="0"/>
                <a:ea typeface="Aptos Display" pitchFamily="34" charset="-122"/>
                <a:cs typeface="Aptos Display" pitchFamily="34" charset="-120"/>
              </a:rPr>
              <a:t>The technology is ready for agentic migration</a:t>
            </a:r>
            <a:endParaRPr lang="en-US" sz="2800" dirty="0"/>
          </a:p>
        </p:txBody>
      </p:sp>
      <p:sp>
        <p:nvSpPr>
          <p:cNvPr id="7" name="Text 4"/>
          <p:cNvSpPr/>
          <p:nvPr/>
        </p:nvSpPr>
        <p:spPr>
          <a:xfrm>
            <a:off x="640080" y="1737360"/>
            <a:ext cx="914400" cy="475488"/>
          </a:xfrm>
          <a:prstGeom prst="rect">
            <a:avLst/>
          </a:prstGeom>
          <a:noFill/>
          <a:ln/>
        </p:spPr>
        <p:txBody>
          <a:bodyPr wrap="square" lIns="0" tIns="0" rIns="0" bIns="0" rtlCol="0" anchor="ctr"/>
          <a:lstStyle/>
          <a:p>
            <a:pPr indent="0" marL="0">
              <a:buNone/>
            </a:pPr>
            <a:r>
              <a:rPr lang="en-US" sz="2800" b="1" dirty="0">
                <a:solidFill>
                  <a:srgbClr val="9400FF"/>
                </a:solidFill>
                <a:latin typeface="Aptos Display" pitchFamily="34" charset="0"/>
                <a:ea typeface="Aptos Display" pitchFamily="34" charset="-122"/>
                <a:cs typeface="Aptos Display" pitchFamily="34" charset="-120"/>
              </a:rPr>
              <a:t>01</a:t>
            </a:r>
            <a:endParaRPr lang="en-US" sz="2800" dirty="0"/>
          </a:p>
        </p:txBody>
      </p:sp>
      <p:sp>
        <p:nvSpPr>
          <p:cNvPr id="8" name="Shape 5"/>
          <p:cNvSpPr/>
          <p:nvPr/>
        </p:nvSpPr>
        <p:spPr>
          <a:xfrm>
            <a:off x="640080" y="2331720"/>
            <a:ext cx="2514600" cy="0"/>
          </a:xfrm>
          <a:prstGeom prst="line">
            <a:avLst/>
          </a:prstGeom>
          <a:noFill/>
          <a:ln w="12700">
            <a:solidFill>
              <a:srgbClr val="E7E5EC"/>
            </a:solidFill>
            <a:prstDash val="solid"/>
          </a:ln>
        </p:spPr>
      </p:sp>
      <p:sp>
        <p:nvSpPr>
          <p:cNvPr id="9" name="Text 6"/>
          <p:cNvSpPr/>
          <p:nvPr/>
        </p:nvSpPr>
        <p:spPr>
          <a:xfrm>
            <a:off x="640080" y="2487168"/>
            <a:ext cx="2514600" cy="566928"/>
          </a:xfrm>
          <a:prstGeom prst="rect">
            <a:avLst/>
          </a:prstGeom>
          <a:noFill/>
          <a:ln/>
        </p:spPr>
        <p:txBody>
          <a:bodyPr wrap="square" lIns="0" tIns="0" rIns="0" bIns="0" rtlCol="0" anchor="t"/>
          <a:lstStyle/>
          <a:p>
            <a:pPr indent="0" marL="0">
              <a:buNone/>
            </a:pPr>
            <a:r>
              <a:rPr lang="en-US" sz="1650" b="1" dirty="0">
                <a:solidFill>
                  <a:srgbClr val="111111"/>
                </a:solidFill>
                <a:latin typeface="Aptos" pitchFamily="34" charset="0"/>
                <a:ea typeface="Aptos" pitchFamily="34" charset="-122"/>
                <a:cs typeface="Aptos" pitchFamily="34" charset="-120"/>
              </a:rPr>
              <a:t>Migration is still</a:t>
            </a:r>
            <a:endParaRPr lang="en-US" sz="1650" dirty="0"/>
          </a:p>
          <a:p>
            <a:pPr indent="0" marL="0">
              <a:buNone/>
            </a:pPr>
            <a:r>
              <a:rPr lang="en-US" sz="1650" b="1" dirty="0">
                <a:solidFill>
                  <a:srgbClr val="111111"/>
                </a:solidFill>
                <a:latin typeface="Aptos" pitchFamily="34" charset="0"/>
                <a:ea typeface="Aptos" pitchFamily="34" charset="-122"/>
                <a:cs typeface="Aptos" pitchFamily="34" charset="-120"/>
              </a:rPr>
              <a:t>high-touch</a:t>
            </a:r>
            <a:endParaRPr lang="en-US" sz="1650" dirty="0"/>
          </a:p>
        </p:txBody>
      </p:sp>
      <p:sp>
        <p:nvSpPr>
          <p:cNvPr id="10" name="Text 7"/>
          <p:cNvSpPr/>
          <p:nvPr/>
        </p:nvSpPr>
        <p:spPr>
          <a:xfrm>
            <a:off x="640080" y="3127248"/>
            <a:ext cx="2468880" cy="512064"/>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Complexity rises with customization and historical data</a:t>
            </a:r>
            <a:endParaRPr lang="en-US" sz="1200" dirty="0"/>
          </a:p>
        </p:txBody>
      </p:sp>
      <p:sp>
        <p:nvSpPr>
          <p:cNvPr id="11" name="Text 8"/>
          <p:cNvSpPr/>
          <p:nvPr/>
        </p:nvSpPr>
        <p:spPr>
          <a:xfrm>
            <a:off x="3438144" y="1737360"/>
            <a:ext cx="914400" cy="475488"/>
          </a:xfrm>
          <a:prstGeom prst="rect">
            <a:avLst/>
          </a:prstGeom>
          <a:noFill/>
          <a:ln/>
        </p:spPr>
        <p:txBody>
          <a:bodyPr wrap="square" lIns="0" tIns="0" rIns="0" bIns="0" rtlCol="0" anchor="ctr"/>
          <a:lstStyle/>
          <a:p>
            <a:pPr indent="0" marL="0">
              <a:buNone/>
            </a:pPr>
            <a:r>
              <a:rPr lang="en-US" sz="2800" b="1" dirty="0">
                <a:solidFill>
                  <a:srgbClr val="9400FF"/>
                </a:solidFill>
                <a:latin typeface="Aptos Display" pitchFamily="34" charset="0"/>
                <a:ea typeface="Aptos Display" pitchFamily="34" charset="-122"/>
                <a:cs typeface="Aptos Display" pitchFamily="34" charset="-120"/>
              </a:rPr>
              <a:t>02</a:t>
            </a:r>
            <a:endParaRPr lang="en-US" sz="2800" dirty="0"/>
          </a:p>
        </p:txBody>
      </p:sp>
      <p:sp>
        <p:nvSpPr>
          <p:cNvPr id="12" name="Shape 9"/>
          <p:cNvSpPr/>
          <p:nvPr/>
        </p:nvSpPr>
        <p:spPr>
          <a:xfrm>
            <a:off x="3438144" y="2331720"/>
            <a:ext cx="2514600" cy="0"/>
          </a:xfrm>
          <a:prstGeom prst="line">
            <a:avLst/>
          </a:prstGeom>
          <a:noFill/>
          <a:ln w="12700">
            <a:solidFill>
              <a:srgbClr val="E7E5EC"/>
            </a:solidFill>
            <a:prstDash val="solid"/>
          </a:ln>
        </p:spPr>
      </p:sp>
      <p:sp>
        <p:nvSpPr>
          <p:cNvPr id="13" name="Text 10"/>
          <p:cNvSpPr/>
          <p:nvPr/>
        </p:nvSpPr>
        <p:spPr>
          <a:xfrm>
            <a:off x="3438144" y="2487168"/>
            <a:ext cx="2514600" cy="566928"/>
          </a:xfrm>
          <a:prstGeom prst="rect">
            <a:avLst/>
          </a:prstGeom>
          <a:noFill/>
          <a:ln/>
        </p:spPr>
        <p:txBody>
          <a:bodyPr wrap="square" lIns="0" tIns="0" rIns="0" bIns="0" rtlCol="0" anchor="t"/>
          <a:lstStyle/>
          <a:p>
            <a:pPr indent="0" marL="0">
              <a:buNone/>
            </a:pPr>
            <a:r>
              <a:rPr lang="en-US" sz="1650" b="1" dirty="0">
                <a:solidFill>
                  <a:srgbClr val="111111"/>
                </a:solidFill>
                <a:latin typeface="Aptos" pitchFamily="34" charset="0"/>
                <a:ea typeface="Aptos" pitchFamily="34" charset="-122"/>
                <a:cs typeface="Aptos" pitchFamily="34" charset="-120"/>
              </a:rPr>
              <a:t>The integration</a:t>
            </a:r>
            <a:endParaRPr lang="en-US" sz="1650" dirty="0"/>
          </a:p>
          <a:p>
            <a:pPr indent="0" marL="0">
              <a:buNone/>
            </a:pPr>
            <a:r>
              <a:rPr lang="en-US" sz="1650" b="1" dirty="0">
                <a:solidFill>
                  <a:srgbClr val="111111"/>
                </a:solidFill>
                <a:latin typeface="Aptos" pitchFamily="34" charset="0"/>
                <a:ea typeface="Aptos" pitchFamily="34" charset="-122"/>
                <a:cs typeface="Aptos" pitchFamily="34" charset="-120"/>
              </a:rPr>
              <a:t>layer exists</a:t>
            </a:r>
            <a:endParaRPr lang="en-US" sz="1650" dirty="0"/>
          </a:p>
        </p:txBody>
      </p:sp>
      <p:sp>
        <p:nvSpPr>
          <p:cNvPr id="14" name="Text 11"/>
          <p:cNvSpPr/>
          <p:nvPr/>
        </p:nvSpPr>
        <p:spPr>
          <a:xfrm>
            <a:off x="3438144" y="3127248"/>
            <a:ext cx="2468880" cy="512064"/>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Freshservice REST API v2 +</a:t>
            </a:r>
            <a:endParaRPr lang="en-US" sz="1200" dirty="0"/>
          </a:p>
          <a:p>
            <a:pPr indent="0" marL="0">
              <a:buNone/>
            </a:pPr>
            <a:r>
              <a:rPr lang="en-US" sz="1200" dirty="0">
                <a:solidFill>
                  <a:srgbClr val="5F5F66"/>
                </a:solidFill>
                <a:latin typeface="Aptos" pitchFamily="34" charset="0"/>
                <a:ea typeface="Aptos" pitchFamily="34" charset="-122"/>
                <a:cs typeface="Aptos" pitchFamily="34" charset="-120"/>
              </a:rPr>
              <a:t>Product MCP, with Claude support</a:t>
            </a:r>
            <a:endParaRPr lang="en-US" sz="1200" dirty="0"/>
          </a:p>
        </p:txBody>
      </p:sp>
      <p:sp>
        <p:nvSpPr>
          <p:cNvPr id="15" name="Text 12"/>
          <p:cNvSpPr/>
          <p:nvPr/>
        </p:nvSpPr>
        <p:spPr>
          <a:xfrm>
            <a:off x="6236208" y="1737360"/>
            <a:ext cx="914400" cy="475488"/>
          </a:xfrm>
          <a:prstGeom prst="rect">
            <a:avLst/>
          </a:prstGeom>
          <a:noFill/>
          <a:ln/>
        </p:spPr>
        <p:txBody>
          <a:bodyPr wrap="square" lIns="0" tIns="0" rIns="0" bIns="0" rtlCol="0" anchor="ctr"/>
          <a:lstStyle/>
          <a:p>
            <a:pPr indent="0" marL="0">
              <a:buNone/>
            </a:pPr>
            <a:r>
              <a:rPr lang="en-US" sz="2800" b="1" dirty="0">
                <a:solidFill>
                  <a:srgbClr val="9400FF"/>
                </a:solidFill>
                <a:latin typeface="Aptos Display" pitchFamily="34" charset="0"/>
                <a:ea typeface="Aptos Display" pitchFamily="34" charset="-122"/>
                <a:cs typeface="Aptos Display" pitchFamily="34" charset="-120"/>
              </a:rPr>
              <a:t>03</a:t>
            </a:r>
            <a:endParaRPr lang="en-US" sz="2800" dirty="0"/>
          </a:p>
        </p:txBody>
      </p:sp>
      <p:sp>
        <p:nvSpPr>
          <p:cNvPr id="16" name="Shape 13"/>
          <p:cNvSpPr/>
          <p:nvPr/>
        </p:nvSpPr>
        <p:spPr>
          <a:xfrm>
            <a:off x="6236208" y="2331720"/>
            <a:ext cx="2514600" cy="0"/>
          </a:xfrm>
          <a:prstGeom prst="line">
            <a:avLst/>
          </a:prstGeom>
          <a:noFill/>
          <a:ln w="12700">
            <a:solidFill>
              <a:srgbClr val="E7E5EC"/>
            </a:solidFill>
            <a:prstDash val="solid"/>
          </a:ln>
        </p:spPr>
      </p:sp>
      <p:sp>
        <p:nvSpPr>
          <p:cNvPr id="17" name="Text 14"/>
          <p:cNvSpPr/>
          <p:nvPr/>
        </p:nvSpPr>
        <p:spPr>
          <a:xfrm>
            <a:off x="6236208" y="2487168"/>
            <a:ext cx="2514600" cy="566928"/>
          </a:xfrm>
          <a:prstGeom prst="rect">
            <a:avLst/>
          </a:prstGeom>
          <a:noFill/>
          <a:ln/>
        </p:spPr>
        <p:txBody>
          <a:bodyPr wrap="square" lIns="0" tIns="0" rIns="0" bIns="0" rtlCol="0" anchor="t"/>
          <a:lstStyle/>
          <a:p>
            <a:pPr indent="0" marL="0">
              <a:buNone/>
            </a:pPr>
            <a:r>
              <a:rPr lang="en-US" sz="1650" b="1" dirty="0">
                <a:solidFill>
                  <a:srgbClr val="111111"/>
                </a:solidFill>
                <a:latin typeface="Aptos" pitchFamily="34" charset="0"/>
                <a:ea typeface="Aptos" pitchFamily="34" charset="-122"/>
                <a:cs typeface="Aptos" pitchFamily="34" charset="-120"/>
              </a:rPr>
              <a:t>Confidence is</a:t>
            </a:r>
            <a:endParaRPr lang="en-US" sz="1650" dirty="0"/>
          </a:p>
          <a:p>
            <a:pPr indent="0" marL="0">
              <a:buNone/>
            </a:pPr>
            <a:r>
              <a:rPr lang="en-US" sz="1650" b="1" dirty="0">
                <a:solidFill>
                  <a:srgbClr val="111111"/>
                </a:solidFill>
                <a:latin typeface="Aptos" pitchFamily="34" charset="0"/>
                <a:ea typeface="Aptos" pitchFamily="34" charset="-122"/>
                <a:cs typeface="Aptos" pitchFamily="34" charset="-120"/>
              </a:rPr>
              <a:t>the benchmark</a:t>
            </a:r>
            <a:endParaRPr lang="en-US" sz="1650" dirty="0"/>
          </a:p>
        </p:txBody>
      </p:sp>
      <p:sp>
        <p:nvSpPr>
          <p:cNvPr id="18" name="Text 15"/>
          <p:cNvSpPr/>
          <p:nvPr/>
        </p:nvSpPr>
        <p:spPr>
          <a:xfrm>
            <a:off x="6236208" y="3127248"/>
            <a:ext cx="2468880" cy="512064"/>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Vendors lead with mapping, test runs, validation and delta migration</a:t>
            </a:r>
            <a:endParaRPr lang="en-US" sz="1200" dirty="0"/>
          </a:p>
        </p:txBody>
      </p:sp>
      <p:sp>
        <p:nvSpPr>
          <p:cNvPr id="19" name="Text 16"/>
          <p:cNvSpPr/>
          <p:nvPr/>
        </p:nvSpPr>
        <p:spPr>
          <a:xfrm>
            <a:off x="9034272" y="1737360"/>
            <a:ext cx="914400" cy="475488"/>
          </a:xfrm>
          <a:prstGeom prst="rect">
            <a:avLst/>
          </a:prstGeom>
          <a:noFill/>
          <a:ln/>
        </p:spPr>
        <p:txBody>
          <a:bodyPr wrap="square" lIns="0" tIns="0" rIns="0" bIns="0" rtlCol="0" anchor="ctr"/>
          <a:lstStyle/>
          <a:p>
            <a:pPr indent="0" marL="0">
              <a:buNone/>
            </a:pPr>
            <a:r>
              <a:rPr lang="en-US" sz="2800" b="1" dirty="0">
                <a:solidFill>
                  <a:srgbClr val="9400FF"/>
                </a:solidFill>
                <a:latin typeface="Aptos Display" pitchFamily="34" charset="0"/>
                <a:ea typeface="Aptos Display" pitchFamily="34" charset="-122"/>
                <a:cs typeface="Aptos Display" pitchFamily="34" charset="-120"/>
              </a:rPr>
              <a:t>04</a:t>
            </a:r>
            <a:endParaRPr lang="en-US" sz="2800" dirty="0"/>
          </a:p>
        </p:txBody>
      </p:sp>
      <p:sp>
        <p:nvSpPr>
          <p:cNvPr id="20" name="Shape 17"/>
          <p:cNvSpPr/>
          <p:nvPr/>
        </p:nvSpPr>
        <p:spPr>
          <a:xfrm>
            <a:off x="9034272" y="2331720"/>
            <a:ext cx="2514600" cy="0"/>
          </a:xfrm>
          <a:prstGeom prst="line">
            <a:avLst/>
          </a:prstGeom>
          <a:noFill/>
          <a:ln w="12700">
            <a:solidFill>
              <a:srgbClr val="E7E5EC"/>
            </a:solidFill>
            <a:prstDash val="solid"/>
          </a:ln>
        </p:spPr>
      </p:sp>
      <p:sp>
        <p:nvSpPr>
          <p:cNvPr id="21" name="Text 18"/>
          <p:cNvSpPr/>
          <p:nvPr/>
        </p:nvSpPr>
        <p:spPr>
          <a:xfrm>
            <a:off x="9034272" y="2487168"/>
            <a:ext cx="2514600" cy="566928"/>
          </a:xfrm>
          <a:prstGeom prst="rect">
            <a:avLst/>
          </a:prstGeom>
          <a:noFill/>
          <a:ln/>
        </p:spPr>
        <p:txBody>
          <a:bodyPr wrap="square" lIns="0" tIns="0" rIns="0" bIns="0" rtlCol="0" anchor="t"/>
          <a:lstStyle/>
          <a:p>
            <a:pPr indent="0" marL="0">
              <a:buNone/>
            </a:pPr>
            <a:r>
              <a:rPr lang="en-US" sz="1650" b="1" dirty="0">
                <a:solidFill>
                  <a:srgbClr val="111111"/>
                </a:solidFill>
                <a:latin typeface="Aptos" pitchFamily="34" charset="0"/>
                <a:ea typeface="Aptos" pitchFamily="34" charset="-122"/>
                <a:cs typeface="Aptos" pitchFamily="34" charset="-120"/>
              </a:rPr>
              <a:t>AI changes the</a:t>
            </a:r>
            <a:endParaRPr lang="en-US" sz="1650" dirty="0"/>
          </a:p>
          <a:p>
            <a:pPr indent="0" marL="0">
              <a:buNone/>
            </a:pPr>
            <a:r>
              <a:rPr lang="en-US" sz="1650" b="1" dirty="0">
                <a:solidFill>
                  <a:srgbClr val="111111"/>
                </a:solidFill>
                <a:latin typeface="Aptos" pitchFamily="34" charset="0"/>
                <a:ea typeface="Aptos" pitchFamily="34" charset="-122"/>
                <a:cs typeface="Aptos" pitchFamily="34" charset="-120"/>
              </a:rPr>
              <a:t>operating model</a:t>
            </a:r>
            <a:endParaRPr lang="en-US" sz="1650" dirty="0"/>
          </a:p>
        </p:txBody>
      </p:sp>
      <p:sp>
        <p:nvSpPr>
          <p:cNvPr id="22" name="Text 19"/>
          <p:cNvSpPr/>
          <p:nvPr/>
        </p:nvSpPr>
        <p:spPr>
          <a:xfrm>
            <a:off x="9034272" y="3127248"/>
            <a:ext cx="2468880" cy="512064"/>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From scripted steps to goal-driven agents</a:t>
            </a:r>
            <a:endParaRPr lang="en-US" sz="1200" dirty="0"/>
          </a:p>
        </p:txBody>
      </p:sp>
      <p:sp>
        <p:nvSpPr>
          <p:cNvPr id="23" name="Shape 20"/>
          <p:cNvSpPr/>
          <p:nvPr/>
        </p:nvSpPr>
        <p:spPr>
          <a:xfrm>
            <a:off x="640080" y="3931920"/>
            <a:ext cx="10911535" cy="0"/>
          </a:xfrm>
          <a:prstGeom prst="line">
            <a:avLst/>
          </a:prstGeom>
          <a:noFill/>
          <a:ln w="9525">
            <a:solidFill>
              <a:srgbClr val="E7E5EC"/>
            </a:solidFill>
            <a:prstDash val="solid"/>
          </a:ln>
        </p:spPr>
      </p:sp>
      <p:sp>
        <p:nvSpPr>
          <p:cNvPr id="24" name="Text 21"/>
          <p:cNvSpPr/>
          <p:nvPr/>
        </p:nvSpPr>
        <p:spPr>
          <a:xfrm>
            <a:off x="640080" y="4425696"/>
            <a:ext cx="1463040" cy="201168"/>
          </a:xfrm>
          <a:prstGeom prst="rect">
            <a:avLst/>
          </a:prstGeom>
          <a:noFill/>
          <a:ln/>
        </p:spPr>
        <p:txBody>
          <a:bodyPr wrap="square" lIns="0" tIns="0" rIns="0" bIns="0" rtlCol="0" anchor="ctr"/>
          <a:lstStyle/>
          <a:p>
            <a:pPr indent="0" marL="0">
              <a:buNone/>
            </a:pPr>
            <a:r>
              <a:rPr lang="en-US" sz="950" b="1" spc="150" kern="0" dirty="0">
                <a:solidFill>
                  <a:srgbClr val="8A8A93"/>
                </a:solidFill>
                <a:latin typeface="Aptos" pitchFamily="34" charset="0"/>
                <a:ea typeface="Aptos" pitchFamily="34" charset="-122"/>
                <a:cs typeface="Aptos" pitchFamily="34" charset="-120"/>
              </a:rPr>
              <a:t>TRADITIONAL</a:t>
            </a:r>
            <a:endParaRPr lang="en-US" sz="950" dirty="0"/>
          </a:p>
        </p:txBody>
      </p:sp>
      <p:sp>
        <p:nvSpPr>
          <p:cNvPr id="25" name="Text 22"/>
          <p:cNvSpPr/>
          <p:nvPr/>
        </p:nvSpPr>
        <p:spPr>
          <a:xfrm>
            <a:off x="640080" y="5120640"/>
            <a:ext cx="1463040" cy="201168"/>
          </a:xfrm>
          <a:prstGeom prst="rect">
            <a:avLst/>
          </a:prstGeom>
          <a:noFill/>
          <a:ln/>
        </p:spPr>
        <p:txBody>
          <a:bodyPr wrap="square" lIns="0" tIns="0" rIns="0" bIns="0" rtlCol="0" anchor="ctr"/>
          <a:lstStyle/>
          <a:p>
            <a:pPr indent="0" marL="0">
              <a:buNone/>
            </a:pPr>
            <a:r>
              <a:rPr lang="en-US" sz="950" b="1" spc="150" kern="0" dirty="0">
                <a:solidFill>
                  <a:srgbClr val="9400FF"/>
                </a:solidFill>
                <a:latin typeface="Aptos" pitchFamily="34" charset="0"/>
                <a:ea typeface="Aptos" pitchFamily="34" charset="-122"/>
                <a:cs typeface="Aptos" pitchFamily="34" charset="-120"/>
              </a:rPr>
              <a:t>AGENTIC</a:t>
            </a:r>
            <a:endParaRPr lang="en-US" sz="950" dirty="0"/>
          </a:p>
        </p:txBody>
      </p:sp>
      <p:sp>
        <p:nvSpPr>
          <p:cNvPr id="26" name="Text 23"/>
          <p:cNvSpPr/>
          <p:nvPr/>
        </p:nvSpPr>
        <p:spPr>
          <a:xfrm>
            <a:off x="2240280" y="4315968"/>
            <a:ext cx="2176664" cy="420624"/>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250" dirty="0">
                <a:solidFill>
                  <a:srgbClr val="5F5F66"/>
                </a:solidFill>
                <a:latin typeface="Aptos" pitchFamily="34" charset="0"/>
                <a:ea typeface="Aptos" pitchFamily="34" charset="-122"/>
                <a:cs typeface="Aptos" pitchFamily="34" charset="-120"/>
              </a:rPr>
              <a:t>API</a:t>
            </a:r>
            <a:endParaRPr lang="en-US" sz="1250" dirty="0"/>
          </a:p>
        </p:txBody>
      </p:sp>
      <p:sp>
        <p:nvSpPr>
          <p:cNvPr id="27" name="Shape 24"/>
          <p:cNvSpPr/>
          <p:nvPr/>
        </p:nvSpPr>
        <p:spPr>
          <a:xfrm>
            <a:off x="4453520" y="4526280"/>
            <a:ext cx="128408" cy="0"/>
          </a:xfrm>
          <a:prstGeom prst="line">
            <a:avLst/>
          </a:prstGeom>
          <a:noFill/>
          <a:ln w="12700">
            <a:solidFill>
              <a:srgbClr val="8A8A93"/>
            </a:solidFill>
            <a:prstDash val="solid"/>
            <a:tailEnd type="triangle"/>
          </a:ln>
        </p:spPr>
      </p:sp>
      <p:sp>
        <p:nvSpPr>
          <p:cNvPr id="28" name="Text 25"/>
          <p:cNvSpPr/>
          <p:nvPr/>
        </p:nvSpPr>
        <p:spPr>
          <a:xfrm>
            <a:off x="4618504" y="4315968"/>
            <a:ext cx="2176664" cy="420624"/>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250" dirty="0">
                <a:solidFill>
                  <a:srgbClr val="5F5F66"/>
                </a:solidFill>
                <a:latin typeface="Aptos" pitchFamily="34" charset="0"/>
                <a:ea typeface="Aptos" pitchFamily="34" charset="-122"/>
                <a:cs typeface="Aptos" pitchFamily="34" charset="-120"/>
              </a:rPr>
              <a:t>Script</a:t>
            </a:r>
            <a:endParaRPr lang="en-US" sz="1250" dirty="0"/>
          </a:p>
        </p:txBody>
      </p:sp>
      <p:sp>
        <p:nvSpPr>
          <p:cNvPr id="29" name="Shape 26"/>
          <p:cNvSpPr/>
          <p:nvPr/>
        </p:nvSpPr>
        <p:spPr>
          <a:xfrm>
            <a:off x="6831744" y="4526280"/>
            <a:ext cx="128408" cy="0"/>
          </a:xfrm>
          <a:prstGeom prst="line">
            <a:avLst/>
          </a:prstGeom>
          <a:noFill/>
          <a:ln w="12700">
            <a:solidFill>
              <a:srgbClr val="8A8A93"/>
            </a:solidFill>
            <a:prstDash val="solid"/>
            <a:tailEnd type="triangle"/>
          </a:ln>
        </p:spPr>
      </p:sp>
      <p:sp>
        <p:nvSpPr>
          <p:cNvPr id="30" name="Text 27"/>
          <p:cNvSpPr/>
          <p:nvPr/>
        </p:nvSpPr>
        <p:spPr>
          <a:xfrm>
            <a:off x="6996728" y="4315968"/>
            <a:ext cx="2176664" cy="420624"/>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250" dirty="0">
                <a:solidFill>
                  <a:srgbClr val="5F5F66"/>
                </a:solidFill>
                <a:latin typeface="Aptos" pitchFamily="34" charset="0"/>
                <a:ea typeface="Aptos" pitchFamily="34" charset="-122"/>
                <a:cs typeface="Aptos" pitchFamily="34" charset="-120"/>
              </a:rPr>
              <a:t>Import</a:t>
            </a:r>
            <a:endParaRPr lang="en-US" sz="1250" dirty="0"/>
          </a:p>
        </p:txBody>
      </p:sp>
      <p:sp>
        <p:nvSpPr>
          <p:cNvPr id="31" name="Shape 28"/>
          <p:cNvSpPr/>
          <p:nvPr/>
        </p:nvSpPr>
        <p:spPr>
          <a:xfrm>
            <a:off x="9209967" y="4526280"/>
            <a:ext cx="128408" cy="0"/>
          </a:xfrm>
          <a:prstGeom prst="line">
            <a:avLst/>
          </a:prstGeom>
          <a:noFill/>
          <a:ln w="12700">
            <a:solidFill>
              <a:srgbClr val="8A8A93"/>
            </a:solidFill>
            <a:prstDash val="solid"/>
            <a:tailEnd type="triangle"/>
          </a:ln>
        </p:spPr>
      </p:sp>
      <p:sp>
        <p:nvSpPr>
          <p:cNvPr id="32" name="Text 29"/>
          <p:cNvSpPr/>
          <p:nvPr/>
        </p:nvSpPr>
        <p:spPr>
          <a:xfrm>
            <a:off x="9374951" y="4315968"/>
            <a:ext cx="2176664" cy="420624"/>
          </a:xfrm>
          <a:prstGeom prst="roundRect">
            <a:avLst>
              <a:gd name="adj" fmla="val 50000"/>
            </a:avLst>
          </a:prstGeom>
          <a:solidFill>
            <a:srgbClr val="FDF1E0"/>
          </a:solidFill>
          <a:ln w="9525">
            <a:solidFill>
              <a:srgbClr val="F2D3A6"/>
            </a:solidFill>
          </a:ln>
        </p:spPr>
        <p:txBody>
          <a:bodyPr wrap="square" lIns="0" tIns="0" rIns="0" bIns="0" rtlCol="0" anchor="ctr"/>
          <a:lstStyle/>
          <a:p>
            <a:pPr algn="ctr" indent="0" marL="0">
              <a:buNone/>
            </a:pPr>
            <a:r>
              <a:rPr lang="en-US" sz="1250" b="1" dirty="0">
                <a:solidFill>
                  <a:srgbClr val="D97706"/>
                </a:solidFill>
                <a:latin typeface="Aptos" pitchFamily="34" charset="0"/>
                <a:ea typeface="Aptos" pitchFamily="34" charset="-122"/>
                <a:cs typeface="Aptos" pitchFamily="34" charset="-120"/>
              </a:rPr>
              <a:t>Human troubleshooting</a:t>
            </a:r>
            <a:endParaRPr lang="en-US" sz="1250" dirty="0"/>
          </a:p>
        </p:txBody>
      </p:sp>
      <p:sp>
        <p:nvSpPr>
          <p:cNvPr id="33" name="Text 30"/>
          <p:cNvSpPr/>
          <p:nvPr/>
        </p:nvSpPr>
        <p:spPr>
          <a:xfrm>
            <a:off x="2240280" y="5010912"/>
            <a:ext cx="987552" cy="420624"/>
          </a:xfrm>
          <a:prstGeom prst="roundRect">
            <a:avLst>
              <a:gd name="adj" fmla="val 50000"/>
            </a:avLst>
          </a:prstGeom>
          <a:solidFill>
            <a:srgbClr val="9400FF"/>
          </a:solid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Goal</a:t>
            </a:r>
            <a:endParaRPr lang="en-US" sz="1200" dirty="0"/>
          </a:p>
        </p:txBody>
      </p:sp>
      <p:sp>
        <p:nvSpPr>
          <p:cNvPr id="34" name="Shape 31"/>
          <p:cNvSpPr/>
          <p:nvPr/>
        </p:nvSpPr>
        <p:spPr>
          <a:xfrm>
            <a:off x="3264408" y="5221224"/>
            <a:ext cx="128408" cy="0"/>
          </a:xfrm>
          <a:prstGeom prst="line">
            <a:avLst/>
          </a:prstGeom>
          <a:noFill/>
          <a:ln w="12700">
            <a:solidFill>
              <a:srgbClr val="9400FF"/>
            </a:solidFill>
            <a:prstDash val="solid"/>
            <a:tailEnd type="triangle"/>
          </a:ln>
        </p:spPr>
      </p:sp>
      <p:sp>
        <p:nvSpPr>
          <p:cNvPr id="35" name="Text 32"/>
          <p:cNvSpPr/>
          <p:nvPr/>
        </p:nvSpPr>
        <p:spPr>
          <a:xfrm>
            <a:off x="3429392" y="5010912"/>
            <a:ext cx="987552" cy="420624"/>
          </a:xfrm>
          <a:prstGeom prst="roundRect">
            <a:avLst>
              <a:gd name="adj" fmla="val 50000"/>
            </a:avLst>
          </a:prstGeom>
          <a:solidFill>
            <a:srgbClr val="F5ECFF"/>
          </a:solidFill>
          <a:ln/>
        </p:spPr>
        <p:txBody>
          <a:bodyPr wrap="square" lIns="0" tIns="0" rIns="0" bIns="0" rtlCol="0" anchor="ctr"/>
          <a:lstStyle/>
          <a:p>
            <a:pPr algn="ctr" indent="0" marL="0">
              <a:buNone/>
            </a:pPr>
            <a:r>
              <a:rPr lang="en-US" sz="1200" b="1" dirty="0">
                <a:solidFill>
                  <a:srgbClr val="7A00D2"/>
                </a:solidFill>
                <a:latin typeface="Aptos" pitchFamily="34" charset="0"/>
                <a:ea typeface="Aptos" pitchFamily="34" charset="-122"/>
                <a:cs typeface="Aptos" pitchFamily="34" charset="-120"/>
              </a:rPr>
              <a:t>Discover</a:t>
            </a:r>
            <a:endParaRPr lang="en-US" sz="1200" dirty="0"/>
          </a:p>
        </p:txBody>
      </p:sp>
      <p:sp>
        <p:nvSpPr>
          <p:cNvPr id="36" name="Shape 33"/>
          <p:cNvSpPr/>
          <p:nvPr/>
        </p:nvSpPr>
        <p:spPr>
          <a:xfrm>
            <a:off x="4453520" y="5221224"/>
            <a:ext cx="128408" cy="0"/>
          </a:xfrm>
          <a:prstGeom prst="line">
            <a:avLst/>
          </a:prstGeom>
          <a:noFill/>
          <a:ln w="12700">
            <a:solidFill>
              <a:srgbClr val="9400FF"/>
            </a:solidFill>
            <a:prstDash val="solid"/>
            <a:tailEnd type="triangle"/>
          </a:ln>
        </p:spPr>
      </p:sp>
      <p:sp>
        <p:nvSpPr>
          <p:cNvPr id="37" name="Text 34"/>
          <p:cNvSpPr/>
          <p:nvPr/>
        </p:nvSpPr>
        <p:spPr>
          <a:xfrm>
            <a:off x="4618504" y="5010912"/>
            <a:ext cx="987552" cy="420624"/>
          </a:xfrm>
          <a:prstGeom prst="roundRect">
            <a:avLst>
              <a:gd name="adj" fmla="val 50000"/>
            </a:avLst>
          </a:prstGeom>
          <a:solidFill>
            <a:srgbClr val="F5ECFF"/>
          </a:solidFill>
          <a:ln/>
        </p:spPr>
        <p:txBody>
          <a:bodyPr wrap="square" lIns="0" tIns="0" rIns="0" bIns="0" rtlCol="0" anchor="ctr"/>
          <a:lstStyle/>
          <a:p>
            <a:pPr algn="ctr" indent="0" marL="0">
              <a:buNone/>
            </a:pPr>
            <a:r>
              <a:rPr lang="en-US" sz="1200" b="1" dirty="0">
                <a:solidFill>
                  <a:srgbClr val="7A00D2"/>
                </a:solidFill>
                <a:latin typeface="Aptos" pitchFamily="34" charset="0"/>
                <a:ea typeface="Aptos" pitchFamily="34" charset="-122"/>
                <a:cs typeface="Aptos" pitchFamily="34" charset="-120"/>
              </a:rPr>
              <a:t>Reason</a:t>
            </a:r>
            <a:endParaRPr lang="en-US" sz="1200" dirty="0"/>
          </a:p>
        </p:txBody>
      </p:sp>
      <p:sp>
        <p:nvSpPr>
          <p:cNvPr id="38" name="Shape 35"/>
          <p:cNvSpPr/>
          <p:nvPr/>
        </p:nvSpPr>
        <p:spPr>
          <a:xfrm>
            <a:off x="5642632" y="5221224"/>
            <a:ext cx="128408" cy="0"/>
          </a:xfrm>
          <a:prstGeom prst="line">
            <a:avLst/>
          </a:prstGeom>
          <a:noFill/>
          <a:ln w="12700">
            <a:solidFill>
              <a:srgbClr val="9400FF"/>
            </a:solidFill>
            <a:prstDash val="solid"/>
            <a:tailEnd type="triangle"/>
          </a:ln>
        </p:spPr>
      </p:sp>
      <p:sp>
        <p:nvSpPr>
          <p:cNvPr id="39" name="Text 36"/>
          <p:cNvSpPr/>
          <p:nvPr/>
        </p:nvSpPr>
        <p:spPr>
          <a:xfrm>
            <a:off x="5807616" y="5010912"/>
            <a:ext cx="987552" cy="420624"/>
          </a:xfrm>
          <a:prstGeom prst="roundRect">
            <a:avLst>
              <a:gd name="adj" fmla="val 50000"/>
            </a:avLst>
          </a:prstGeom>
          <a:solidFill>
            <a:srgbClr val="F5ECFF"/>
          </a:solidFill>
          <a:ln/>
        </p:spPr>
        <p:txBody>
          <a:bodyPr wrap="square" lIns="0" tIns="0" rIns="0" bIns="0" rtlCol="0" anchor="ctr"/>
          <a:lstStyle/>
          <a:p>
            <a:pPr algn="ctr" indent="0" marL="0">
              <a:buNone/>
            </a:pPr>
            <a:r>
              <a:rPr lang="en-US" sz="1200" b="1" dirty="0">
                <a:solidFill>
                  <a:srgbClr val="7A00D2"/>
                </a:solidFill>
                <a:latin typeface="Aptos" pitchFamily="34" charset="0"/>
                <a:ea typeface="Aptos" pitchFamily="34" charset="-122"/>
                <a:cs typeface="Aptos" pitchFamily="34" charset="-120"/>
              </a:rPr>
              <a:t>Map</a:t>
            </a:r>
            <a:endParaRPr lang="en-US" sz="1200" dirty="0"/>
          </a:p>
        </p:txBody>
      </p:sp>
      <p:sp>
        <p:nvSpPr>
          <p:cNvPr id="40" name="Shape 37"/>
          <p:cNvSpPr/>
          <p:nvPr/>
        </p:nvSpPr>
        <p:spPr>
          <a:xfrm>
            <a:off x="6831744" y="5221224"/>
            <a:ext cx="128408" cy="0"/>
          </a:xfrm>
          <a:prstGeom prst="line">
            <a:avLst/>
          </a:prstGeom>
          <a:noFill/>
          <a:ln w="12700">
            <a:solidFill>
              <a:srgbClr val="9400FF"/>
            </a:solidFill>
            <a:prstDash val="solid"/>
            <a:tailEnd type="triangle"/>
          </a:ln>
        </p:spPr>
      </p:sp>
      <p:sp>
        <p:nvSpPr>
          <p:cNvPr id="41" name="Text 38"/>
          <p:cNvSpPr/>
          <p:nvPr/>
        </p:nvSpPr>
        <p:spPr>
          <a:xfrm>
            <a:off x="6996728" y="5010912"/>
            <a:ext cx="987552" cy="420624"/>
          </a:xfrm>
          <a:prstGeom prst="roundRect">
            <a:avLst>
              <a:gd name="adj" fmla="val 50000"/>
            </a:avLst>
          </a:prstGeom>
          <a:solidFill>
            <a:srgbClr val="F5ECFF"/>
          </a:solidFill>
          <a:ln/>
        </p:spPr>
        <p:txBody>
          <a:bodyPr wrap="square" lIns="0" tIns="0" rIns="0" bIns="0" rtlCol="0" anchor="ctr"/>
          <a:lstStyle/>
          <a:p>
            <a:pPr algn="ctr" indent="0" marL="0">
              <a:buNone/>
            </a:pPr>
            <a:r>
              <a:rPr lang="en-US" sz="1200" b="1" dirty="0">
                <a:solidFill>
                  <a:srgbClr val="7A00D2"/>
                </a:solidFill>
                <a:latin typeface="Aptos" pitchFamily="34" charset="0"/>
                <a:ea typeface="Aptos" pitchFamily="34" charset="-122"/>
                <a:cs typeface="Aptos" pitchFamily="34" charset="-120"/>
              </a:rPr>
              <a:t>Test</a:t>
            </a:r>
            <a:endParaRPr lang="en-US" sz="1200" dirty="0"/>
          </a:p>
        </p:txBody>
      </p:sp>
      <p:sp>
        <p:nvSpPr>
          <p:cNvPr id="42" name="Shape 39"/>
          <p:cNvSpPr/>
          <p:nvPr/>
        </p:nvSpPr>
        <p:spPr>
          <a:xfrm>
            <a:off x="8020856" y="5221224"/>
            <a:ext cx="128408" cy="0"/>
          </a:xfrm>
          <a:prstGeom prst="line">
            <a:avLst/>
          </a:prstGeom>
          <a:noFill/>
          <a:ln w="12700">
            <a:solidFill>
              <a:srgbClr val="9400FF"/>
            </a:solidFill>
            <a:prstDash val="solid"/>
            <a:tailEnd type="triangle"/>
          </a:ln>
        </p:spPr>
      </p:sp>
      <p:sp>
        <p:nvSpPr>
          <p:cNvPr id="43" name="Text 40"/>
          <p:cNvSpPr/>
          <p:nvPr/>
        </p:nvSpPr>
        <p:spPr>
          <a:xfrm>
            <a:off x="8185839" y="5010912"/>
            <a:ext cx="987552" cy="420624"/>
          </a:xfrm>
          <a:prstGeom prst="roundRect">
            <a:avLst>
              <a:gd name="adj" fmla="val 50000"/>
            </a:avLst>
          </a:prstGeom>
          <a:solidFill>
            <a:srgbClr val="F5ECFF"/>
          </a:solidFill>
          <a:ln/>
        </p:spPr>
        <p:txBody>
          <a:bodyPr wrap="square" lIns="0" tIns="0" rIns="0" bIns="0" rtlCol="0" anchor="ctr"/>
          <a:lstStyle/>
          <a:p>
            <a:pPr algn="ctr" indent="0" marL="0">
              <a:buNone/>
            </a:pPr>
            <a:r>
              <a:rPr lang="en-US" sz="1200" b="1" dirty="0">
                <a:solidFill>
                  <a:srgbClr val="7A00D2"/>
                </a:solidFill>
                <a:latin typeface="Aptos" pitchFamily="34" charset="0"/>
                <a:ea typeface="Aptos" pitchFamily="34" charset="-122"/>
                <a:cs typeface="Aptos" pitchFamily="34" charset="-120"/>
              </a:rPr>
              <a:t>Execute</a:t>
            </a:r>
            <a:endParaRPr lang="en-US" sz="1200" dirty="0"/>
          </a:p>
        </p:txBody>
      </p:sp>
      <p:sp>
        <p:nvSpPr>
          <p:cNvPr id="44" name="Shape 41"/>
          <p:cNvSpPr/>
          <p:nvPr/>
        </p:nvSpPr>
        <p:spPr>
          <a:xfrm>
            <a:off x="9209967" y="5221224"/>
            <a:ext cx="128408" cy="0"/>
          </a:xfrm>
          <a:prstGeom prst="line">
            <a:avLst/>
          </a:prstGeom>
          <a:noFill/>
          <a:ln w="12700">
            <a:solidFill>
              <a:srgbClr val="9400FF"/>
            </a:solidFill>
            <a:prstDash val="solid"/>
            <a:tailEnd type="triangle"/>
          </a:ln>
        </p:spPr>
      </p:sp>
      <p:sp>
        <p:nvSpPr>
          <p:cNvPr id="45" name="Text 42"/>
          <p:cNvSpPr/>
          <p:nvPr/>
        </p:nvSpPr>
        <p:spPr>
          <a:xfrm>
            <a:off x="9374951" y="5010912"/>
            <a:ext cx="987552" cy="420624"/>
          </a:xfrm>
          <a:prstGeom prst="roundRect">
            <a:avLst>
              <a:gd name="adj" fmla="val 50000"/>
            </a:avLst>
          </a:prstGeom>
          <a:solidFill>
            <a:srgbClr val="F5ECFF"/>
          </a:solidFill>
          <a:ln/>
        </p:spPr>
        <p:txBody>
          <a:bodyPr wrap="square" lIns="0" tIns="0" rIns="0" bIns="0" rtlCol="0" anchor="ctr"/>
          <a:lstStyle/>
          <a:p>
            <a:pPr algn="ctr" indent="0" marL="0">
              <a:buNone/>
            </a:pPr>
            <a:r>
              <a:rPr lang="en-US" sz="1200" b="1" dirty="0">
                <a:solidFill>
                  <a:srgbClr val="7A00D2"/>
                </a:solidFill>
                <a:latin typeface="Aptos" pitchFamily="34" charset="0"/>
                <a:ea typeface="Aptos" pitchFamily="34" charset="-122"/>
                <a:cs typeface="Aptos" pitchFamily="34" charset="-120"/>
              </a:rPr>
              <a:t>Remediate</a:t>
            </a:r>
            <a:endParaRPr lang="en-US" sz="1200" dirty="0"/>
          </a:p>
        </p:txBody>
      </p:sp>
      <p:sp>
        <p:nvSpPr>
          <p:cNvPr id="46" name="Shape 43"/>
          <p:cNvSpPr/>
          <p:nvPr/>
        </p:nvSpPr>
        <p:spPr>
          <a:xfrm>
            <a:off x="10399079" y="5221224"/>
            <a:ext cx="128408" cy="0"/>
          </a:xfrm>
          <a:prstGeom prst="line">
            <a:avLst/>
          </a:prstGeom>
          <a:noFill/>
          <a:ln w="12700">
            <a:solidFill>
              <a:srgbClr val="9400FF"/>
            </a:solidFill>
            <a:prstDash val="solid"/>
            <a:tailEnd type="triangle"/>
          </a:ln>
        </p:spPr>
      </p:sp>
      <p:sp>
        <p:nvSpPr>
          <p:cNvPr id="47" name="Text 44"/>
          <p:cNvSpPr/>
          <p:nvPr/>
        </p:nvSpPr>
        <p:spPr>
          <a:xfrm>
            <a:off x="10564063" y="5010912"/>
            <a:ext cx="987552" cy="420624"/>
          </a:xfrm>
          <a:prstGeom prst="roundRect">
            <a:avLst>
              <a:gd name="adj" fmla="val 50000"/>
            </a:avLst>
          </a:prstGeom>
          <a:solidFill>
            <a:srgbClr val="F5ECFF"/>
          </a:solidFill>
          <a:ln/>
        </p:spPr>
        <p:txBody>
          <a:bodyPr wrap="square" lIns="0" tIns="0" rIns="0" bIns="0" rtlCol="0" anchor="ctr"/>
          <a:lstStyle/>
          <a:p>
            <a:pPr algn="ctr" indent="0" marL="0">
              <a:buNone/>
            </a:pPr>
            <a:r>
              <a:rPr lang="en-US" sz="1200" b="1" dirty="0">
                <a:solidFill>
                  <a:srgbClr val="7A00D2"/>
                </a:solidFill>
                <a:latin typeface="Aptos" pitchFamily="34" charset="0"/>
                <a:ea typeface="Aptos" pitchFamily="34" charset="-122"/>
                <a:cs typeface="Aptos" pitchFamily="34" charset="-120"/>
              </a:rPr>
              <a:t>Explain</a:t>
            </a:r>
            <a:endParaRPr lang="en-US" sz="1200" dirty="0"/>
          </a:p>
        </p:txBody>
      </p:sp>
      <p:sp>
        <p:nvSpPr>
          <p:cNvPr id="48" name="Text 45"/>
          <p:cNvSpPr/>
          <p:nvPr/>
        </p:nvSpPr>
        <p:spPr>
          <a:xfrm>
            <a:off x="640080" y="5760720"/>
            <a:ext cx="10911535" cy="365760"/>
          </a:xfrm>
          <a:prstGeom prst="rect">
            <a:avLst/>
          </a:prstGeom>
          <a:noFill/>
          <a:ln/>
        </p:spPr>
        <p:txBody>
          <a:bodyPr wrap="square" lIns="0" tIns="0" rIns="0" bIns="0" rtlCol="0" anchor="ctr"/>
          <a:lstStyle/>
          <a:p>
            <a:pPr indent="0" marL="0">
              <a:buNone/>
            </a:pPr>
            <a:r>
              <a:rPr lang="en-US" sz="1600" b="1" dirty="0">
                <a:solidFill>
                  <a:srgbClr val="111111"/>
                </a:solidFill>
                <a:latin typeface="Aptos" pitchFamily="34" charset="0"/>
                <a:ea typeface="Aptos" pitchFamily="34" charset="-122"/>
                <a:cs typeface="Aptos" pitchFamily="34" charset="-120"/>
              </a:rPr>
              <a:t>Not another migration script. </a:t>
            </a:r>
            <a:pPr indent="0" marL="0">
              <a:buNone/>
            </a:pPr>
            <a:r>
              <a:rPr lang="en-US" sz="1600" b="1" dirty="0">
                <a:solidFill>
                  <a:srgbClr val="9400FF"/>
                </a:solidFill>
                <a:latin typeface="Aptos" pitchFamily="34" charset="0"/>
                <a:ea typeface="Aptos" pitchFamily="34" charset="-122"/>
                <a:cs typeface="Aptos" pitchFamily="34" charset="-120"/>
              </a:rPr>
              <a:t>Confidence before, during and after migration.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73952"/>
            <a:ext cx="5486400" cy="164592"/>
          </a:xfrm>
          <a:prstGeom prst="rect">
            <a:avLst/>
          </a:prstGeom>
          <a:noFill/>
          <a:ln/>
        </p:spPr>
        <p:txBody>
          <a:bodyPr wrap="square" lIns="0" tIns="0" rIns="0" bIns="0" rtlCol="0" anchor="ctr"/>
          <a:lstStyle/>
          <a:p>
            <a:pPr indent="0" marL="0">
              <a:buNone/>
            </a:pPr>
            <a:r>
              <a:rPr lang="en-US" sz="800" spc="100" kern="0" dirty="0">
                <a:solidFill>
                  <a:srgbClr val="8A8A93"/>
                </a:solidFill>
                <a:latin typeface="Aptos" pitchFamily="34" charset="0"/>
                <a:ea typeface="Aptos" pitchFamily="34" charset="-122"/>
                <a:cs typeface="Aptos" pitchFamily="34" charset="-120"/>
              </a:rPr>
              <a:t>ZEN  ·  AUTONOMOUS ENTERPRISE MIGRATION AGENT</a:t>
            </a:r>
            <a:endParaRPr lang="en-US" sz="800" dirty="0"/>
          </a:p>
        </p:txBody>
      </p:sp>
      <p:sp>
        <p:nvSpPr>
          <p:cNvPr id="3" name="Text 1"/>
          <p:cNvSpPr/>
          <p:nvPr/>
        </p:nvSpPr>
        <p:spPr>
          <a:xfrm>
            <a:off x="11002975" y="6473952"/>
            <a:ext cx="548640" cy="164592"/>
          </a:xfrm>
          <a:prstGeom prst="rect">
            <a:avLst/>
          </a:prstGeom>
          <a:noFill/>
          <a:ln/>
        </p:spPr>
        <p:txBody>
          <a:bodyPr wrap="square" lIns="0" tIns="0" rIns="0" bIns="0" rtlCol="0" anchor="ctr"/>
          <a:lstStyle/>
          <a:p>
            <a:pPr algn="r" indent="0" marL="0">
              <a:buNone/>
            </a:pPr>
            <a:r>
              <a:rPr lang="en-US" sz="800" dirty="0">
                <a:solidFill>
                  <a:srgbClr val="8A8A93"/>
                </a:solidFill>
                <a:latin typeface="Aptos" pitchFamily="34" charset="0"/>
                <a:ea typeface="Aptos" pitchFamily="34" charset="-122"/>
                <a:cs typeface="Aptos" pitchFamily="34" charset="-120"/>
              </a:rPr>
              <a:t>04</a:t>
            </a:r>
            <a:endParaRPr lang="en-US" sz="800" dirty="0"/>
          </a:p>
        </p:txBody>
      </p:sp>
      <p:sp>
        <p:nvSpPr>
          <p:cNvPr id="5" name="Text 2"/>
          <p:cNvSpPr/>
          <p:nvPr/>
        </p:nvSpPr>
        <p:spPr>
          <a:xfrm>
            <a:off x="640080" y="502920"/>
            <a:ext cx="6400800" cy="201168"/>
          </a:xfrm>
          <a:prstGeom prst="rect">
            <a:avLst/>
          </a:prstGeom>
          <a:noFill/>
          <a:ln/>
        </p:spPr>
        <p:txBody>
          <a:bodyPr wrap="square" lIns="0" tIns="0" rIns="0" bIns="0" rtlCol="0" anchor="ctr"/>
          <a:lstStyle/>
          <a:p>
            <a:pPr indent="0" marL="0">
              <a:buNone/>
            </a:pPr>
            <a:r>
              <a:rPr lang="en-US" sz="1050" b="1" spc="200" kern="0" dirty="0">
                <a:solidFill>
                  <a:srgbClr val="9400FF"/>
                </a:solidFill>
                <a:latin typeface="Aptos" pitchFamily="34" charset="0"/>
                <a:ea typeface="Aptos" pitchFamily="34" charset="-122"/>
                <a:cs typeface="Aptos" pitchFamily="34" charset="-120"/>
              </a:rPr>
              <a:t>THE SOLUTION</a:t>
            </a:r>
            <a:endParaRPr lang="en-US" sz="1050" dirty="0"/>
          </a:p>
        </p:txBody>
      </p:sp>
      <p:sp>
        <p:nvSpPr>
          <p:cNvPr id="6" name="Text 3"/>
          <p:cNvSpPr/>
          <p:nvPr/>
        </p:nvSpPr>
        <p:spPr>
          <a:xfrm>
            <a:off x="640080" y="768096"/>
            <a:ext cx="10911535" cy="603504"/>
          </a:xfrm>
          <a:prstGeom prst="rect">
            <a:avLst/>
          </a:prstGeom>
          <a:noFill/>
          <a:ln/>
        </p:spPr>
        <p:txBody>
          <a:bodyPr wrap="square" lIns="0" tIns="0" rIns="0" bIns="0" rtlCol="0" anchor="ctr"/>
          <a:lstStyle/>
          <a:p>
            <a:pPr indent="0" marL="0">
              <a:buNone/>
            </a:pPr>
            <a:r>
              <a:rPr lang="en-US" sz="2800" b="1" dirty="0">
                <a:solidFill>
                  <a:srgbClr val="111111"/>
                </a:solidFill>
                <a:latin typeface="Aptos Display" pitchFamily="34" charset="0"/>
                <a:ea typeface="Aptos Display" pitchFamily="34" charset="-122"/>
                <a:cs typeface="Aptos Display" pitchFamily="34" charset="-120"/>
              </a:rPr>
              <a:t>Zen turns migration into a confidence-based workflow</a:t>
            </a:r>
            <a:endParaRPr lang="en-US" sz="2800" dirty="0"/>
          </a:p>
        </p:txBody>
      </p:sp>
      <p:sp>
        <p:nvSpPr>
          <p:cNvPr id="7" name="Shape 4"/>
          <p:cNvSpPr/>
          <p:nvPr/>
        </p:nvSpPr>
        <p:spPr>
          <a:xfrm>
            <a:off x="640080" y="1600200"/>
            <a:ext cx="10911535" cy="548640"/>
          </a:xfrm>
          <a:prstGeom prst="roundRect">
            <a:avLst>
              <a:gd name="adj" fmla="val 50000"/>
            </a:avLst>
          </a:prstGeom>
          <a:solidFill>
            <a:srgbClr val="F6F5F8"/>
          </a:solidFill>
          <a:ln/>
        </p:spPr>
      </p:sp>
      <p:sp>
        <p:nvSpPr>
          <p:cNvPr id="8" name="Text 5"/>
          <p:cNvSpPr/>
          <p:nvPr/>
        </p:nvSpPr>
        <p:spPr>
          <a:xfrm>
            <a:off x="960120" y="1773936"/>
            <a:ext cx="1188720" cy="201168"/>
          </a:xfrm>
          <a:prstGeom prst="rect">
            <a:avLst/>
          </a:prstGeom>
          <a:noFill/>
          <a:ln/>
        </p:spPr>
        <p:txBody>
          <a:bodyPr wrap="square" lIns="0" tIns="0" rIns="0" bIns="0" rtlCol="0" anchor="ctr"/>
          <a:lstStyle/>
          <a:p>
            <a:pPr indent="0" marL="0">
              <a:buNone/>
            </a:pPr>
            <a:r>
              <a:rPr lang="en-US" sz="950" b="1" spc="150" kern="0" dirty="0">
                <a:solidFill>
                  <a:srgbClr val="9400FF"/>
                </a:solidFill>
                <a:latin typeface="Aptos" pitchFamily="34" charset="0"/>
                <a:ea typeface="Aptos" pitchFamily="34" charset="-122"/>
                <a:cs typeface="Aptos" pitchFamily="34" charset="-120"/>
              </a:rPr>
              <a:t>USER GOAL</a:t>
            </a:r>
            <a:endParaRPr lang="en-US" sz="950" dirty="0"/>
          </a:p>
        </p:txBody>
      </p:sp>
      <p:sp>
        <p:nvSpPr>
          <p:cNvPr id="9" name="Text 6"/>
          <p:cNvSpPr/>
          <p:nvPr/>
        </p:nvSpPr>
        <p:spPr>
          <a:xfrm>
            <a:off x="2148840" y="1600200"/>
            <a:ext cx="9144000" cy="548640"/>
          </a:xfrm>
          <a:prstGeom prst="rect">
            <a:avLst/>
          </a:prstGeom>
          <a:noFill/>
          <a:ln/>
        </p:spPr>
        <p:txBody>
          <a:bodyPr wrap="square" lIns="0" tIns="0" rIns="0" bIns="0" rtlCol="0" anchor="ctr"/>
          <a:lstStyle/>
          <a:p>
            <a:pPr indent="0" marL="0">
              <a:buNone/>
            </a:pPr>
            <a:r>
              <a:rPr lang="en-US" sz="1450" b="1" dirty="0">
                <a:solidFill>
                  <a:srgbClr val="111111"/>
                </a:solidFill>
                <a:latin typeface="Aptos" pitchFamily="34" charset="0"/>
                <a:ea typeface="Aptos" pitchFamily="34" charset="-122"/>
                <a:cs typeface="Aptos" pitchFamily="34" charset="-120"/>
              </a:rPr>
              <a:t>“Migrate all employees and tickets from Jira Service Management to Freshservice.”</a:t>
            </a:r>
            <a:endParaRPr lang="en-US" sz="1450" dirty="0"/>
          </a:p>
        </p:txBody>
      </p:sp>
      <p:sp>
        <p:nvSpPr>
          <p:cNvPr id="10" name="Text 7"/>
          <p:cNvSpPr/>
          <p:nvPr/>
        </p:nvSpPr>
        <p:spPr>
          <a:xfrm>
            <a:off x="731520" y="2560320"/>
            <a:ext cx="3657600" cy="201168"/>
          </a:xfrm>
          <a:prstGeom prst="rect">
            <a:avLst/>
          </a:prstGeom>
          <a:noFill/>
          <a:ln/>
        </p:spPr>
        <p:txBody>
          <a:bodyPr wrap="square" lIns="0" tIns="0" rIns="0" bIns="0" rtlCol="0" anchor="ctr"/>
          <a:lstStyle/>
          <a:p>
            <a:pPr indent="0" marL="0">
              <a:buNone/>
            </a:pPr>
            <a:r>
              <a:rPr lang="en-US" sz="950" b="1" spc="150" kern="0" dirty="0">
                <a:solidFill>
                  <a:srgbClr val="8A8A93"/>
                </a:solidFill>
                <a:latin typeface="Aptos" pitchFamily="34" charset="0"/>
                <a:ea typeface="Aptos" pitchFamily="34" charset="-122"/>
                <a:cs typeface="Aptos" pitchFamily="34" charset="-120"/>
              </a:rPr>
              <a:t>PROVE IT’S SAFE</a:t>
            </a:r>
            <a:endParaRPr lang="en-US" sz="950" dirty="0"/>
          </a:p>
        </p:txBody>
      </p:sp>
      <p:sp>
        <p:nvSpPr>
          <p:cNvPr id="11" name="Shape 8"/>
          <p:cNvSpPr/>
          <p:nvPr/>
        </p:nvSpPr>
        <p:spPr>
          <a:xfrm>
            <a:off x="731520" y="2816352"/>
            <a:ext cx="5254600" cy="0"/>
          </a:xfrm>
          <a:prstGeom prst="line">
            <a:avLst/>
          </a:prstGeom>
          <a:noFill/>
          <a:ln w="12700">
            <a:solidFill>
              <a:srgbClr val="D8D4E0"/>
            </a:solidFill>
            <a:prstDash val="solid"/>
          </a:ln>
        </p:spPr>
      </p:sp>
      <p:sp>
        <p:nvSpPr>
          <p:cNvPr id="12" name="Text 9"/>
          <p:cNvSpPr/>
          <p:nvPr/>
        </p:nvSpPr>
        <p:spPr>
          <a:xfrm>
            <a:off x="6205576" y="2560320"/>
            <a:ext cx="3657600" cy="201168"/>
          </a:xfrm>
          <a:prstGeom prst="rect">
            <a:avLst/>
          </a:prstGeom>
          <a:noFill/>
          <a:ln/>
        </p:spPr>
        <p:txBody>
          <a:bodyPr wrap="square" lIns="0" tIns="0" rIns="0" bIns="0" rtlCol="0" anchor="ctr"/>
          <a:lstStyle/>
          <a:p>
            <a:pPr indent="0" marL="0">
              <a:buNone/>
            </a:pPr>
            <a:r>
              <a:rPr lang="en-US" sz="950" b="1" spc="150" kern="0" dirty="0">
                <a:solidFill>
                  <a:srgbClr val="9400FF"/>
                </a:solidFill>
                <a:latin typeface="Aptos" pitchFamily="34" charset="0"/>
                <a:ea typeface="Aptos" pitchFamily="34" charset="-122"/>
                <a:cs typeface="Aptos" pitchFamily="34" charset="-120"/>
              </a:rPr>
              <a:t>EXECUTE WITH CONTROL</a:t>
            </a:r>
            <a:endParaRPr lang="en-US" sz="950" dirty="0"/>
          </a:p>
        </p:txBody>
      </p:sp>
      <p:sp>
        <p:nvSpPr>
          <p:cNvPr id="13" name="Shape 10"/>
          <p:cNvSpPr/>
          <p:nvPr/>
        </p:nvSpPr>
        <p:spPr>
          <a:xfrm>
            <a:off x="6205576" y="2816352"/>
            <a:ext cx="5254600" cy="0"/>
          </a:xfrm>
          <a:prstGeom prst="line">
            <a:avLst/>
          </a:prstGeom>
          <a:noFill/>
          <a:ln w="12700">
            <a:solidFill>
              <a:srgbClr val="C9A2FF"/>
            </a:solidFill>
            <a:prstDash val="solid"/>
          </a:ln>
        </p:spPr>
      </p:sp>
      <p:sp>
        <p:nvSpPr>
          <p:cNvPr id="14" name="Shape 11"/>
          <p:cNvSpPr/>
          <p:nvPr/>
        </p:nvSpPr>
        <p:spPr>
          <a:xfrm>
            <a:off x="1322051" y="3584448"/>
            <a:ext cx="4091826" cy="0"/>
          </a:xfrm>
          <a:prstGeom prst="line">
            <a:avLst/>
          </a:prstGeom>
          <a:noFill/>
          <a:ln w="19050">
            <a:solidFill>
              <a:srgbClr val="D8D4E0"/>
            </a:solidFill>
            <a:prstDash val="solid"/>
          </a:ln>
        </p:spPr>
      </p:sp>
      <p:sp>
        <p:nvSpPr>
          <p:cNvPr id="15" name="Shape 12"/>
          <p:cNvSpPr/>
          <p:nvPr/>
        </p:nvSpPr>
        <p:spPr>
          <a:xfrm>
            <a:off x="5413877" y="3584448"/>
            <a:ext cx="5455768" cy="0"/>
          </a:xfrm>
          <a:prstGeom prst="line">
            <a:avLst/>
          </a:prstGeom>
          <a:noFill/>
          <a:ln w="19050">
            <a:solidFill>
              <a:srgbClr val="9400FF"/>
            </a:solidFill>
            <a:prstDash val="solid"/>
          </a:ln>
        </p:spPr>
      </p:sp>
      <p:sp>
        <p:nvSpPr>
          <p:cNvPr id="16" name="Text 13"/>
          <p:cNvSpPr/>
          <p:nvPr/>
        </p:nvSpPr>
        <p:spPr>
          <a:xfrm>
            <a:off x="1038587" y="3300984"/>
            <a:ext cx="566928" cy="566928"/>
          </a:xfrm>
          <a:prstGeom prst="ellipse">
            <a:avLst/>
          </a:prstGeom>
          <a:solidFill>
            <a:srgbClr val="FFFFFF"/>
          </a:solidFill>
          <a:ln w="19050">
            <a:solidFill>
              <a:srgbClr val="9400FF"/>
            </a:solidFill>
          </a:ln>
        </p:spPr>
        <p:txBody>
          <a:bodyPr wrap="square" lIns="0" tIns="0" rIns="0" bIns="0" rtlCol="0" anchor="ctr"/>
          <a:lstStyle/>
          <a:p>
            <a:pPr algn="ctr" indent="0" marL="0">
              <a:buNone/>
            </a:pPr>
            <a:r>
              <a:rPr lang="en-US" sz="1300" b="1" dirty="0">
                <a:solidFill>
                  <a:srgbClr val="9400FF"/>
                </a:solidFill>
                <a:latin typeface="Aptos" pitchFamily="34" charset="0"/>
                <a:ea typeface="Aptos" pitchFamily="34" charset="-122"/>
                <a:cs typeface="Aptos" pitchFamily="34" charset="-120"/>
              </a:rPr>
              <a:t>01</a:t>
            </a:r>
            <a:endParaRPr lang="en-US" sz="1300" dirty="0"/>
          </a:p>
        </p:txBody>
      </p:sp>
      <p:sp>
        <p:nvSpPr>
          <p:cNvPr id="17" name="Text 14"/>
          <p:cNvSpPr/>
          <p:nvPr/>
        </p:nvSpPr>
        <p:spPr>
          <a:xfrm>
            <a:off x="663683" y="4325112"/>
            <a:ext cx="1316736" cy="274320"/>
          </a:xfrm>
          <a:prstGeom prst="rect">
            <a:avLst/>
          </a:prstGeom>
          <a:noFill/>
          <a:ln/>
        </p:spPr>
        <p:txBody>
          <a:bodyPr wrap="square" lIns="0" tIns="0" rIns="0" bIns="0" rtlCol="0" anchor="ctr"/>
          <a:lstStyle/>
          <a:p>
            <a:pPr algn="ctr" indent="0" marL="0">
              <a:buNone/>
            </a:pPr>
            <a:r>
              <a:rPr lang="en-US" sz="1350" b="1" dirty="0">
                <a:solidFill>
                  <a:srgbClr val="111111"/>
                </a:solidFill>
                <a:latin typeface="Aptos" pitchFamily="34" charset="0"/>
                <a:ea typeface="Aptos" pitchFamily="34" charset="-122"/>
                <a:cs typeface="Aptos" pitchFamily="34" charset="-120"/>
              </a:rPr>
              <a:t>Discover</a:t>
            </a:r>
            <a:endParaRPr lang="en-US" sz="1350" dirty="0"/>
          </a:p>
        </p:txBody>
      </p:sp>
      <p:sp>
        <p:nvSpPr>
          <p:cNvPr id="18" name="Text 15"/>
          <p:cNvSpPr/>
          <p:nvPr/>
        </p:nvSpPr>
        <p:spPr>
          <a:xfrm>
            <a:off x="663683" y="4617720"/>
            <a:ext cx="1316736"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Source &amp; target data</a:t>
            </a:r>
            <a:endParaRPr lang="en-US" sz="1050" dirty="0"/>
          </a:p>
        </p:txBody>
      </p:sp>
      <p:sp>
        <p:nvSpPr>
          <p:cNvPr id="19" name="Text 16"/>
          <p:cNvSpPr/>
          <p:nvPr/>
        </p:nvSpPr>
        <p:spPr>
          <a:xfrm>
            <a:off x="2402529" y="3300984"/>
            <a:ext cx="566928" cy="566928"/>
          </a:xfrm>
          <a:prstGeom prst="ellipse">
            <a:avLst/>
          </a:prstGeom>
          <a:solidFill>
            <a:srgbClr val="FFFFFF"/>
          </a:solidFill>
          <a:ln w="19050">
            <a:solidFill>
              <a:srgbClr val="9400FF"/>
            </a:solidFill>
          </a:ln>
        </p:spPr>
        <p:txBody>
          <a:bodyPr wrap="square" lIns="0" tIns="0" rIns="0" bIns="0" rtlCol="0" anchor="ctr"/>
          <a:lstStyle/>
          <a:p>
            <a:pPr algn="ctr" indent="0" marL="0">
              <a:buNone/>
            </a:pPr>
            <a:r>
              <a:rPr lang="en-US" sz="1300" b="1" dirty="0">
                <a:solidFill>
                  <a:srgbClr val="9400FF"/>
                </a:solidFill>
                <a:latin typeface="Aptos" pitchFamily="34" charset="0"/>
                <a:ea typeface="Aptos" pitchFamily="34" charset="-122"/>
                <a:cs typeface="Aptos" pitchFamily="34" charset="-120"/>
              </a:rPr>
              <a:t>02</a:t>
            </a:r>
            <a:endParaRPr lang="en-US" sz="1300" dirty="0"/>
          </a:p>
        </p:txBody>
      </p:sp>
      <p:sp>
        <p:nvSpPr>
          <p:cNvPr id="20" name="Text 17"/>
          <p:cNvSpPr/>
          <p:nvPr/>
        </p:nvSpPr>
        <p:spPr>
          <a:xfrm>
            <a:off x="2027625" y="4325112"/>
            <a:ext cx="1316736" cy="274320"/>
          </a:xfrm>
          <a:prstGeom prst="rect">
            <a:avLst/>
          </a:prstGeom>
          <a:noFill/>
          <a:ln/>
        </p:spPr>
        <p:txBody>
          <a:bodyPr wrap="square" lIns="0" tIns="0" rIns="0" bIns="0" rtlCol="0" anchor="ctr"/>
          <a:lstStyle/>
          <a:p>
            <a:pPr algn="ctr" indent="0" marL="0">
              <a:buNone/>
            </a:pPr>
            <a:r>
              <a:rPr lang="en-US" sz="1350" b="1" dirty="0">
                <a:solidFill>
                  <a:srgbClr val="111111"/>
                </a:solidFill>
                <a:latin typeface="Aptos" pitchFamily="34" charset="0"/>
                <a:ea typeface="Aptos" pitchFamily="34" charset="-122"/>
                <a:cs typeface="Aptos" pitchFamily="34" charset="-120"/>
              </a:rPr>
              <a:t>Map</a:t>
            </a:r>
            <a:endParaRPr lang="en-US" sz="1350" dirty="0"/>
          </a:p>
        </p:txBody>
      </p:sp>
      <p:sp>
        <p:nvSpPr>
          <p:cNvPr id="21" name="Text 18"/>
          <p:cNvSpPr/>
          <p:nvPr/>
        </p:nvSpPr>
        <p:spPr>
          <a:xfrm>
            <a:off x="2027625" y="4617720"/>
            <a:ext cx="1316736"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AI field &amp; entity mapping</a:t>
            </a:r>
            <a:endParaRPr lang="en-US" sz="1050" dirty="0"/>
          </a:p>
        </p:txBody>
      </p:sp>
      <p:sp>
        <p:nvSpPr>
          <p:cNvPr id="22" name="Text 19"/>
          <p:cNvSpPr/>
          <p:nvPr/>
        </p:nvSpPr>
        <p:spPr>
          <a:xfrm>
            <a:off x="3766471" y="3300984"/>
            <a:ext cx="566928" cy="566928"/>
          </a:xfrm>
          <a:prstGeom prst="ellipse">
            <a:avLst/>
          </a:prstGeom>
          <a:solidFill>
            <a:srgbClr val="FFFFFF"/>
          </a:solidFill>
          <a:ln w="19050">
            <a:solidFill>
              <a:srgbClr val="9400FF"/>
            </a:solidFill>
          </a:ln>
        </p:spPr>
        <p:txBody>
          <a:bodyPr wrap="square" lIns="0" tIns="0" rIns="0" bIns="0" rtlCol="0" anchor="ctr"/>
          <a:lstStyle/>
          <a:p>
            <a:pPr algn="ctr" indent="0" marL="0">
              <a:buNone/>
            </a:pPr>
            <a:r>
              <a:rPr lang="en-US" sz="1300" b="1" dirty="0">
                <a:solidFill>
                  <a:srgbClr val="9400FF"/>
                </a:solidFill>
                <a:latin typeface="Aptos" pitchFamily="34" charset="0"/>
                <a:ea typeface="Aptos" pitchFamily="34" charset="-122"/>
                <a:cs typeface="Aptos" pitchFamily="34" charset="-120"/>
              </a:rPr>
              <a:t>03</a:t>
            </a:r>
            <a:endParaRPr lang="en-US" sz="1300" dirty="0"/>
          </a:p>
        </p:txBody>
      </p:sp>
      <p:sp>
        <p:nvSpPr>
          <p:cNvPr id="23" name="Text 20"/>
          <p:cNvSpPr/>
          <p:nvPr/>
        </p:nvSpPr>
        <p:spPr>
          <a:xfrm>
            <a:off x="3391567" y="4325112"/>
            <a:ext cx="1316736" cy="274320"/>
          </a:xfrm>
          <a:prstGeom prst="rect">
            <a:avLst/>
          </a:prstGeom>
          <a:noFill/>
          <a:ln/>
        </p:spPr>
        <p:txBody>
          <a:bodyPr wrap="square" lIns="0" tIns="0" rIns="0" bIns="0" rtlCol="0" anchor="ctr"/>
          <a:lstStyle/>
          <a:p>
            <a:pPr algn="ctr" indent="0" marL="0">
              <a:buNone/>
            </a:pPr>
            <a:r>
              <a:rPr lang="en-US" sz="1350" b="1" dirty="0">
                <a:solidFill>
                  <a:srgbClr val="111111"/>
                </a:solidFill>
                <a:latin typeface="Aptos" pitchFamily="34" charset="0"/>
                <a:ea typeface="Aptos" pitchFamily="34" charset="-122"/>
                <a:cs typeface="Aptos" pitchFamily="34" charset="-120"/>
              </a:rPr>
              <a:t>Test</a:t>
            </a:r>
            <a:endParaRPr lang="en-US" sz="1350" dirty="0"/>
          </a:p>
        </p:txBody>
      </p:sp>
      <p:sp>
        <p:nvSpPr>
          <p:cNvPr id="24" name="Text 21"/>
          <p:cNvSpPr/>
          <p:nvPr/>
        </p:nvSpPr>
        <p:spPr>
          <a:xfrm>
            <a:off x="3391567" y="4617720"/>
            <a:ext cx="1316736"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Controlled sample migration</a:t>
            </a:r>
            <a:endParaRPr lang="en-US" sz="1050" dirty="0"/>
          </a:p>
        </p:txBody>
      </p:sp>
      <p:sp>
        <p:nvSpPr>
          <p:cNvPr id="25" name="Shape 22"/>
          <p:cNvSpPr/>
          <p:nvPr/>
        </p:nvSpPr>
        <p:spPr>
          <a:xfrm>
            <a:off x="4865237" y="3035808"/>
            <a:ext cx="1097280" cy="1097280"/>
          </a:xfrm>
          <a:prstGeom prst="ellipse">
            <a:avLst/>
          </a:prstGeom>
          <a:solidFill>
            <a:srgbClr val="FFFFFF"/>
          </a:solidFill>
          <a:ln w="88900">
            <a:solidFill>
              <a:srgbClr val="E7F6EF"/>
            </a:solidFill>
            <a:prstDash val="solid"/>
          </a:ln>
        </p:spPr>
      </p:sp>
      <p:sp>
        <p:nvSpPr>
          <p:cNvPr id="26" name="Shape 23"/>
          <p:cNvSpPr/>
          <p:nvPr/>
        </p:nvSpPr>
        <p:spPr>
          <a:xfrm>
            <a:off x="4865237" y="3035808"/>
            <a:ext cx="1097280" cy="1097280"/>
          </a:xfrm>
          <a:prstGeom prst="arc">
            <a:avLst>
              <a:gd name="adj1" fmla="val 16200000"/>
              <a:gd name="adj2" fmla="val 15336000"/>
            </a:avLst>
          </a:prstGeom>
          <a:noFill/>
          <a:ln w="88900">
            <a:solidFill>
              <a:srgbClr val="0E9F6E"/>
            </a:solidFill>
            <a:prstDash val="solid"/>
          </a:ln>
        </p:spPr>
      </p:sp>
      <p:sp>
        <p:nvSpPr>
          <p:cNvPr id="27" name="Text 24"/>
          <p:cNvSpPr/>
          <p:nvPr/>
        </p:nvSpPr>
        <p:spPr>
          <a:xfrm>
            <a:off x="4956677" y="3383280"/>
            <a:ext cx="914400" cy="402336"/>
          </a:xfrm>
          <a:prstGeom prst="rect">
            <a:avLst/>
          </a:prstGeom>
          <a:noFill/>
          <a:ln/>
        </p:spPr>
        <p:txBody>
          <a:bodyPr wrap="square" lIns="0" tIns="0" rIns="0" bIns="0" rtlCol="0" anchor="ctr"/>
          <a:lstStyle/>
          <a:p>
            <a:pPr algn="ctr" indent="0" marL="0">
              <a:buNone/>
            </a:pPr>
            <a:r>
              <a:rPr lang="en-US" sz="2000" b="1" dirty="0">
                <a:solidFill>
                  <a:srgbClr val="0E9F6E"/>
                </a:solidFill>
                <a:latin typeface="Aptos Display" pitchFamily="34" charset="0"/>
                <a:ea typeface="Aptos Display" pitchFamily="34" charset="-122"/>
                <a:cs typeface="Aptos Display" pitchFamily="34" charset="-120"/>
              </a:rPr>
              <a:t>96%</a:t>
            </a:r>
            <a:endParaRPr lang="en-US" sz="2000" dirty="0"/>
          </a:p>
        </p:txBody>
      </p:sp>
      <p:sp>
        <p:nvSpPr>
          <p:cNvPr id="28" name="Text 25"/>
          <p:cNvSpPr/>
          <p:nvPr/>
        </p:nvSpPr>
        <p:spPr>
          <a:xfrm>
            <a:off x="4755509" y="4325112"/>
            <a:ext cx="1316736" cy="274320"/>
          </a:xfrm>
          <a:prstGeom prst="rect">
            <a:avLst/>
          </a:prstGeom>
          <a:noFill/>
          <a:ln/>
        </p:spPr>
        <p:txBody>
          <a:bodyPr wrap="square" lIns="0" tIns="0" rIns="0" bIns="0" rtlCol="0" anchor="ctr"/>
          <a:lstStyle/>
          <a:p>
            <a:pPr algn="ctr" indent="0" marL="0">
              <a:buNone/>
            </a:pPr>
            <a:r>
              <a:rPr lang="en-US" sz="1350" b="1" dirty="0">
                <a:solidFill>
                  <a:srgbClr val="0E9F6E"/>
                </a:solidFill>
                <a:latin typeface="Aptos" pitchFamily="34" charset="0"/>
                <a:ea typeface="Aptos" pitchFamily="34" charset="-122"/>
                <a:cs typeface="Aptos" pitchFamily="34" charset="-120"/>
              </a:rPr>
              <a:t>Readiness</a:t>
            </a:r>
            <a:endParaRPr lang="en-US" sz="1350" dirty="0"/>
          </a:p>
        </p:txBody>
      </p:sp>
      <p:sp>
        <p:nvSpPr>
          <p:cNvPr id="29" name="Text 26"/>
          <p:cNvSpPr/>
          <p:nvPr/>
        </p:nvSpPr>
        <p:spPr>
          <a:xfrm>
            <a:off x="4755509" y="4617720"/>
            <a:ext cx="1316736"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Go / no-go before cutover</a:t>
            </a:r>
            <a:endParaRPr lang="en-US" sz="1050" dirty="0"/>
          </a:p>
        </p:txBody>
      </p:sp>
      <p:sp>
        <p:nvSpPr>
          <p:cNvPr id="30" name="Text 27"/>
          <p:cNvSpPr/>
          <p:nvPr/>
        </p:nvSpPr>
        <p:spPr>
          <a:xfrm>
            <a:off x="6494355" y="3300984"/>
            <a:ext cx="566928" cy="566928"/>
          </a:xfrm>
          <a:prstGeom prst="ellipse">
            <a:avLst/>
          </a:prstGeom>
          <a:solidFill>
            <a:srgbClr val="9400FF"/>
          </a:solid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05</a:t>
            </a:r>
            <a:endParaRPr lang="en-US" sz="1300" dirty="0"/>
          </a:p>
        </p:txBody>
      </p:sp>
      <p:sp>
        <p:nvSpPr>
          <p:cNvPr id="31" name="Text 28"/>
          <p:cNvSpPr/>
          <p:nvPr/>
        </p:nvSpPr>
        <p:spPr>
          <a:xfrm>
            <a:off x="6119451" y="4325112"/>
            <a:ext cx="1316736" cy="274320"/>
          </a:xfrm>
          <a:prstGeom prst="rect">
            <a:avLst/>
          </a:prstGeom>
          <a:noFill/>
          <a:ln/>
        </p:spPr>
        <p:txBody>
          <a:bodyPr wrap="square" lIns="0" tIns="0" rIns="0" bIns="0" rtlCol="0" anchor="ctr"/>
          <a:lstStyle/>
          <a:p>
            <a:pPr algn="ctr" indent="0" marL="0">
              <a:buNone/>
            </a:pPr>
            <a:r>
              <a:rPr lang="en-US" sz="1350" b="1" dirty="0">
                <a:solidFill>
                  <a:srgbClr val="111111"/>
                </a:solidFill>
                <a:latin typeface="Aptos" pitchFamily="34" charset="0"/>
                <a:ea typeface="Aptos" pitchFamily="34" charset="-122"/>
                <a:cs typeface="Aptos" pitchFamily="34" charset="-120"/>
              </a:rPr>
              <a:t>Execute</a:t>
            </a:r>
            <a:endParaRPr lang="en-US" sz="1350" dirty="0"/>
          </a:p>
        </p:txBody>
      </p:sp>
      <p:sp>
        <p:nvSpPr>
          <p:cNvPr id="32" name="Text 29"/>
          <p:cNvSpPr/>
          <p:nvPr/>
        </p:nvSpPr>
        <p:spPr>
          <a:xfrm>
            <a:off x="6119451" y="4617720"/>
            <a:ext cx="1316736"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Full migration</a:t>
            </a:r>
            <a:endParaRPr lang="en-US" sz="1050" dirty="0"/>
          </a:p>
        </p:txBody>
      </p:sp>
      <p:sp>
        <p:nvSpPr>
          <p:cNvPr id="33" name="Text 30"/>
          <p:cNvSpPr/>
          <p:nvPr/>
        </p:nvSpPr>
        <p:spPr>
          <a:xfrm>
            <a:off x="7858296" y="3300984"/>
            <a:ext cx="566928" cy="566928"/>
          </a:xfrm>
          <a:prstGeom prst="ellipse">
            <a:avLst/>
          </a:prstGeom>
          <a:solidFill>
            <a:srgbClr val="9400FF"/>
          </a:solid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06</a:t>
            </a:r>
            <a:endParaRPr lang="en-US" sz="1300" dirty="0"/>
          </a:p>
        </p:txBody>
      </p:sp>
      <p:sp>
        <p:nvSpPr>
          <p:cNvPr id="34" name="Text 31"/>
          <p:cNvSpPr/>
          <p:nvPr/>
        </p:nvSpPr>
        <p:spPr>
          <a:xfrm>
            <a:off x="7483392" y="4325112"/>
            <a:ext cx="1316736" cy="274320"/>
          </a:xfrm>
          <a:prstGeom prst="rect">
            <a:avLst/>
          </a:prstGeom>
          <a:noFill/>
          <a:ln/>
        </p:spPr>
        <p:txBody>
          <a:bodyPr wrap="square" lIns="0" tIns="0" rIns="0" bIns="0" rtlCol="0" anchor="ctr"/>
          <a:lstStyle/>
          <a:p>
            <a:pPr algn="ctr" indent="0" marL="0">
              <a:buNone/>
            </a:pPr>
            <a:r>
              <a:rPr lang="en-US" sz="1350" b="1" dirty="0">
                <a:solidFill>
                  <a:srgbClr val="111111"/>
                </a:solidFill>
                <a:latin typeface="Aptos" pitchFamily="34" charset="0"/>
                <a:ea typeface="Aptos" pitchFamily="34" charset="-122"/>
                <a:cs typeface="Aptos" pitchFamily="34" charset="-120"/>
              </a:rPr>
              <a:t>Remediate</a:t>
            </a:r>
            <a:endParaRPr lang="en-US" sz="1350" dirty="0"/>
          </a:p>
        </p:txBody>
      </p:sp>
      <p:sp>
        <p:nvSpPr>
          <p:cNvPr id="35" name="Text 32"/>
          <p:cNvSpPr/>
          <p:nvPr/>
        </p:nvSpPr>
        <p:spPr>
          <a:xfrm>
            <a:off x="7483392" y="4617720"/>
            <a:ext cx="1316736"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Detect, diagnose, fix, retry</a:t>
            </a:r>
            <a:endParaRPr lang="en-US" sz="1050" dirty="0"/>
          </a:p>
        </p:txBody>
      </p:sp>
      <p:sp>
        <p:nvSpPr>
          <p:cNvPr id="36" name="Text 33"/>
          <p:cNvSpPr/>
          <p:nvPr/>
        </p:nvSpPr>
        <p:spPr>
          <a:xfrm>
            <a:off x="9222238" y="3300984"/>
            <a:ext cx="566928" cy="566928"/>
          </a:xfrm>
          <a:prstGeom prst="ellipse">
            <a:avLst/>
          </a:prstGeom>
          <a:solidFill>
            <a:srgbClr val="9400FF"/>
          </a:solid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07</a:t>
            </a:r>
            <a:endParaRPr lang="en-US" sz="1300" dirty="0"/>
          </a:p>
        </p:txBody>
      </p:sp>
      <p:sp>
        <p:nvSpPr>
          <p:cNvPr id="37" name="Text 34"/>
          <p:cNvSpPr/>
          <p:nvPr/>
        </p:nvSpPr>
        <p:spPr>
          <a:xfrm>
            <a:off x="8847334" y="4325112"/>
            <a:ext cx="1316736" cy="274320"/>
          </a:xfrm>
          <a:prstGeom prst="rect">
            <a:avLst/>
          </a:prstGeom>
          <a:noFill/>
          <a:ln/>
        </p:spPr>
        <p:txBody>
          <a:bodyPr wrap="square" lIns="0" tIns="0" rIns="0" bIns="0" rtlCol="0" anchor="ctr"/>
          <a:lstStyle/>
          <a:p>
            <a:pPr algn="ctr" indent="0" marL="0">
              <a:buNone/>
            </a:pPr>
            <a:r>
              <a:rPr lang="en-US" sz="1350" b="1" dirty="0">
                <a:solidFill>
                  <a:srgbClr val="111111"/>
                </a:solidFill>
                <a:latin typeface="Aptos" pitchFamily="34" charset="0"/>
                <a:ea typeface="Aptos" pitchFamily="34" charset="-122"/>
                <a:cs typeface="Aptos" pitchFamily="34" charset="-120"/>
              </a:rPr>
              <a:t>Reconcile</a:t>
            </a:r>
            <a:endParaRPr lang="en-US" sz="1350" dirty="0"/>
          </a:p>
        </p:txBody>
      </p:sp>
      <p:sp>
        <p:nvSpPr>
          <p:cNvPr id="38" name="Text 35"/>
          <p:cNvSpPr/>
          <p:nvPr/>
        </p:nvSpPr>
        <p:spPr>
          <a:xfrm>
            <a:off x="8847334" y="4617720"/>
            <a:ext cx="1316736"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Source vs target</a:t>
            </a:r>
            <a:endParaRPr lang="en-US" sz="1050" dirty="0"/>
          </a:p>
        </p:txBody>
      </p:sp>
      <p:sp>
        <p:nvSpPr>
          <p:cNvPr id="39" name="Text 36"/>
          <p:cNvSpPr/>
          <p:nvPr/>
        </p:nvSpPr>
        <p:spPr>
          <a:xfrm>
            <a:off x="10586180" y="3300984"/>
            <a:ext cx="566928" cy="566928"/>
          </a:xfrm>
          <a:prstGeom prst="ellipse">
            <a:avLst/>
          </a:prstGeom>
          <a:solidFill>
            <a:srgbClr val="9400FF"/>
          </a:solid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08</a:t>
            </a:r>
            <a:endParaRPr lang="en-US" sz="1300" dirty="0"/>
          </a:p>
        </p:txBody>
      </p:sp>
      <p:sp>
        <p:nvSpPr>
          <p:cNvPr id="40" name="Text 37"/>
          <p:cNvSpPr/>
          <p:nvPr/>
        </p:nvSpPr>
        <p:spPr>
          <a:xfrm>
            <a:off x="10211276" y="4325112"/>
            <a:ext cx="1316736" cy="274320"/>
          </a:xfrm>
          <a:prstGeom prst="rect">
            <a:avLst/>
          </a:prstGeom>
          <a:noFill/>
          <a:ln/>
        </p:spPr>
        <p:txBody>
          <a:bodyPr wrap="square" lIns="0" tIns="0" rIns="0" bIns="0" rtlCol="0" anchor="ctr"/>
          <a:lstStyle/>
          <a:p>
            <a:pPr algn="ctr" indent="0" marL="0">
              <a:buNone/>
            </a:pPr>
            <a:r>
              <a:rPr lang="en-US" sz="1350" b="1" dirty="0">
                <a:solidFill>
                  <a:srgbClr val="111111"/>
                </a:solidFill>
                <a:latin typeface="Aptos" pitchFamily="34" charset="0"/>
                <a:ea typeface="Aptos" pitchFamily="34" charset="-122"/>
                <a:cs typeface="Aptos" pitchFamily="34" charset="-120"/>
              </a:rPr>
              <a:t>Explain</a:t>
            </a:r>
            <a:endParaRPr lang="en-US" sz="1350" dirty="0"/>
          </a:p>
        </p:txBody>
      </p:sp>
      <p:sp>
        <p:nvSpPr>
          <p:cNvPr id="41" name="Text 38"/>
          <p:cNvSpPr/>
          <p:nvPr/>
        </p:nvSpPr>
        <p:spPr>
          <a:xfrm>
            <a:off x="10211276" y="4617720"/>
            <a:ext cx="1316736" cy="457200"/>
          </a:xfrm>
          <a:prstGeom prst="rect">
            <a:avLst/>
          </a:prstGeom>
          <a:noFill/>
          <a:ln/>
        </p:spPr>
        <p:txBody>
          <a:bodyPr wrap="square" lIns="0" tIns="0" rIns="0" bIns="0" rtlCol="0" anchor="t"/>
          <a:lstStyle/>
          <a:p>
            <a:pPr algn="ctr" indent="0" marL="0">
              <a:buNone/>
            </a:pPr>
            <a:r>
              <a:rPr lang="en-US" sz="1050" dirty="0">
                <a:solidFill>
                  <a:srgbClr val="5F5F66"/>
                </a:solidFill>
                <a:latin typeface="Aptos" pitchFamily="34" charset="0"/>
                <a:ea typeface="Aptos" pitchFamily="34" charset="-122"/>
                <a:cs typeface="Aptos" pitchFamily="34" charset="-120"/>
              </a:rPr>
              <a:t>Claude summarizes the outcome</a:t>
            </a:r>
            <a:endParaRPr lang="en-US" sz="1050" dirty="0"/>
          </a:p>
        </p:txBody>
      </p:sp>
      <p:sp>
        <p:nvSpPr>
          <p:cNvPr id="42" name="Shape 39"/>
          <p:cNvSpPr/>
          <p:nvPr/>
        </p:nvSpPr>
        <p:spPr>
          <a:xfrm>
            <a:off x="640080" y="5340096"/>
            <a:ext cx="10911535" cy="566928"/>
          </a:xfrm>
          <a:prstGeom prst="roundRect">
            <a:avLst>
              <a:gd name="adj" fmla="val 50000"/>
            </a:avLst>
          </a:prstGeom>
          <a:solidFill>
            <a:srgbClr val="E7F6EF"/>
          </a:solidFill>
          <a:ln/>
        </p:spPr>
      </p:sp>
      <p:sp>
        <p:nvSpPr>
          <p:cNvPr id="43" name="Text 40"/>
          <p:cNvSpPr/>
          <p:nvPr/>
        </p:nvSpPr>
        <p:spPr>
          <a:xfrm>
            <a:off x="960120" y="5522976"/>
            <a:ext cx="1828800" cy="201168"/>
          </a:xfrm>
          <a:prstGeom prst="rect">
            <a:avLst/>
          </a:prstGeom>
          <a:noFill/>
          <a:ln/>
        </p:spPr>
        <p:txBody>
          <a:bodyPr wrap="square" lIns="0" tIns="0" rIns="0" bIns="0" rtlCol="0" anchor="ctr"/>
          <a:lstStyle/>
          <a:p>
            <a:pPr indent="0" marL="0">
              <a:buNone/>
            </a:pPr>
            <a:r>
              <a:rPr lang="en-US" sz="950" b="1" spc="150" kern="0" dirty="0">
                <a:solidFill>
                  <a:srgbClr val="0E9F6E"/>
                </a:solidFill>
                <a:latin typeface="Aptos" pitchFamily="34" charset="0"/>
                <a:ea typeface="Aptos" pitchFamily="34" charset="-122"/>
                <a:cs typeface="Aptos" pitchFamily="34" charset="-120"/>
              </a:rPr>
              <a:t>READINESS CHECKS</a:t>
            </a:r>
            <a:endParaRPr lang="en-US" sz="950" dirty="0"/>
          </a:p>
        </p:txBody>
      </p:sp>
      <p:sp>
        <p:nvSpPr>
          <p:cNvPr id="44" name="Text 41"/>
          <p:cNvSpPr/>
          <p:nvPr/>
        </p:nvSpPr>
        <p:spPr>
          <a:xfrm>
            <a:off x="2743200" y="5513832"/>
            <a:ext cx="219456" cy="219456"/>
          </a:xfrm>
          <a:prstGeom prst="ellipse">
            <a:avLst/>
          </a:prstGeom>
          <a:solidFill>
            <a:srgbClr val="0E9F6E"/>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45" name="Text 42"/>
          <p:cNvSpPr/>
          <p:nvPr/>
        </p:nvSpPr>
        <p:spPr>
          <a:xfrm>
            <a:off x="3044952" y="5340096"/>
            <a:ext cx="1303020" cy="566928"/>
          </a:xfrm>
          <a:prstGeom prst="rect">
            <a:avLst/>
          </a:prstGeom>
          <a:noFill/>
          <a:ln/>
        </p:spPr>
        <p:txBody>
          <a:bodyPr wrap="square" lIns="0" tIns="0" rIns="0" bIns="0" rtlCol="0" anchor="ctr"/>
          <a:lstStyle/>
          <a:p>
            <a:pPr indent="0" marL="0">
              <a:buNone/>
            </a:pPr>
            <a:r>
              <a:rPr lang="en-US" sz="1200" dirty="0">
                <a:solidFill>
                  <a:srgbClr val="111111"/>
                </a:solidFill>
                <a:latin typeface="Aptos" pitchFamily="34" charset="0"/>
                <a:ea typeface="Aptos" pitchFamily="34" charset="-122"/>
                <a:cs typeface="Aptos" pitchFamily="34" charset="-120"/>
              </a:rPr>
              <a:t>Required fields</a:t>
            </a:r>
            <a:endParaRPr lang="en-US" sz="1200" dirty="0"/>
          </a:p>
        </p:txBody>
      </p:sp>
      <p:sp>
        <p:nvSpPr>
          <p:cNvPr id="46" name="Text 43"/>
          <p:cNvSpPr/>
          <p:nvPr/>
        </p:nvSpPr>
        <p:spPr>
          <a:xfrm>
            <a:off x="4565142" y="5513832"/>
            <a:ext cx="219456" cy="219456"/>
          </a:xfrm>
          <a:prstGeom prst="ellipse">
            <a:avLst/>
          </a:prstGeom>
          <a:solidFill>
            <a:srgbClr val="0E9F6E"/>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47" name="Text 44"/>
          <p:cNvSpPr/>
          <p:nvPr/>
        </p:nvSpPr>
        <p:spPr>
          <a:xfrm>
            <a:off x="4866894" y="5340096"/>
            <a:ext cx="681228" cy="566928"/>
          </a:xfrm>
          <a:prstGeom prst="rect">
            <a:avLst/>
          </a:prstGeom>
          <a:noFill/>
          <a:ln/>
        </p:spPr>
        <p:txBody>
          <a:bodyPr wrap="square" lIns="0" tIns="0" rIns="0" bIns="0" rtlCol="0" anchor="ctr"/>
          <a:lstStyle/>
          <a:p>
            <a:pPr indent="0" marL="0">
              <a:buNone/>
            </a:pPr>
            <a:r>
              <a:rPr lang="en-US" sz="1200" dirty="0">
                <a:solidFill>
                  <a:srgbClr val="111111"/>
                </a:solidFill>
                <a:latin typeface="Aptos" pitchFamily="34" charset="0"/>
                <a:ea typeface="Aptos" pitchFamily="34" charset="-122"/>
                <a:cs typeface="Aptos" pitchFamily="34" charset="-120"/>
              </a:rPr>
              <a:t>Mapping</a:t>
            </a:r>
            <a:endParaRPr lang="en-US" sz="1200" dirty="0"/>
          </a:p>
        </p:txBody>
      </p:sp>
      <p:sp>
        <p:nvSpPr>
          <p:cNvPr id="48" name="Text 45"/>
          <p:cNvSpPr/>
          <p:nvPr/>
        </p:nvSpPr>
        <p:spPr>
          <a:xfrm>
            <a:off x="5765292" y="5513832"/>
            <a:ext cx="219456" cy="219456"/>
          </a:xfrm>
          <a:prstGeom prst="ellipse">
            <a:avLst/>
          </a:prstGeom>
          <a:solidFill>
            <a:srgbClr val="0E9F6E"/>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49" name="Text 46"/>
          <p:cNvSpPr/>
          <p:nvPr/>
        </p:nvSpPr>
        <p:spPr>
          <a:xfrm>
            <a:off x="6067044" y="5340096"/>
            <a:ext cx="2002536" cy="566928"/>
          </a:xfrm>
          <a:prstGeom prst="rect">
            <a:avLst/>
          </a:prstGeom>
          <a:noFill/>
          <a:ln/>
        </p:spPr>
        <p:txBody>
          <a:bodyPr wrap="square" lIns="0" tIns="0" rIns="0" bIns="0" rtlCol="0" anchor="ctr"/>
          <a:lstStyle/>
          <a:p>
            <a:pPr indent="0" marL="0">
              <a:buNone/>
            </a:pPr>
            <a:r>
              <a:rPr lang="en-US" sz="1200" dirty="0">
                <a:solidFill>
                  <a:srgbClr val="111111"/>
                </a:solidFill>
                <a:latin typeface="Aptos" pitchFamily="34" charset="0"/>
                <a:ea typeface="Aptos" pitchFamily="34" charset="-122"/>
                <a:cs typeface="Aptos" pitchFamily="34" charset="-120"/>
              </a:rPr>
              <a:t>Workspace classification</a:t>
            </a:r>
            <a:endParaRPr lang="en-US" sz="1200" dirty="0"/>
          </a:p>
        </p:txBody>
      </p:sp>
      <p:sp>
        <p:nvSpPr>
          <p:cNvPr id="50" name="Text 47"/>
          <p:cNvSpPr/>
          <p:nvPr/>
        </p:nvSpPr>
        <p:spPr>
          <a:xfrm>
            <a:off x="8286750" y="5513832"/>
            <a:ext cx="219456" cy="219456"/>
          </a:xfrm>
          <a:prstGeom prst="ellipse">
            <a:avLst/>
          </a:prstGeom>
          <a:solidFill>
            <a:srgbClr val="0E9F6E"/>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51" name="Text 48"/>
          <p:cNvSpPr/>
          <p:nvPr/>
        </p:nvSpPr>
        <p:spPr>
          <a:xfrm>
            <a:off x="8588502" y="5340096"/>
            <a:ext cx="1225296" cy="566928"/>
          </a:xfrm>
          <a:prstGeom prst="rect">
            <a:avLst/>
          </a:prstGeom>
          <a:noFill/>
          <a:ln/>
        </p:spPr>
        <p:txBody>
          <a:bodyPr wrap="square" lIns="0" tIns="0" rIns="0" bIns="0" rtlCol="0" anchor="ctr"/>
          <a:lstStyle/>
          <a:p>
            <a:pPr indent="0" marL="0">
              <a:buNone/>
            </a:pPr>
            <a:r>
              <a:rPr lang="en-US" sz="1200" dirty="0">
                <a:solidFill>
                  <a:srgbClr val="111111"/>
                </a:solidFill>
                <a:latin typeface="Aptos" pitchFamily="34" charset="0"/>
                <a:ea typeface="Aptos" pitchFamily="34" charset="-122"/>
                <a:cs typeface="Aptos" pitchFamily="34" charset="-120"/>
              </a:rPr>
              <a:t>Test migration</a:t>
            </a:r>
            <a:endParaRPr lang="en-US" sz="1200" dirty="0"/>
          </a:p>
        </p:txBody>
      </p:sp>
      <p:sp>
        <p:nvSpPr>
          <p:cNvPr id="52" name="Text 49"/>
          <p:cNvSpPr/>
          <p:nvPr/>
        </p:nvSpPr>
        <p:spPr>
          <a:xfrm>
            <a:off x="10030968" y="5513832"/>
            <a:ext cx="219456" cy="219456"/>
          </a:xfrm>
          <a:prstGeom prst="ellipse">
            <a:avLst/>
          </a:prstGeom>
          <a:solidFill>
            <a:srgbClr val="0E9F6E"/>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53" name="Text 50"/>
          <p:cNvSpPr/>
          <p:nvPr/>
        </p:nvSpPr>
        <p:spPr>
          <a:xfrm>
            <a:off x="10332720" y="5340096"/>
            <a:ext cx="914400" cy="566928"/>
          </a:xfrm>
          <a:prstGeom prst="rect">
            <a:avLst/>
          </a:prstGeom>
          <a:noFill/>
          <a:ln/>
        </p:spPr>
        <p:txBody>
          <a:bodyPr wrap="square" lIns="0" tIns="0" rIns="0" bIns="0" rtlCol="0" anchor="ctr"/>
          <a:lstStyle/>
          <a:p>
            <a:pPr indent="0" marL="0">
              <a:buNone/>
            </a:pPr>
            <a:r>
              <a:rPr lang="en-US" sz="1200" dirty="0">
                <a:solidFill>
                  <a:srgbClr val="111111"/>
                </a:solidFill>
                <a:latin typeface="Aptos" pitchFamily="34" charset="0"/>
                <a:ea typeface="Aptos" pitchFamily="34" charset="-122"/>
                <a:cs typeface="Aptos" pitchFamily="34" charset="-120"/>
              </a:rPr>
              <a:t>Validation</a:t>
            </a:r>
            <a:endParaRPr lang="en-US" sz="1200" dirty="0"/>
          </a:p>
        </p:txBody>
      </p:sp>
      <p:sp>
        <p:nvSpPr>
          <p:cNvPr id="54" name="Text 51"/>
          <p:cNvSpPr/>
          <p:nvPr/>
        </p:nvSpPr>
        <p:spPr>
          <a:xfrm>
            <a:off x="640080" y="6053328"/>
            <a:ext cx="10911535" cy="182880"/>
          </a:xfrm>
          <a:prstGeom prst="rect">
            <a:avLst/>
          </a:prstGeom>
          <a:noFill/>
          <a:ln/>
        </p:spPr>
        <p:txBody>
          <a:bodyPr wrap="square" lIns="0" tIns="0" rIns="0" bIns="0" rtlCol="0" anchor="ctr"/>
          <a:lstStyle/>
          <a:p>
            <a:pPr indent="0" marL="0">
              <a:buNone/>
            </a:pPr>
            <a:r>
              <a:rPr lang="en-US" sz="900" dirty="0">
                <a:solidFill>
                  <a:srgbClr val="8A8A93"/>
                </a:solidFill>
                <a:latin typeface="Aptos" pitchFamily="34" charset="0"/>
                <a:ea typeface="Aptos" pitchFamily="34" charset="-122"/>
                <a:cs typeface="Aptos" pitchFamily="34" charset="-120"/>
              </a:rPr>
              <a:t>Readiness score shown is illustrative.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B12"/>
        </a:solidFill>
      </p:bgPr>
    </p:bg>
    <p:spTree>
      <p:nvGrpSpPr>
        <p:cNvPr id="1" name=""/>
        <p:cNvGrpSpPr/>
        <p:nvPr/>
      </p:nvGrpSpPr>
      <p:grpSpPr>
        <a:xfrm>
          <a:off x="0" y="0"/>
          <a:ext cx="0" cy="0"/>
          <a:chOff x="0" y="0"/>
          <a:chExt cx="0" cy="0"/>
        </a:xfrm>
      </p:grpSpPr>
      <p:sp>
        <p:nvSpPr>
          <p:cNvPr id="2" name="Text 0"/>
          <p:cNvSpPr/>
          <p:nvPr/>
        </p:nvSpPr>
        <p:spPr>
          <a:xfrm>
            <a:off x="640080" y="6473952"/>
            <a:ext cx="5486400" cy="164592"/>
          </a:xfrm>
          <a:prstGeom prst="rect">
            <a:avLst/>
          </a:prstGeom>
          <a:noFill/>
          <a:ln/>
        </p:spPr>
        <p:txBody>
          <a:bodyPr wrap="square" lIns="0" tIns="0" rIns="0" bIns="0" rtlCol="0" anchor="ctr"/>
          <a:lstStyle/>
          <a:p>
            <a:pPr indent="0" marL="0">
              <a:buNone/>
            </a:pPr>
            <a:r>
              <a:rPr lang="en-US" sz="800" spc="100" kern="0" dirty="0">
                <a:solidFill>
                  <a:srgbClr val="A39DB0"/>
                </a:solidFill>
                <a:latin typeface="Aptos" pitchFamily="34" charset="0"/>
                <a:ea typeface="Aptos" pitchFamily="34" charset="-122"/>
                <a:cs typeface="Aptos" pitchFamily="34" charset="-120"/>
              </a:rPr>
              <a:t>ZEN  ·  AUTONOMOUS ENTERPRISE MIGRATION AGENT</a:t>
            </a:r>
            <a:endParaRPr lang="en-US" sz="800" dirty="0"/>
          </a:p>
        </p:txBody>
      </p:sp>
      <p:sp>
        <p:nvSpPr>
          <p:cNvPr id="3" name="Text 1"/>
          <p:cNvSpPr/>
          <p:nvPr/>
        </p:nvSpPr>
        <p:spPr>
          <a:xfrm>
            <a:off x="11002975" y="6473952"/>
            <a:ext cx="548640" cy="164592"/>
          </a:xfrm>
          <a:prstGeom prst="rect">
            <a:avLst/>
          </a:prstGeom>
          <a:noFill/>
          <a:ln/>
        </p:spPr>
        <p:txBody>
          <a:bodyPr wrap="square" lIns="0" tIns="0" rIns="0" bIns="0" rtlCol="0" anchor="ctr"/>
          <a:lstStyle/>
          <a:p>
            <a:pPr algn="r" indent="0" marL="0">
              <a:buNone/>
            </a:pPr>
            <a:r>
              <a:rPr lang="en-US" sz="800" dirty="0">
                <a:solidFill>
                  <a:srgbClr val="A39DB0"/>
                </a:solidFill>
                <a:latin typeface="Aptos" pitchFamily="34" charset="0"/>
                <a:ea typeface="Aptos" pitchFamily="34" charset="-122"/>
                <a:cs typeface="Aptos" pitchFamily="34" charset="-120"/>
              </a:rPr>
              <a:t>05</a:t>
            </a:r>
            <a:endParaRPr lang="en-US" sz="800" dirty="0"/>
          </a:p>
        </p:txBody>
      </p:sp>
      <p:sp>
        <p:nvSpPr>
          <p:cNvPr id="5" name="Text 2"/>
          <p:cNvSpPr/>
          <p:nvPr/>
        </p:nvSpPr>
        <p:spPr>
          <a:xfrm>
            <a:off x="640080" y="502920"/>
            <a:ext cx="6400800" cy="201168"/>
          </a:xfrm>
          <a:prstGeom prst="rect">
            <a:avLst/>
          </a:prstGeom>
          <a:noFill/>
          <a:ln/>
        </p:spPr>
        <p:txBody>
          <a:bodyPr wrap="square" lIns="0" tIns="0" rIns="0" bIns="0" rtlCol="0" anchor="ctr"/>
          <a:lstStyle/>
          <a:p>
            <a:pPr indent="0" marL="0">
              <a:buNone/>
            </a:pPr>
            <a:r>
              <a:rPr lang="en-US" sz="1050" b="1" spc="200" kern="0" dirty="0">
                <a:solidFill>
                  <a:srgbClr val="C9A2FF"/>
                </a:solidFill>
                <a:latin typeface="Aptos" pitchFamily="34" charset="0"/>
                <a:ea typeface="Aptos" pitchFamily="34" charset="-122"/>
                <a:cs typeface="Aptos" pitchFamily="34" charset="-120"/>
              </a:rPr>
              <a:t>HOW ZEN WORKS</a:t>
            </a:r>
            <a:endParaRPr lang="en-US" sz="1050" dirty="0"/>
          </a:p>
        </p:txBody>
      </p:sp>
      <p:sp>
        <p:nvSpPr>
          <p:cNvPr id="6" name="Text 3"/>
          <p:cNvSpPr/>
          <p:nvPr/>
        </p:nvSpPr>
        <p:spPr>
          <a:xfrm>
            <a:off x="640080" y="768096"/>
            <a:ext cx="10911535" cy="603504"/>
          </a:xfrm>
          <a:prstGeom prst="rect">
            <a:avLst/>
          </a:prstGeom>
          <a:noFill/>
          <a:ln/>
        </p:spPr>
        <p:txBody>
          <a:bodyPr wrap="square" lIns="0" tIns="0" rIns="0" bIns="0" rtlCol="0" anchor="ct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From natural language to autonomous execution</a:t>
            </a:r>
            <a:endParaRPr lang="en-US" sz="2800" dirty="0"/>
          </a:p>
        </p:txBody>
      </p:sp>
      <p:sp>
        <p:nvSpPr>
          <p:cNvPr id="7" name="Shape 4"/>
          <p:cNvSpPr/>
          <p:nvPr/>
        </p:nvSpPr>
        <p:spPr>
          <a:xfrm>
            <a:off x="795528" y="1719072"/>
            <a:ext cx="146304" cy="146304"/>
          </a:xfrm>
          <a:prstGeom prst="ellipse">
            <a:avLst/>
          </a:prstGeom>
          <a:solidFill>
            <a:srgbClr val="C9A2FF"/>
          </a:solidFill>
          <a:ln/>
        </p:spPr>
      </p:sp>
      <p:sp>
        <p:nvSpPr>
          <p:cNvPr id="8" name="Shape 5"/>
          <p:cNvSpPr/>
          <p:nvPr/>
        </p:nvSpPr>
        <p:spPr>
          <a:xfrm>
            <a:off x="722376" y="1890979"/>
            <a:ext cx="292608" cy="292608"/>
          </a:xfrm>
          <a:prstGeom prst="pie">
            <a:avLst>
              <a:gd name="adj1" fmla="val 10800000"/>
              <a:gd name="adj2" fmla="val 0"/>
            </a:avLst>
          </a:prstGeom>
          <a:solidFill>
            <a:srgbClr val="C9A2FF"/>
          </a:solidFill>
          <a:ln/>
        </p:spPr>
      </p:sp>
      <p:sp>
        <p:nvSpPr>
          <p:cNvPr id="9" name="Text 6"/>
          <p:cNvSpPr/>
          <p:nvPr/>
        </p:nvSpPr>
        <p:spPr>
          <a:xfrm>
            <a:off x="1234440" y="1645920"/>
            <a:ext cx="3017520" cy="457200"/>
          </a:xfrm>
          <a:prstGeom prst="roundRect">
            <a:avLst>
              <a:gd name="adj" fmla="val 50000"/>
            </a:avLst>
          </a:prstGeom>
          <a:solidFill>
            <a:srgbClr val="221D2C"/>
          </a:solidFill>
          <a:ln w="9525">
            <a:solidFill>
              <a:srgbClr val="2F2A3A"/>
            </a:solidFill>
          </a:ln>
        </p:spPr>
        <p:txBody>
          <a:bodyPr wrap="square" lIns="0" tIns="0" rIns="0" bIns="0" rtlCol="0" anchor="ctr"/>
          <a:lstStyle/>
          <a:p>
            <a:pPr algn="ctr" indent="0" marL="0">
              <a:buNone/>
            </a:pPr>
            <a:r>
              <a:rPr lang="en-US" sz="1350" b="1" dirty="0">
                <a:solidFill>
                  <a:srgbClr val="FFFFFF"/>
                </a:solidFill>
                <a:latin typeface="Aptos" pitchFamily="34" charset="0"/>
                <a:ea typeface="Aptos" pitchFamily="34" charset="-122"/>
                <a:cs typeface="Aptos" pitchFamily="34" charset="-120"/>
              </a:rPr>
              <a:t>“Migrate JSM → Freshservice”</a:t>
            </a:r>
            <a:endParaRPr lang="en-US" sz="1350" dirty="0"/>
          </a:p>
        </p:txBody>
      </p:sp>
      <p:sp>
        <p:nvSpPr>
          <p:cNvPr id="10" name="Text 7"/>
          <p:cNvSpPr/>
          <p:nvPr/>
        </p:nvSpPr>
        <p:spPr>
          <a:xfrm>
            <a:off x="4434840" y="1645920"/>
            <a:ext cx="2743200" cy="457200"/>
          </a:xfrm>
          <a:prstGeom prst="rect">
            <a:avLst/>
          </a:prstGeom>
          <a:noFill/>
          <a:ln/>
        </p:spPr>
        <p:txBody>
          <a:bodyPr wrap="square" lIns="0" tIns="0" rIns="0" bIns="0" rtlCol="0" anchor="ctr"/>
          <a:lstStyle/>
          <a:p>
            <a:pPr indent="0" marL="0">
              <a:buNone/>
            </a:pPr>
            <a:r>
              <a:rPr lang="en-US" sz="1100" dirty="0">
                <a:solidFill>
                  <a:srgbClr val="A39DB0"/>
                </a:solidFill>
                <a:latin typeface="Aptos" pitchFamily="34" charset="0"/>
                <a:ea typeface="Aptos" pitchFamily="34" charset="-122"/>
                <a:cs typeface="Aptos" pitchFamily="34" charset="-120"/>
              </a:rPr>
              <a:t>Natural-language goal</a:t>
            </a:r>
            <a:endParaRPr lang="en-US" sz="1100" dirty="0"/>
          </a:p>
        </p:txBody>
      </p:sp>
      <p:sp>
        <p:nvSpPr>
          <p:cNvPr id="11" name="Shape 8"/>
          <p:cNvSpPr/>
          <p:nvPr/>
        </p:nvSpPr>
        <p:spPr>
          <a:xfrm>
            <a:off x="2743200" y="2103120"/>
            <a:ext cx="0" cy="274320"/>
          </a:xfrm>
          <a:prstGeom prst="line">
            <a:avLst/>
          </a:prstGeom>
          <a:noFill/>
          <a:ln w="15875">
            <a:solidFill>
              <a:srgbClr val="C9A2FF"/>
            </a:solidFill>
            <a:prstDash val="solid"/>
            <a:tailEnd type="triangle"/>
          </a:ln>
        </p:spPr>
      </p:sp>
      <p:sp>
        <p:nvSpPr>
          <p:cNvPr id="12" name="Shape 9"/>
          <p:cNvSpPr/>
          <p:nvPr/>
        </p:nvSpPr>
        <p:spPr>
          <a:xfrm>
            <a:off x="640080" y="2395728"/>
            <a:ext cx="10911535" cy="2286000"/>
          </a:xfrm>
          <a:prstGeom prst="roundRect">
            <a:avLst>
              <a:gd name="adj" fmla="val 5600"/>
            </a:avLst>
          </a:prstGeom>
          <a:solidFill>
            <a:srgbClr val="14111B"/>
          </a:solidFill>
          <a:ln w="12700">
            <a:solidFill>
              <a:srgbClr val="4B2A7A"/>
            </a:solidFill>
            <a:prstDash val="solid"/>
          </a:ln>
        </p:spPr>
      </p:sp>
      <p:sp>
        <p:nvSpPr>
          <p:cNvPr id="13" name="Text 10"/>
          <p:cNvSpPr/>
          <p:nvPr/>
        </p:nvSpPr>
        <p:spPr>
          <a:xfrm>
            <a:off x="868680" y="2542032"/>
            <a:ext cx="5486400" cy="201168"/>
          </a:xfrm>
          <a:prstGeom prst="rect">
            <a:avLst/>
          </a:prstGeom>
          <a:noFill/>
          <a:ln/>
        </p:spPr>
        <p:txBody>
          <a:bodyPr wrap="square" lIns="0" tIns="0" rIns="0" bIns="0" rtlCol="0" anchor="ctr"/>
          <a:lstStyle/>
          <a:p>
            <a:pPr indent="0" marL="0">
              <a:buNone/>
            </a:pPr>
            <a:r>
              <a:rPr lang="en-US" sz="950" b="1" spc="150" kern="0" dirty="0">
                <a:solidFill>
                  <a:srgbClr val="C9A2FF"/>
                </a:solidFill>
                <a:latin typeface="Aptos" pitchFamily="34" charset="0"/>
                <a:ea typeface="Aptos" pitchFamily="34" charset="-122"/>
                <a:cs typeface="Aptos" pitchFamily="34" charset="-120"/>
              </a:rPr>
              <a:t>ZEN AGENT  ·  ZEN MIGRATION ENGINE</a:t>
            </a:r>
            <a:endParaRPr lang="en-US" sz="950" dirty="0"/>
          </a:p>
        </p:txBody>
      </p:sp>
      <p:sp>
        <p:nvSpPr>
          <p:cNvPr id="14" name="Text 11"/>
          <p:cNvSpPr/>
          <p:nvPr/>
        </p:nvSpPr>
        <p:spPr>
          <a:xfrm>
            <a:off x="868680" y="2926080"/>
            <a:ext cx="1506474" cy="566928"/>
          </a:xfrm>
          <a:prstGeom prst="homePlate">
            <a:avLst/>
          </a:prstGeom>
          <a:solidFill>
            <a:srgbClr val="221D2C"/>
          </a:solid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Interpret</a:t>
            </a:r>
            <a:endParaRPr lang="en-US" sz="1100" dirty="0"/>
          </a:p>
          <a:p>
            <a:pPr algn="ctr" indent="0" marL="0">
              <a:buNone/>
            </a:pPr>
            <a:r>
              <a:rPr lang="en-US" sz="1100" b="1" dirty="0">
                <a:solidFill>
                  <a:srgbClr val="FFFFFF"/>
                </a:solidFill>
                <a:latin typeface="Aptos" pitchFamily="34" charset="0"/>
                <a:ea typeface="Aptos" pitchFamily="34" charset="-122"/>
                <a:cs typeface="Aptos" pitchFamily="34" charset="-120"/>
              </a:rPr>
              <a:t>goal</a:t>
            </a:r>
            <a:endParaRPr lang="en-US" sz="1100" dirty="0"/>
          </a:p>
        </p:txBody>
      </p:sp>
      <p:sp>
        <p:nvSpPr>
          <p:cNvPr id="15" name="Text 12"/>
          <p:cNvSpPr/>
          <p:nvPr/>
        </p:nvSpPr>
        <p:spPr>
          <a:xfrm>
            <a:off x="2146554" y="2926080"/>
            <a:ext cx="1506474" cy="566928"/>
          </a:xfrm>
          <a:prstGeom prst="chevron">
            <a:avLst/>
          </a:prstGeom>
          <a:solidFill>
            <a:srgbClr val="221D2C"/>
          </a:solid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Discover</a:t>
            </a:r>
            <a:endParaRPr lang="en-US" sz="1100" dirty="0"/>
          </a:p>
          <a:p>
            <a:pPr algn="ctr" indent="0" marL="0">
              <a:buNone/>
            </a:pPr>
            <a:r>
              <a:rPr lang="en-US" sz="1100" b="1" dirty="0">
                <a:solidFill>
                  <a:srgbClr val="FFFFFF"/>
                </a:solidFill>
                <a:latin typeface="Aptos" pitchFamily="34" charset="0"/>
                <a:ea typeface="Aptos" pitchFamily="34" charset="-122"/>
                <a:cs typeface="Aptos" pitchFamily="34" charset="-120"/>
              </a:rPr>
              <a:t>entities</a:t>
            </a:r>
            <a:endParaRPr lang="en-US" sz="1100" dirty="0"/>
          </a:p>
        </p:txBody>
      </p:sp>
      <p:sp>
        <p:nvSpPr>
          <p:cNvPr id="16" name="Text 13"/>
          <p:cNvSpPr/>
          <p:nvPr/>
        </p:nvSpPr>
        <p:spPr>
          <a:xfrm>
            <a:off x="3424428" y="2926080"/>
            <a:ext cx="1506474" cy="566928"/>
          </a:xfrm>
          <a:prstGeom prst="chevron">
            <a:avLst/>
          </a:prstGeom>
          <a:solidFill>
            <a:srgbClr val="221D2C"/>
          </a:solid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AI</a:t>
            </a:r>
            <a:endParaRPr lang="en-US" sz="1100" dirty="0"/>
          </a:p>
          <a:p>
            <a:pPr algn="ctr" indent="0" marL="0">
              <a:buNone/>
            </a:pPr>
            <a:r>
              <a:rPr lang="en-US" sz="1100" b="1" dirty="0">
                <a:solidFill>
                  <a:srgbClr val="FFFFFF"/>
                </a:solidFill>
                <a:latin typeface="Aptos" pitchFamily="34" charset="0"/>
                <a:ea typeface="Aptos" pitchFamily="34" charset="-122"/>
                <a:cs typeface="Aptos" pitchFamily="34" charset="-120"/>
              </a:rPr>
              <a:t>mapping</a:t>
            </a:r>
            <a:endParaRPr lang="en-US" sz="1100" dirty="0"/>
          </a:p>
        </p:txBody>
      </p:sp>
      <p:sp>
        <p:nvSpPr>
          <p:cNvPr id="17" name="Text 14"/>
          <p:cNvSpPr/>
          <p:nvPr/>
        </p:nvSpPr>
        <p:spPr>
          <a:xfrm>
            <a:off x="4702302" y="2926080"/>
            <a:ext cx="1506474" cy="566928"/>
          </a:xfrm>
          <a:prstGeom prst="chevron">
            <a:avLst/>
          </a:prstGeom>
          <a:solidFill>
            <a:srgbClr val="221D2C"/>
          </a:solid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Test</a:t>
            </a:r>
            <a:endParaRPr lang="en-US" sz="1100" dirty="0"/>
          </a:p>
          <a:p>
            <a:pPr algn="ctr" indent="0" marL="0">
              <a:buNone/>
            </a:pPr>
            <a:r>
              <a:rPr lang="en-US" sz="1100" b="1" dirty="0">
                <a:solidFill>
                  <a:srgbClr val="FFFFFF"/>
                </a:solidFill>
                <a:latin typeface="Aptos" pitchFamily="34" charset="0"/>
                <a:ea typeface="Aptos" pitchFamily="34" charset="-122"/>
                <a:cs typeface="Aptos" pitchFamily="34" charset="-120"/>
              </a:rPr>
              <a:t>migration</a:t>
            </a:r>
            <a:endParaRPr lang="en-US" sz="1100" dirty="0"/>
          </a:p>
        </p:txBody>
      </p:sp>
      <p:sp>
        <p:nvSpPr>
          <p:cNvPr id="18" name="Text 15"/>
          <p:cNvSpPr/>
          <p:nvPr/>
        </p:nvSpPr>
        <p:spPr>
          <a:xfrm>
            <a:off x="5980176" y="2926080"/>
            <a:ext cx="1506474" cy="566928"/>
          </a:xfrm>
          <a:prstGeom prst="chevron">
            <a:avLst/>
          </a:prstGeom>
          <a:solidFill>
            <a:srgbClr val="123A2C"/>
          </a:solidFill>
          <a:ln/>
        </p:spPr>
        <p:txBody>
          <a:bodyPr wrap="square" lIns="0" tIns="0" rIns="0" bIns="0" rtlCol="0" anchor="ctr"/>
          <a:lstStyle/>
          <a:p>
            <a:pPr algn="ctr" indent="0" marL="0">
              <a:buNone/>
            </a:pPr>
            <a:r>
              <a:rPr lang="en-US" sz="1100" b="1" dirty="0">
                <a:solidFill>
                  <a:srgbClr val="5EE6A8"/>
                </a:solidFill>
                <a:latin typeface="Aptos" pitchFamily="34" charset="0"/>
                <a:ea typeface="Aptos" pitchFamily="34" charset="-122"/>
                <a:cs typeface="Aptos" pitchFamily="34" charset="-120"/>
              </a:rPr>
              <a:t>Readiness</a:t>
            </a:r>
            <a:endParaRPr lang="en-US" sz="1100" dirty="0"/>
          </a:p>
          <a:p>
            <a:pPr algn="ctr" indent="0" marL="0">
              <a:buNone/>
            </a:pPr>
            <a:r>
              <a:rPr lang="en-US" sz="1100" b="1" dirty="0">
                <a:solidFill>
                  <a:srgbClr val="5EE6A8"/>
                </a:solidFill>
                <a:latin typeface="Aptos" pitchFamily="34" charset="0"/>
                <a:ea typeface="Aptos" pitchFamily="34" charset="-122"/>
                <a:cs typeface="Aptos" pitchFamily="34" charset="-120"/>
              </a:rPr>
              <a:t>gate</a:t>
            </a:r>
            <a:endParaRPr lang="en-US" sz="1100" dirty="0"/>
          </a:p>
        </p:txBody>
      </p:sp>
      <p:sp>
        <p:nvSpPr>
          <p:cNvPr id="19" name="Text 16"/>
          <p:cNvSpPr/>
          <p:nvPr/>
        </p:nvSpPr>
        <p:spPr>
          <a:xfrm>
            <a:off x="7258050" y="2926080"/>
            <a:ext cx="1506474" cy="566928"/>
          </a:xfrm>
          <a:prstGeom prst="chevron">
            <a:avLst/>
          </a:prstGeom>
          <a:solidFill>
            <a:srgbClr val="3A1D66"/>
          </a:solid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Full</a:t>
            </a:r>
            <a:endParaRPr lang="en-US" sz="1100" dirty="0"/>
          </a:p>
          <a:p>
            <a:pPr algn="ctr" indent="0" marL="0">
              <a:buNone/>
            </a:pPr>
            <a:r>
              <a:rPr lang="en-US" sz="1100" b="1" dirty="0">
                <a:solidFill>
                  <a:srgbClr val="FFFFFF"/>
                </a:solidFill>
                <a:latin typeface="Aptos" pitchFamily="34" charset="0"/>
                <a:ea typeface="Aptos" pitchFamily="34" charset="-122"/>
                <a:cs typeface="Aptos" pitchFamily="34" charset="-120"/>
              </a:rPr>
              <a:t>migration</a:t>
            </a:r>
            <a:endParaRPr lang="en-US" sz="1100" dirty="0"/>
          </a:p>
        </p:txBody>
      </p:sp>
      <p:sp>
        <p:nvSpPr>
          <p:cNvPr id="20" name="Text 17"/>
          <p:cNvSpPr/>
          <p:nvPr/>
        </p:nvSpPr>
        <p:spPr>
          <a:xfrm>
            <a:off x="8535924" y="2926080"/>
            <a:ext cx="1506474" cy="566928"/>
          </a:xfrm>
          <a:prstGeom prst="chevron">
            <a:avLst/>
          </a:prstGeom>
          <a:solidFill>
            <a:srgbClr val="3A1D66"/>
          </a:solid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Validate &amp;</a:t>
            </a:r>
            <a:endParaRPr lang="en-US" sz="1100" dirty="0"/>
          </a:p>
          <a:p>
            <a:pPr algn="ctr" indent="0" marL="0">
              <a:buNone/>
            </a:pPr>
            <a:r>
              <a:rPr lang="en-US" sz="1100" b="1" dirty="0">
                <a:solidFill>
                  <a:srgbClr val="FFFFFF"/>
                </a:solidFill>
                <a:latin typeface="Aptos" pitchFamily="34" charset="0"/>
                <a:ea typeface="Aptos" pitchFamily="34" charset="-122"/>
                <a:cs typeface="Aptos" pitchFamily="34" charset="-120"/>
              </a:rPr>
              <a:t>reconcile</a:t>
            </a:r>
            <a:endParaRPr lang="en-US" sz="1100" dirty="0"/>
          </a:p>
        </p:txBody>
      </p:sp>
      <p:sp>
        <p:nvSpPr>
          <p:cNvPr id="21" name="Text 18"/>
          <p:cNvSpPr/>
          <p:nvPr/>
        </p:nvSpPr>
        <p:spPr>
          <a:xfrm>
            <a:off x="9813798" y="2926080"/>
            <a:ext cx="1506474" cy="566928"/>
          </a:xfrm>
          <a:prstGeom prst="chevron">
            <a:avLst/>
          </a:prstGeom>
          <a:solidFill>
            <a:srgbClr val="9400FF"/>
          </a:solid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Claude</a:t>
            </a:r>
            <a:endParaRPr lang="en-US" sz="1100" dirty="0"/>
          </a:p>
          <a:p>
            <a:pPr algn="ctr" indent="0" marL="0">
              <a:buNone/>
            </a:pPr>
            <a:r>
              <a:rPr lang="en-US" sz="1100" b="1" dirty="0">
                <a:solidFill>
                  <a:srgbClr val="FFFFFF"/>
                </a:solidFill>
                <a:latin typeface="Aptos" pitchFamily="34" charset="0"/>
                <a:ea typeface="Aptos" pitchFamily="34" charset="-122"/>
                <a:cs typeface="Aptos" pitchFamily="34" charset="-120"/>
              </a:rPr>
              <a:t>insights</a:t>
            </a:r>
            <a:endParaRPr lang="en-US" sz="1100" dirty="0"/>
          </a:p>
        </p:txBody>
      </p:sp>
      <p:sp>
        <p:nvSpPr>
          <p:cNvPr id="22" name="Text 19"/>
          <p:cNvSpPr/>
          <p:nvPr/>
        </p:nvSpPr>
        <p:spPr>
          <a:xfrm>
            <a:off x="6983730" y="2724912"/>
            <a:ext cx="822960" cy="182880"/>
          </a:xfrm>
          <a:prstGeom prst="rect">
            <a:avLst/>
          </a:prstGeom>
          <a:noFill/>
          <a:ln/>
        </p:spPr>
        <p:txBody>
          <a:bodyPr wrap="square" lIns="0" tIns="0" rIns="0" bIns="0" rtlCol="0" anchor="ctr"/>
          <a:lstStyle/>
          <a:p>
            <a:pPr algn="ctr" indent="0" marL="0">
              <a:buNone/>
            </a:pPr>
            <a:r>
              <a:rPr lang="en-US" sz="850" b="1" spc="100" kern="0" dirty="0">
                <a:solidFill>
                  <a:srgbClr val="5EE6A8"/>
                </a:solidFill>
                <a:latin typeface="Aptos" pitchFamily="34" charset="0"/>
                <a:ea typeface="Aptos" pitchFamily="34" charset="-122"/>
                <a:cs typeface="Aptos" pitchFamily="34" charset="-120"/>
              </a:rPr>
              <a:t>READY →</a:t>
            </a:r>
            <a:endParaRPr lang="en-US" sz="850" dirty="0"/>
          </a:p>
        </p:txBody>
      </p:sp>
      <p:sp>
        <p:nvSpPr>
          <p:cNvPr id="23" name="Shape 20"/>
          <p:cNvSpPr/>
          <p:nvPr/>
        </p:nvSpPr>
        <p:spPr>
          <a:xfrm>
            <a:off x="6733413" y="3493008"/>
            <a:ext cx="0" cy="237744"/>
          </a:xfrm>
          <a:prstGeom prst="line">
            <a:avLst/>
          </a:prstGeom>
          <a:noFill/>
          <a:ln w="15875">
            <a:solidFill>
              <a:srgbClr val="C9A2FF"/>
            </a:solidFill>
            <a:prstDash val="solid"/>
          </a:ln>
        </p:spPr>
      </p:sp>
      <p:sp>
        <p:nvSpPr>
          <p:cNvPr id="24" name="Shape 21"/>
          <p:cNvSpPr/>
          <p:nvPr/>
        </p:nvSpPr>
        <p:spPr>
          <a:xfrm flipH="1">
            <a:off x="5455539" y="3730752"/>
            <a:ext cx="1277874" cy="0"/>
          </a:xfrm>
          <a:prstGeom prst="line">
            <a:avLst/>
          </a:prstGeom>
          <a:noFill/>
          <a:ln w="15875">
            <a:solidFill>
              <a:srgbClr val="C9A2FF"/>
            </a:solidFill>
            <a:prstDash val="solid"/>
          </a:ln>
        </p:spPr>
      </p:sp>
      <p:sp>
        <p:nvSpPr>
          <p:cNvPr id="25" name="Shape 22"/>
          <p:cNvSpPr/>
          <p:nvPr/>
        </p:nvSpPr>
        <p:spPr>
          <a:xfrm flipV="1">
            <a:off x="5455539" y="3511296"/>
            <a:ext cx="0" cy="219456"/>
          </a:xfrm>
          <a:prstGeom prst="line">
            <a:avLst/>
          </a:prstGeom>
          <a:noFill/>
          <a:ln w="15875">
            <a:solidFill>
              <a:srgbClr val="C9A2FF"/>
            </a:solidFill>
            <a:prstDash val="solid"/>
            <a:tailEnd type="triangle"/>
          </a:ln>
        </p:spPr>
      </p:sp>
      <p:sp>
        <p:nvSpPr>
          <p:cNvPr id="26" name="Text 23"/>
          <p:cNvSpPr/>
          <p:nvPr/>
        </p:nvSpPr>
        <p:spPr>
          <a:xfrm>
            <a:off x="4997196" y="3794760"/>
            <a:ext cx="2194560" cy="219456"/>
          </a:xfrm>
          <a:prstGeom prst="rect">
            <a:avLst/>
          </a:prstGeom>
          <a:noFill/>
          <a:ln/>
        </p:spPr>
        <p:txBody>
          <a:bodyPr wrap="square" lIns="0" tIns="0" rIns="0" bIns="0" rtlCol="0" anchor="ctr"/>
          <a:lstStyle/>
          <a:p>
            <a:pPr algn="ctr" indent="0" marL="0">
              <a:buNone/>
            </a:pPr>
            <a:r>
              <a:rPr lang="en-US" sz="1000" dirty="0">
                <a:solidFill>
                  <a:srgbClr val="C9A2FF"/>
                </a:solidFill>
                <a:latin typeface="Aptos" pitchFamily="34" charset="0"/>
                <a:ea typeface="Aptos" pitchFamily="34" charset="-122"/>
                <a:cs typeface="Aptos" pitchFamily="34" charset="-120"/>
              </a:rPr>
              <a:t>Not ready → remediate &amp; retest</a:t>
            </a:r>
            <a:endParaRPr lang="en-US" sz="1000" dirty="0"/>
          </a:p>
        </p:txBody>
      </p:sp>
      <p:sp>
        <p:nvSpPr>
          <p:cNvPr id="27" name="Shape 24"/>
          <p:cNvSpPr/>
          <p:nvPr/>
        </p:nvSpPr>
        <p:spPr>
          <a:xfrm>
            <a:off x="9289161" y="3493008"/>
            <a:ext cx="0" cy="804672"/>
          </a:xfrm>
          <a:prstGeom prst="line">
            <a:avLst/>
          </a:prstGeom>
          <a:noFill/>
          <a:ln w="12700">
            <a:solidFill>
              <a:srgbClr val="A39DB0"/>
            </a:solidFill>
            <a:prstDash val="solid"/>
          </a:ln>
        </p:spPr>
      </p:sp>
      <p:sp>
        <p:nvSpPr>
          <p:cNvPr id="28" name="Shape 25"/>
          <p:cNvSpPr/>
          <p:nvPr/>
        </p:nvSpPr>
        <p:spPr>
          <a:xfrm>
            <a:off x="9289161" y="3931920"/>
            <a:ext cx="238887" cy="0"/>
          </a:xfrm>
          <a:prstGeom prst="line">
            <a:avLst/>
          </a:prstGeom>
          <a:noFill/>
          <a:ln w="12700">
            <a:solidFill>
              <a:srgbClr val="5EE6A8"/>
            </a:solidFill>
            <a:prstDash val="solid"/>
            <a:tailEnd type="triangle"/>
          </a:ln>
        </p:spPr>
      </p:sp>
      <p:sp>
        <p:nvSpPr>
          <p:cNvPr id="29" name="Shape 26"/>
          <p:cNvSpPr/>
          <p:nvPr/>
        </p:nvSpPr>
        <p:spPr>
          <a:xfrm>
            <a:off x="9289161" y="4297680"/>
            <a:ext cx="238887" cy="0"/>
          </a:xfrm>
          <a:prstGeom prst="line">
            <a:avLst/>
          </a:prstGeom>
          <a:noFill/>
          <a:ln w="12700">
            <a:solidFill>
              <a:srgbClr val="F5B94A"/>
            </a:solidFill>
            <a:prstDash val="solid"/>
            <a:tailEnd type="triangle"/>
          </a:ln>
        </p:spPr>
      </p:sp>
      <p:sp>
        <p:nvSpPr>
          <p:cNvPr id="30" name="Text 27"/>
          <p:cNvSpPr/>
          <p:nvPr/>
        </p:nvSpPr>
        <p:spPr>
          <a:xfrm>
            <a:off x="9573768" y="3785616"/>
            <a:ext cx="1737360" cy="292608"/>
          </a:xfrm>
          <a:prstGeom prst="roundRect">
            <a:avLst>
              <a:gd name="adj" fmla="val 50000"/>
            </a:avLst>
          </a:prstGeom>
          <a:solidFill>
            <a:srgbClr val="123A2C"/>
          </a:solidFill>
          <a:ln/>
        </p:spPr>
        <p:txBody>
          <a:bodyPr wrap="square" lIns="0" tIns="0" rIns="0" bIns="0" rtlCol="0" anchor="ctr"/>
          <a:lstStyle/>
          <a:p>
            <a:pPr algn="ctr" indent="0" marL="0">
              <a:buNone/>
            </a:pPr>
            <a:r>
              <a:rPr lang="en-US" sz="1000" b="1" dirty="0">
                <a:solidFill>
                  <a:srgbClr val="5EE6A8"/>
                </a:solidFill>
                <a:latin typeface="Aptos" pitchFamily="34" charset="0"/>
                <a:ea typeface="Aptos" pitchFamily="34" charset="-122"/>
                <a:cs typeface="Aptos" pitchFamily="34" charset="-120"/>
              </a:rPr>
              <a:t>Auto-fix + retry</a:t>
            </a:r>
            <a:endParaRPr lang="en-US" sz="1000" dirty="0"/>
          </a:p>
        </p:txBody>
      </p:sp>
      <p:sp>
        <p:nvSpPr>
          <p:cNvPr id="31" name="Text 28"/>
          <p:cNvSpPr/>
          <p:nvPr/>
        </p:nvSpPr>
        <p:spPr>
          <a:xfrm>
            <a:off x="9573768" y="4151376"/>
            <a:ext cx="1737360" cy="292608"/>
          </a:xfrm>
          <a:prstGeom prst="roundRect">
            <a:avLst>
              <a:gd name="adj" fmla="val 50000"/>
            </a:avLst>
          </a:prstGeom>
          <a:solidFill>
            <a:srgbClr val="3A2A12"/>
          </a:solidFill>
          <a:ln/>
        </p:spPr>
        <p:txBody>
          <a:bodyPr wrap="square" lIns="0" tIns="0" rIns="0" bIns="0" rtlCol="0" anchor="ctr"/>
          <a:lstStyle/>
          <a:p>
            <a:pPr algn="ctr" indent="0" marL="0">
              <a:buNone/>
            </a:pPr>
            <a:r>
              <a:rPr lang="en-US" sz="1000" b="1" dirty="0">
                <a:solidFill>
                  <a:srgbClr val="F5B94A"/>
                </a:solidFill>
                <a:latin typeface="Aptos" pitchFamily="34" charset="0"/>
                <a:ea typeface="Aptos" pitchFamily="34" charset="-122"/>
                <a:cs typeface="Aptos" pitchFamily="34" charset="-120"/>
              </a:rPr>
              <a:t>Human review</a:t>
            </a:r>
            <a:endParaRPr lang="en-US" sz="1000" dirty="0"/>
          </a:p>
        </p:txBody>
      </p:sp>
      <p:sp>
        <p:nvSpPr>
          <p:cNvPr id="32" name="Shape 29"/>
          <p:cNvSpPr/>
          <p:nvPr/>
        </p:nvSpPr>
        <p:spPr>
          <a:xfrm>
            <a:off x="640080" y="4956048"/>
            <a:ext cx="3200400" cy="1243584"/>
          </a:xfrm>
          <a:prstGeom prst="roundRect">
            <a:avLst>
              <a:gd name="adj" fmla="val 8824"/>
            </a:avLst>
          </a:prstGeom>
          <a:solidFill>
            <a:srgbClr val="17141F"/>
          </a:solidFill>
          <a:ln w="9525">
            <a:solidFill>
              <a:srgbClr val="2F2A3A"/>
            </a:solidFill>
            <a:prstDash val="solid"/>
          </a:ln>
        </p:spPr>
      </p:sp>
      <p:sp>
        <p:nvSpPr>
          <p:cNvPr id="33" name="Text 30"/>
          <p:cNvSpPr/>
          <p:nvPr/>
        </p:nvSpPr>
        <p:spPr>
          <a:xfrm>
            <a:off x="868680" y="5111496"/>
            <a:ext cx="2743200" cy="201168"/>
          </a:xfrm>
          <a:prstGeom prst="rect">
            <a:avLst/>
          </a:prstGeom>
          <a:noFill/>
          <a:ln/>
        </p:spPr>
        <p:txBody>
          <a:bodyPr wrap="square" lIns="0" tIns="0" rIns="0" bIns="0" rtlCol="0" anchor="ctr"/>
          <a:lstStyle/>
          <a:p>
            <a:pPr indent="0" marL="0">
              <a:buNone/>
            </a:pPr>
            <a:r>
              <a:rPr lang="en-US" sz="900" b="1" spc="150" kern="0" dirty="0">
                <a:solidFill>
                  <a:srgbClr val="C9A2FF"/>
                </a:solidFill>
                <a:latin typeface="Aptos" pitchFamily="34" charset="0"/>
                <a:ea typeface="Aptos" pitchFamily="34" charset="-122"/>
                <a:cs typeface="Aptos" pitchFamily="34" charset="-120"/>
              </a:rPr>
              <a:t>SOURCE</a:t>
            </a:r>
            <a:endParaRPr lang="en-US" sz="900" dirty="0"/>
          </a:p>
        </p:txBody>
      </p:sp>
      <p:sp>
        <p:nvSpPr>
          <p:cNvPr id="34" name="Text 31"/>
          <p:cNvSpPr/>
          <p:nvPr/>
        </p:nvSpPr>
        <p:spPr>
          <a:xfrm>
            <a:off x="868680" y="5340096"/>
            <a:ext cx="2743200" cy="292608"/>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Jira Service Management</a:t>
            </a:r>
            <a:endParaRPr lang="en-US" sz="1400" dirty="0"/>
          </a:p>
        </p:txBody>
      </p:sp>
      <p:sp>
        <p:nvSpPr>
          <p:cNvPr id="35" name="Text 32"/>
          <p:cNvSpPr/>
          <p:nvPr/>
        </p:nvSpPr>
        <p:spPr>
          <a:xfrm>
            <a:off x="868680" y="5687568"/>
            <a:ext cx="2743200" cy="420624"/>
          </a:xfrm>
          <a:prstGeom prst="rect">
            <a:avLst/>
          </a:prstGeom>
          <a:noFill/>
          <a:ln/>
        </p:spPr>
        <p:txBody>
          <a:bodyPr wrap="square" lIns="0" tIns="0" rIns="0" bIns="0" rtlCol="0" anchor="t"/>
          <a:lstStyle/>
          <a:p>
            <a:pPr indent="0" marL="0">
              <a:buNone/>
            </a:pPr>
            <a:r>
              <a:rPr lang="en-US" sz="1050" dirty="0">
                <a:solidFill>
                  <a:srgbClr val="A39DB0"/>
                </a:solidFill>
                <a:latin typeface="Aptos" pitchFamily="34" charset="0"/>
                <a:ea typeface="Aptos" pitchFamily="34" charset="-122"/>
                <a:cs typeface="Aptos" pitchFamily="34" charset="-120"/>
              </a:rPr>
              <a:t>JSM API / Adapter</a:t>
            </a:r>
            <a:endParaRPr lang="en-US" sz="1050" dirty="0"/>
          </a:p>
          <a:p>
            <a:pPr indent="0" marL="0">
              <a:buNone/>
            </a:pPr>
            <a:r>
              <a:rPr lang="en-US" sz="1050" dirty="0">
                <a:solidFill>
                  <a:srgbClr val="A39DB0"/>
                </a:solidFill>
                <a:latin typeface="Aptos" pitchFamily="34" charset="0"/>
                <a:ea typeface="Aptos" pitchFamily="34" charset="-122"/>
                <a:cs typeface="Aptos" pitchFamily="34" charset="-120"/>
              </a:rPr>
              <a:t>Customers · Tickets</a:t>
            </a:r>
            <a:endParaRPr lang="en-US" sz="1050" dirty="0"/>
          </a:p>
        </p:txBody>
      </p:sp>
      <p:sp>
        <p:nvSpPr>
          <p:cNvPr id="36" name="Shape 33"/>
          <p:cNvSpPr/>
          <p:nvPr/>
        </p:nvSpPr>
        <p:spPr>
          <a:xfrm>
            <a:off x="4128516" y="4956048"/>
            <a:ext cx="3291840" cy="1243584"/>
          </a:xfrm>
          <a:prstGeom prst="roundRect">
            <a:avLst>
              <a:gd name="adj" fmla="val 8824"/>
            </a:avLst>
          </a:prstGeom>
          <a:solidFill>
            <a:srgbClr val="17141F"/>
          </a:solidFill>
          <a:ln w="9525">
            <a:solidFill>
              <a:srgbClr val="2F2A3A"/>
            </a:solidFill>
            <a:prstDash val="solid"/>
          </a:ln>
        </p:spPr>
      </p:sp>
      <p:sp>
        <p:nvSpPr>
          <p:cNvPr id="37" name="Text 34"/>
          <p:cNvSpPr/>
          <p:nvPr/>
        </p:nvSpPr>
        <p:spPr>
          <a:xfrm>
            <a:off x="4357116" y="5111496"/>
            <a:ext cx="2834640" cy="201168"/>
          </a:xfrm>
          <a:prstGeom prst="rect">
            <a:avLst/>
          </a:prstGeom>
          <a:noFill/>
          <a:ln/>
        </p:spPr>
        <p:txBody>
          <a:bodyPr wrap="square" lIns="0" tIns="0" rIns="0" bIns="0" rtlCol="0" anchor="ctr"/>
          <a:lstStyle/>
          <a:p>
            <a:pPr indent="0" marL="0">
              <a:buNone/>
            </a:pPr>
            <a:r>
              <a:rPr lang="en-US" sz="900" b="1" spc="150" kern="0" dirty="0">
                <a:solidFill>
                  <a:srgbClr val="C9A2FF"/>
                </a:solidFill>
                <a:latin typeface="Aptos" pitchFamily="34" charset="0"/>
                <a:ea typeface="Aptos" pitchFamily="34" charset="-122"/>
                <a:cs typeface="Aptos" pitchFamily="34" charset="-120"/>
              </a:rPr>
              <a:t>AI + ORCHESTRATION</a:t>
            </a:r>
            <a:endParaRPr lang="en-US" sz="900" dirty="0"/>
          </a:p>
        </p:txBody>
      </p:sp>
      <p:sp>
        <p:nvSpPr>
          <p:cNvPr id="38" name="Text 35"/>
          <p:cNvSpPr/>
          <p:nvPr/>
        </p:nvSpPr>
        <p:spPr>
          <a:xfrm>
            <a:off x="4357116" y="5340096"/>
            <a:ext cx="2834640" cy="292608"/>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Claude  +  Zen MCP</a:t>
            </a:r>
            <a:endParaRPr lang="en-US" sz="1400" dirty="0"/>
          </a:p>
        </p:txBody>
      </p:sp>
      <p:sp>
        <p:nvSpPr>
          <p:cNvPr id="39" name="Text 36"/>
          <p:cNvSpPr/>
          <p:nvPr/>
        </p:nvSpPr>
        <p:spPr>
          <a:xfrm>
            <a:off x="4357116" y="5687568"/>
            <a:ext cx="2834640" cy="420624"/>
          </a:xfrm>
          <a:prstGeom prst="rect">
            <a:avLst/>
          </a:prstGeom>
          <a:noFill/>
          <a:ln/>
        </p:spPr>
        <p:txBody>
          <a:bodyPr wrap="square" lIns="0" tIns="0" rIns="0" bIns="0" rtlCol="0" anchor="t"/>
          <a:lstStyle/>
          <a:p>
            <a:pPr indent="0" marL="0">
              <a:buNone/>
            </a:pPr>
            <a:r>
              <a:rPr lang="en-US" sz="1050" dirty="0">
                <a:solidFill>
                  <a:srgbClr val="A39DB0"/>
                </a:solidFill>
                <a:latin typeface="Aptos" pitchFamily="34" charset="0"/>
                <a:ea typeface="Aptos" pitchFamily="34" charset="-122"/>
                <a:cs typeface="Aptos" pitchFamily="34" charset="-120"/>
              </a:rPr>
              <a:t>Claude: reasoning &amp; insights</a:t>
            </a:r>
            <a:endParaRPr lang="en-US" sz="1050" dirty="0"/>
          </a:p>
          <a:p>
            <a:pPr indent="0" marL="0">
              <a:buNone/>
            </a:pPr>
            <a:r>
              <a:rPr lang="en-US" sz="1050" dirty="0">
                <a:solidFill>
                  <a:srgbClr val="A39DB0"/>
                </a:solidFill>
                <a:latin typeface="Aptos" pitchFamily="34" charset="0"/>
                <a:ea typeface="Aptos" pitchFamily="34" charset="-122"/>
                <a:cs typeface="Aptos" pitchFamily="34" charset="-120"/>
              </a:rPr>
              <a:t>Zen MCP: orchestration</a:t>
            </a:r>
            <a:endParaRPr lang="en-US" sz="1050" dirty="0"/>
          </a:p>
        </p:txBody>
      </p:sp>
      <p:sp>
        <p:nvSpPr>
          <p:cNvPr id="40" name="Shape 37"/>
          <p:cNvSpPr/>
          <p:nvPr/>
        </p:nvSpPr>
        <p:spPr>
          <a:xfrm>
            <a:off x="7708392" y="4956048"/>
            <a:ext cx="3843223" cy="1243584"/>
          </a:xfrm>
          <a:prstGeom prst="roundRect">
            <a:avLst>
              <a:gd name="adj" fmla="val 8824"/>
            </a:avLst>
          </a:prstGeom>
          <a:solidFill>
            <a:srgbClr val="17141F"/>
          </a:solidFill>
          <a:ln w="9525">
            <a:solidFill>
              <a:srgbClr val="2F2A3A"/>
            </a:solidFill>
            <a:prstDash val="solid"/>
          </a:ln>
        </p:spPr>
      </p:sp>
      <p:sp>
        <p:nvSpPr>
          <p:cNvPr id="41" name="Text 38"/>
          <p:cNvSpPr/>
          <p:nvPr/>
        </p:nvSpPr>
        <p:spPr>
          <a:xfrm>
            <a:off x="7936992" y="5111496"/>
            <a:ext cx="3386023" cy="201168"/>
          </a:xfrm>
          <a:prstGeom prst="rect">
            <a:avLst/>
          </a:prstGeom>
          <a:noFill/>
          <a:ln/>
        </p:spPr>
        <p:txBody>
          <a:bodyPr wrap="square" lIns="0" tIns="0" rIns="0" bIns="0" rtlCol="0" anchor="ctr"/>
          <a:lstStyle/>
          <a:p>
            <a:pPr indent="0" marL="0">
              <a:buNone/>
            </a:pPr>
            <a:r>
              <a:rPr lang="en-US" sz="900" b="1" spc="150" kern="0" dirty="0">
                <a:solidFill>
                  <a:srgbClr val="C9A2FF"/>
                </a:solidFill>
                <a:latin typeface="Aptos" pitchFamily="34" charset="0"/>
                <a:ea typeface="Aptos" pitchFamily="34" charset="-122"/>
                <a:cs typeface="Aptos" pitchFamily="34" charset="-120"/>
              </a:rPr>
              <a:t>TARGET</a:t>
            </a:r>
            <a:endParaRPr lang="en-US" sz="900" dirty="0"/>
          </a:p>
        </p:txBody>
      </p:sp>
      <p:sp>
        <p:nvSpPr>
          <p:cNvPr id="42" name="Text 39"/>
          <p:cNvSpPr/>
          <p:nvPr/>
        </p:nvSpPr>
        <p:spPr>
          <a:xfrm>
            <a:off x="7936992" y="5340096"/>
            <a:ext cx="3386023" cy="292608"/>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Freshservice</a:t>
            </a:r>
            <a:endParaRPr lang="en-US" sz="1400" dirty="0"/>
          </a:p>
        </p:txBody>
      </p:sp>
      <p:sp>
        <p:nvSpPr>
          <p:cNvPr id="43" name="Text 40"/>
          <p:cNvSpPr/>
          <p:nvPr/>
        </p:nvSpPr>
        <p:spPr>
          <a:xfrm>
            <a:off x="7936992" y="5687568"/>
            <a:ext cx="3386023" cy="420624"/>
          </a:xfrm>
          <a:prstGeom prst="rect">
            <a:avLst/>
          </a:prstGeom>
          <a:noFill/>
          <a:ln/>
        </p:spPr>
        <p:txBody>
          <a:bodyPr wrap="square" lIns="0" tIns="0" rIns="0" bIns="0" rtlCol="0" anchor="t"/>
          <a:lstStyle/>
          <a:p>
            <a:pPr indent="0" marL="0">
              <a:buNone/>
            </a:pPr>
            <a:r>
              <a:rPr lang="en-US" sz="1050" dirty="0">
                <a:solidFill>
                  <a:srgbClr val="A39DB0"/>
                </a:solidFill>
                <a:latin typeface="Aptos" pitchFamily="34" charset="0"/>
                <a:ea typeface="Aptos" pitchFamily="34" charset="-122"/>
                <a:cs typeface="Aptos" pitchFamily="34" charset="-120"/>
              </a:rPr>
              <a:t>Product MCP / REST API v2</a:t>
            </a:r>
            <a:endParaRPr lang="en-US" sz="1050" dirty="0"/>
          </a:p>
          <a:p>
            <a:pPr indent="0" marL="0">
              <a:buNone/>
            </a:pPr>
            <a:r>
              <a:rPr lang="en-US" sz="1050" dirty="0">
                <a:solidFill>
                  <a:srgbClr val="A39DB0"/>
                </a:solidFill>
                <a:latin typeface="Aptos" pitchFamily="34" charset="0"/>
                <a:ea typeface="Aptos" pitchFamily="34" charset="-122"/>
                <a:cs typeface="Aptos" pitchFamily="34" charset="-120"/>
              </a:rPr>
              <a:t>Requesters · Tickets · Workspaces · Departments</a:t>
            </a:r>
            <a:endParaRPr lang="en-US" sz="1050" dirty="0"/>
          </a:p>
        </p:txBody>
      </p:sp>
      <p:sp>
        <p:nvSpPr>
          <p:cNvPr id="44" name="Shape 41"/>
          <p:cNvSpPr/>
          <p:nvPr/>
        </p:nvSpPr>
        <p:spPr>
          <a:xfrm flipV="1">
            <a:off x="2899791" y="3511296"/>
            <a:ext cx="0" cy="1426464"/>
          </a:xfrm>
          <a:prstGeom prst="line">
            <a:avLst/>
          </a:prstGeom>
          <a:noFill/>
          <a:ln w="12700">
            <a:solidFill>
              <a:srgbClr val="A39DB0"/>
            </a:solidFill>
            <a:prstDash val="solid"/>
            <a:tailEnd type="triangle"/>
          </a:ln>
        </p:spPr>
      </p:sp>
      <p:sp>
        <p:nvSpPr>
          <p:cNvPr id="45" name="Shape 42"/>
          <p:cNvSpPr/>
          <p:nvPr/>
        </p:nvSpPr>
        <p:spPr>
          <a:xfrm>
            <a:off x="8011287" y="3493008"/>
            <a:ext cx="0" cy="1444752"/>
          </a:xfrm>
          <a:prstGeom prst="line">
            <a:avLst/>
          </a:prstGeom>
          <a:noFill/>
          <a:ln w="12700">
            <a:solidFill>
              <a:srgbClr val="A39DB0"/>
            </a:solidFill>
            <a:prstDash val="solid"/>
            <a:tailEnd type="triangle"/>
          </a:ln>
        </p:spPr>
      </p:sp>
      <p:sp>
        <p:nvSpPr>
          <p:cNvPr id="46" name="Shape 43"/>
          <p:cNvSpPr/>
          <p:nvPr/>
        </p:nvSpPr>
        <p:spPr>
          <a:xfrm>
            <a:off x="5774436" y="4700016"/>
            <a:ext cx="0" cy="237744"/>
          </a:xfrm>
          <a:prstGeom prst="line">
            <a:avLst/>
          </a:prstGeom>
          <a:noFill/>
          <a:ln w="12700">
            <a:solidFill>
              <a:srgbClr val="A39DB0"/>
            </a:solidFill>
            <a:prstDash val="solid"/>
            <a:headEnd type="triangle"/>
            <a:tail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73952"/>
            <a:ext cx="5486400" cy="164592"/>
          </a:xfrm>
          <a:prstGeom prst="rect">
            <a:avLst/>
          </a:prstGeom>
          <a:noFill/>
          <a:ln/>
        </p:spPr>
        <p:txBody>
          <a:bodyPr wrap="square" lIns="0" tIns="0" rIns="0" bIns="0" rtlCol="0" anchor="ctr"/>
          <a:lstStyle/>
          <a:p>
            <a:pPr indent="0" marL="0">
              <a:buNone/>
            </a:pPr>
            <a:r>
              <a:rPr lang="en-US" sz="800" spc="100" kern="0" dirty="0">
                <a:solidFill>
                  <a:srgbClr val="8A8A93"/>
                </a:solidFill>
                <a:latin typeface="Aptos" pitchFamily="34" charset="0"/>
                <a:ea typeface="Aptos" pitchFamily="34" charset="-122"/>
                <a:cs typeface="Aptos" pitchFamily="34" charset="-120"/>
              </a:rPr>
              <a:t>ZEN  ·  AUTONOMOUS ENTERPRISE MIGRATION AGENT</a:t>
            </a:r>
            <a:endParaRPr lang="en-US" sz="800" dirty="0"/>
          </a:p>
        </p:txBody>
      </p:sp>
      <p:sp>
        <p:nvSpPr>
          <p:cNvPr id="3" name="Text 1"/>
          <p:cNvSpPr/>
          <p:nvPr/>
        </p:nvSpPr>
        <p:spPr>
          <a:xfrm>
            <a:off x="11002975" y="6473952"/>
            <a:ext cx="548640" cy="164592"/>
          </a:xfrm>
          <a:prstGeom prst="rect">
            <a:avLst/>
          </a:prstGeom>
          <a:noFill/>
          <a:ln/>
        </p:spPr>
        <p:txBody>
          <a:bodyPr wrap="square" lIns="0" tIns="0" rIns="0" bIns="0" rtlCol="0" anchor="ctr"/>
          <a:lstStyle/>
          <a:p>
            <a:pPr algn="r" indent="0" marL="0">
              <a:buNone/>
            </a:pPr>
            <a:r>
              <a:rPr lang="en-US" sz="800" dirty="0">
                <a:solidFill>
                  <a:srgbClr val="8A8A93"/>
                </a:solidFill>
                <a:latin typeface="Aptos" pitchFamily="34" charset="0"/>
                <a:ea typeface="Aptos" pitchFamily="34" charset="-122"/>
                <a:cs typeface="Aptos" pitchFamily="34" charset="-120"/>
              </a:rPr>
              <a:t>06</a:t>
            </a:r>
            <a:endParaRPr lang="en-US" sz="800" dirty="0"/>
          </a:p>
        </p:txBody>
      </p:sp>
      <p:sp>
        <p:nvSpPr>
          <p:cNvPr id="5" name="Text 2"/>
          <p:cNvSpPr/>
          <p:nvPr/>
        </p:nvSpPr>
        <p:spPr>
          <a:xfrm>
            <a:off x="640080" y="502920"/>
            <a:ext cx="6400800" cy="201168"/>
          </a:xfrm>
          <a:prstGeom prst="rect">
            <a:avLst/>
          </a:prstGeom>
          <a:noFill/>
          <a:ln/>
        </p:spPr>
        <p:txBody>
          <a:bodyPr wrap="square" lIns="0" tIns="0" rIns="0" bIns="0" rtlCol="0" anchor="ctr"/>
          <a:lstStyle/>
          <a:p>
            <a:pPr indent="0" marL="0">
              <a:buNone/>
            </a:pPr>
            <a:r>
              <a:rPr lang="en-US" sz="1050" b="1" spc="200" kern="0" dirty="0">
                <a:solidFill>
                  <a:srgbClr val="9400FF"/>
                </a:solidFill>
                <a:latin typeface="Aptos" pitchFamily="34" charset="0"/>
                <a:ea typeface="Aptos" pitchFamily="34" charset="-122"/>
                <a:cs typeface="Aptos" pitchFamily="34" charset="-120"/>
              </a:rPr>
              <a:t>THE AGENTIC EXPERIENCE</a:t>
            </a:r>
            <a:endParaRPr lang="en-US" sz="1050" dirty="0"/>
          </a:p>
        </p:txBody>
      </p:sp>
      <p:sp>
        <p:nvSpPr>
          <p:cNvPr id="6" name="Text 3"/>
          <p:cNvSpPr/>
          <p:nvPr/>
        </p:nvSpPr>
        <p:spPr>
          <a:xfrm>
            <a:off x="640080" y="768096"/>
            <a:ext cx="10911535" cy="603504"/>
          </a:xfrm>
          <a:prstGeom prst="rect">
            <a:avLst/>
          </a:prstGeom>
          <a:noFill/>
          <a:ln/>
        </p:spPr>
        <p:txBody>
          <a:bodyPr wrap="square" lIns="0" tIns="0" rIns="0" bIns="0" rtlCol="0" anchor="ctr"/>
          <a:lstStyle/>
          <a:p>
            <a:pPr indent="0" marL="0">
              <a:buNone/>
            </a:pPr>
            <a:r>
              <a:rPr lang="en-US" sz="2800" b="1" dirty="0">
                <a:solidFill>
                  <a:srgbClr val="111111"/>
                </a:solidFill>
                <a:latin typeface="Aptos Display" pitchFamily="34" charset="0"/>
                <a:ea typeface="Aptos Display" pitchFamily="34" charset="-122"/>
                <a:cs typeface="Aptos Display" pitchFamily="34" charset="-120"/>
              </a:rPr>
              <a:t>One goal. End-to-end migration.</a:t>
            </a:r>
            <a:endParaRPr lang="en-US" sz="2800" dirty="0"/>
          </a:p>
        </p:txBody>
      </p:sp>
      <p:sp>
        <p:nvSpPr>
          <p:cNvPr id="7" name="Text 4"/>
          <p:cNvSpPr/>
          <p:nvPr/>
        </p:nvSpPr>
        <p:spPr>
          <a:xfrm>
            <a:off x="8259775" y="502920"/>
            <a:ext cx="3291840" cy="201168"/>
          </a:xfrm>
          <a:prstGeom prst="rect">
            <a:avLst/>
          </a:prstGeom>
          <a:noFill/>
          <a:ln/>
        </p:spPr>
        <p:txBody>
          <a:bodyPr wrap="square" lIns="0" tIns="0" rIns="0" bIns="0" rtlCol="0" anchor="ctr"/>
          <a:lstStyle/>
          <a:p>
            <a:pPr algn="r" indent="0" marL="0">
              <a:buNone/>
            </a:pPr>
            <a:r>
              <a:rPr lang="en-US" sz="900" b="1" spc="150" kern="0" dirty="0">
                <a:solidFill>
                  <a:srgbClr val="8A8A93"/>
                </a:solidFill>
                <a:latin typeface="Aptos" pitchFamily="34" charset="0"/>
                <a:ea typeface="Aptos" pitchFamily="34" charset="-122"/>
                <a:cs typeface="Aptos" pitchFamily="34" charset="-120"/>
              </a:rPr>
              <a:t>ILLUSTRATIVE DEMO SCENARIO</a:t>
            </a:r>
            <a:endParaRPr lang="en-US" sz="900" dirty="0"/>
          </a:p>
        </p:txBody>
      </p:sp>
      <p:sp>
        <p:nvSpPr>
          <p:cNvPr id="8" name="Shape 5"/>
          <p:cNvSpPr/>
          <p:nvPr/>
        </p:nvSpPr>
        <p:spPr>
          <a:xfrm>
            <a:off x="640080" y="1554480"/>
            <a:ext cx="10911535" cy="566928"/>
          </a:xfrm>
          <a:prstGeom prst="roundRect">
            <a:avLst>
              <a:gd name="adj" fmla="val 50000"/>
            </a:avLst>
          </a:prstGeom>
          <a:solidFill>
            <a:srgbClr val="FFFFFF"/>
          </a:solidFill>
          <a:ln w="9525">
            <a:solidFill>
              <a:srgbClr val="DCD6E8"/>
            </a:solidFill>
            <a:prstDash val="solid"/>
          </a:ln>
          <a:effectLst>
            <a:outerShdw sx="100000" sy="100000" kx="0" ky="0" algn="bl" rotWithShape="0" blurRad="114300" dist="25400" dir="5400000">
              <a:srgbClr val="2A1650">
                <a:alpha val="10000"/>
              </a:srgbClr>
            </a:outerShdw>
          </a:effectLst>
        </p:spPr>
      </p:sp>
      <p:sp>
        <p:nvSpPr>
          <p:cNvPr id="9" name="Shape 6"/>
          <p:cNvSpPr/>
          <p:nvPr/>
        </p:nvSpPr>
        <p:spPr>
          <a:xfrm>
            <a:off x="731520" y="1636776"/>
            <a:ext cx="402336" cy="402336"/>
          </a:xfrm>
          <a:prstGeom prst="ellipse">
            <a:avLst/>
          </a:prstGeom>
          <a:solidFill>
            <a:srgbClr val="F5ECFF"/>
          </a:solidFill>
          <a:ln/>
        </p:spPr>
      </p:sp>
      <p:sp>
        <p:nvSpPr>
          <p:cNvPr id="10" name="Shape 7"/>
          <p:cNvSpPr/>
          <p:nvPr/>
        </p:nvSpPr>
        <p:spPr>
          <a:xfrm>
            <a:off x="885139" y="1737360"/>
            <a:ext cx="95098" cy="95098"/>
          </a:xfrm>
          <a:prstGeom prst="ellipse">
            <a:avLst/>
          </a:prstGeom>
          <a:solidFill>
            <a:srgbClr val="9400FF"/>
          </a:solidFill>
          <a:ln/>
        </p:spPr>
      </p:sp>
      <p:sp>
        <p:nvSpPr>
          <p:cNvPr id="11" name="Shape 8"/>
          <p:cNvSpPr/>
          <p:nvPr/>
        </p:nvSpPr>
        <p:spPr>
          <a:xfrm>
            <a:off x="837590" y="1849100"/>
            <a:ext cx="190195" cy="190195"/>
          </a:xfrm>
          <a:prstGeom prst="pie">
            <a:avLst>
              <a:gd name="adj1" fmla="val 10800000"/>
              <a:gd name="adj2" fmla="val 0"/>
            </a:avLst>
          </a:prstGeom>
          <a:solidFill>
            <a:srgbClr val="9400FF"/>
          </a:solidFill>
          <a:ln/>
        </p:spPr>
      </p:sp>
      <p:sp>
        <p:nvSpPr>
          <p:cNvPr id="12" name="Text 9"/>
          <p:cNvSpPr/>
          <p:nvPr/>
        </p:nvSpPr>
        <p:spPr>
          <a:xfrm>
            <a:off x="1298448" y="1554480"/>
            <a:ext cx="9052560" cy="566928"/>
          </a:xfrm>
          <a:prstGeom prst="rect">
            <a:avLst/>
          </a:prstGeom>
          <a:noFill/>
          <a:ln/>
        </p:spPr>
        <p:txBody>
          <a:bodyPr wrap="square" lIns="0" tIns="0" rIns="0" bIns="0" rtlCol="0" anchor="ctr"/>
          <a:lstStyle/>
          <a:p>
            <a:pPr indent="0" marL="0">
              <a:buNone/>
            </a:pPr>
            <a:r>
              <a:rPr lang="en-US" sz="1500" b="1" dirty="0">
                <a:solidFill>
                  <a:srgbClr val="111111"/>
                </a:solidFill>
                <a:latin typeface="Aptos" pitchFamily="34" charset="0"/>
                <a:ea typeface="Aptos" pitchFamily="34" charset="-122"/>
                <a:cs typeface="Aptos" pitchFamily="34" charset="-120"/>
              </a:rPr>
              <a:t>“Migrate all employees and tickets from JSM to Freshservice.”</a:t>
            </a:r>
            <a:endParaRPr lang="en-US" sz="1500" dirty="0"/>
          </a:p>
        </p:txBody>
      </p:sp>
      <p:sp>
        <p:nvSpPr>
          <p:cNvPr id="13" name="Text 10"/>
          <p:cNvSpPr/>
          <p:nvPr/>
        </p:nvSpPr>
        <p:spPr>
          <a:xfrm>
            <a:off x="11039551" y="1636776"/>
            <a:ext cx="402336" cy="402336"/>
          </a:xfrm>
          <a:prstGeom prst="ellipse">
            <a:avLst/>
          </a:prstGeom>
          <a:solidFill>
            <a:srgbClr val="9400FF"/>
          </a:solid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14" name="Shape 11"/>
          <p:cNvSpPr/>
          <p:nvPr/>
        </p:nvSpPr>
        <p:spPr>
          <a:xfrm>
            <a:off x="640080" y="2395728"/>
            <a:ext cx="2560320" cy="2212848"/>
          </a:xfrm>
          <a:prstGeom prst="roundRect">
            <a:avLst>
              <a:gd name="adj" fmla="val 4959"/>
            </a:avLst>
          </a:prstGeom>
          <a:solidFill>
            <a:srgbClr val="FFFFFF"/>
          </a:solidFill>
          <a:ln w="9525">
            <a:solidFill>
              <a:srgbClr val="E6E3EC"/>
            </a:solidFill>
            <a:prstDash val="solid"/>
          </a:ln>
          <a:effectLst>
            <a:outerShdw sx="100000" sy="100000" kx="0" ky="0" algn="bl" rotWithShape="0" blurRad="114300" dist="25400" dir="5400000">
              <a:srgbClr val="2A1650">
                <a:alpha val="10000"/>
              </a:srgbClr>
            </a:outerShdw>
          </a:effectLst>
        </p:spPr>
      </p:sp>
      <p:sp>
        <p:nvSpPr>
          <p:cNvPr id="15" name="Text 12"/>
          <p:cNvSpPr/>
          <p:nvPr/>
        </p:nvSpPr>
        <p:spPr>
          <a:xfrm>
            <a:off x="868680" y="2596896"/>
            <a:ext cx="1737360" cy="201168"/>
          </a:xfrm>
          <a:prstGeom prst="rect">
            <a:avLst/>
          </a:prstGeom>
          <a:noFill/>
          <a:ln/>
        </p:spPr>
        <p:txBody>
          <a:bodyPr wrap="square" lIns="0" tIns="0" rIns="0" bIns="0" rtlCol="0" anchor="ctr"/>
          <a:lstStyle/>
          <a:p>
            <a:pPr indent="0" marL="0">
              <a:buNone/>
            </a:pPr>
            <a:r>
              <a:rPr lang="en-US" sz="1000" b="1" spc="150" kern="0" dirty="0">
                <a:solidFill>
                  <a:srgbClr val="9400FF"/>
                </a:solidFill>
                <a:latin typeface="Aptos" pitchFamily="34" charset="0"/>
                <a:ea typeface="Aptos" pitchFamily="34" charset="-122"/>
                <a:cs typeface="Aptos" pitchFamily="34" charset="-120"/>
              </a:rPr>
              <a:t>01  DISCOVER</a:t>
            </a:r>
            <a:endParaRPr lang="en-US" sz="1000" dirty="0"/>
          </a:p>
        </p:txBody>
      </p:sp>
      <p:sp>
        <p:nvSpPr>
          <p:cNvPr id="16" name="Text 13"/>
          <p:cNvSpPr/>
          <p:nvPr/>
        </p:nvSpPr>
        <p:spPr>
          <a:xfrm>
            <a:off x="2743200" y="2578608"/>
            <a:ext cx="237744" cy="237744"/>
          </a:xfrm>
          <a:prstGeom prst="ellipse">
            <a:avLst/>
          </a:prstGeom>
          <a:solidFill>
            <a:srgbClr val="0E9F6E"/>
          </a:solidFill>
          <a:ln/>
        </p:spPr>
        <p:txBody>
          <a:bodyPr wrap="square" lIns="0" tIns="0" rIns="0" bIns="0" rtlCol="0" anchor="ctr"/>
          <a:lstStyle/>
          <a:p>
            <a:pPr algn="ctr" indent="0" marL="0">
              <a:buNone/>
            </a:pPr>
            <a:r>
              <a:rPr lang="en-US" sz="990" b="1" dirty="0">
                <a:solidFill>
                  <a:srgbClr val="FFFFFF"/>
                </a:solidFill>
                <a:latin typeface="Segoe UI Symbol" pitchFamily="34" charset="0"/>
                <a:ea typeface="Segoe UI Symbol" pitchFamily="34" charset="-122"/>
                <a:cs typeface="Segoe UI Symbol" pitchFamily="34" charset="-120"/>
              </a:rPr>
              <a:t>✓</a:t>
            </a:r>
            <a:endParaRPr lang="en-US" sz="990" dirty="0"/>
          </a:p>
        </p:txBody>
      </p:sp>
      <p:sp>
        <p:nvSpPr>
          <p:cNvPr id="17" name="Shape 14"/>
          <p:cNvSpPr/>
          <p:nvPr/>
        </p:nvSpPr>
        <p:spPr>
          <a:xfrm>
            <a:off x="3423818" y="2395728"/>
            <a:ext cx="2560320" cy="2212848"/>
          </a:xfrm>
          <a:prstGeom prst="roundRect">
            <a:avLst>
              <a:gd name="adj" fmla="val 4959"/>
            </a:avLst>
          </a:prstGeom>
          <a:solidFill>
            <a:srgbClr val="FFFFFF"/>
          </a:solidFill>
          <a:ln w="9525">
            <a:solidFill>
              <a:srgbClr val="E6E3EC"/>
            </a:solidFill>
            <a:prstDash val="solid"/>
          </a:ln>
          <a:effectLst>
            <a:outerShdw sx="100000" sy="100000" kx="0" ky="0" algn="bl" rotWithShape="0" blurRad="114300" dist="25400" dir="5400000">
              <a:srgbClr val="2A1650">
                <a:alpha val="10000"/>
              </a:srgbClr>
            </a:outerShdw>
          </a:effectLst>
        </p:spPr>
      </p:sp>
      <p:sp>
        <p:nvSpPr>
          <p:cNvPr id="18" name="Text 15"/>
          <p:cNvSpPr/>
          <p:nvPr/>
        </p:nvSpPr>
        <p:spPr>
          <a:xfrm>
            <a:off x="3652418" y="2596896"/>
            <a:ext cx="1737360" cy="201168"/>
          </a:xfrm>
          <a:prstGeom prst="rect">
            <a:avLst/>
          </a:prstGeom>
          <a:noFill/>
          <a:ln/>
        </p:spPr>
        <p:txBody>
          <a:bodyPr wrap="square" lIns="0" tIns="0" rIns="0" bIns="0" rtlCol="0" anchor="ctr"/>
          <a:lstStyle/>
          <a:p>
            <a:pPr indent="0" marL="0">
              <a:buNone/>
            </a:pPr>
            <a:r>
              <a:rPr lang="en-US" sz="1000" b="1" spc="150" kern="0" dirty="0">
                <a:solidFill>
                  <a:srgbClr val="9400FF"/>
                </a:solidFill>
                <a:latin typeface="Aptos" pitchFamily="34" charset="0"/>
                <a:ea typeface="Aptos" pitchFamily="34" charset="-122"/>
                <a:cs typeface="Aptos" pitchFamily="34" charset="-120"/>
              </a:rPr>
              <a:t>02  MAP</a:t>
            </a:r>
            <a:endParaRPr lang="en-US" sz="1000" dirty="0"/>
          </a:p>
        </p:txBody>
      </p:sp>
      <p:sp>
        <p:nvSpPr>
          <p:cNvPr id="19" name="Text 16"/>
          <p:cNvSpPr/>
          <p:nvPr/>
        </p:nvSpPr>
        <p:spPr>
          <a:xfrm>
            <a:off x="5526938" y="2578608"/>
            <a:ext cx="237744" cy="237744"/>
          </a:xfrm>
          <a:prstGeom prst="ellipse">
            <a:avLst/>
          </a:prstGeom>
          <a:solidFill>
            <a:srgbClr val="0E9F6E"/>
          </a:solidFill>
          <a:ln/>
        </p:spPr>
        <p:txBody>
          <a:bodyPr wrap="square" lIns="0" tIns="0" rIns="0" bIns="0" rtlCol="0" anchor="ctr"/>
          <a:lstStyle/>
          <a:p>
            <a:pPr algn="ctr" indent="0" marL="0">
              <a:buNone/>
            </a:pPr>
            <a:r>
              <a:rPr lang="en-US" sz="990" b="1" dirty="0">
                <a:solidFill>
                  <a:srgbClr val="FFFFFF"/>
                </a:solidFill>
                <a:latin typeface="Segoe UI Symbol" pitchFamily="34" charset="0"/>
                <a:ea typeface="Segoe UI Symbol" pitchFamily="34" charset="-122"/>
                <a:cs typeface="Segoe UI Symbol" pitchFamily="34" charset="-120"/>
              </a:rPr>
              <a:t>✓</a:t>
            </a:r>
            <a:endParaRPr lang="en-US" sz="990" dirty="0"/>
          </a:p>
        </p:txBody>
      </p:sp>
      <p:sp>
        <p:nvSpPr>
          <p:cNvPr id="20" name="Shape 17"/>
          <p:cNvSpPr/>
          <p:nvPr/>
        </p:nvSpPr>
        <p:spPr>
          <a:xfrm>
            <a:off x="6207557" y="2395728"/>
            <a:ext cx="2560320" cy="2212848"/>
          </a:xfrm>
          <a:prstGeom prst="roundRect">
            <a:avLst>
              <a:gd name="adj" fmla="val 4959"/>
            </a:avLst>
          </a:prstGeom>
          <a:solidFill>
            <a:srgbClr val="FFFFFF"/>
          </a:solidFill>
          <a:ln w="9525">
            <a:solidFill>
              <a:srgbClr val="E6E3EC"/>
            </a:solidFill>
            <a:prstDash val="solid"/>
          </a:ln>
          <a:effectLst>
            <a:outerShdw sx="100000" sy="100000" kx="0" ky="0" algn="bl" rotWithShape="0" blurRad="114300" dist="25400" dir="5400000">
              <a:srgbClr val="2A1650">
                <a:alpha val="10000"/>
              </a:srgbClr>
            </a:outerShdw>
          </a:effectLst>
        </p:spPr>
      </p:sp>
      <p:sp>
        <p:nvSpPr>
          <p:cNvPr id="21" name="Text 18"/>
          <p:cNvSpPr/>
          <p:nvPr/>
        </p:nvSpPr>
        <p:spPr>
          <a:xfrm>
            <a:off x="6436157" y="2596896"/>
            <a:ext cx="1737360" cy="201168"/>
          </a:xfrm>
          <a:prstGeom prst="rect">
            <a:avLst/>
          </a:prstGeom>
          <a:noFill/>
          <a:ln/>
        </p:spPr>
        <p:txBody>
          <a:bodyPr wrap="square" lIns="0" tIns="0" rIns="0" bIns="0" rtlCol="0" anchor="ctr"/>
          <a:lstStyle/>
          <a:p>
            <a:pPr indent="0" marL="0">
              <a:buNone/>
            </a:pPr>
            <a:r>
              <a:rPr lang="en-US" sz="1000" b="1" spc="150" kern="0" dirty="0">
                <a:solidFill>
                  <a:srgbClr val="9400FF"/>
                </a:solidFill>
                <a:latin typeface="Aptos" pitchFamily="34" charset="0"/>
                <a:ea typeface="Aptos" pitchFamily="34" charset="-122"/>
                <a:cs typeface="Aptos" pitchFamily="34" charset="-120"/>
              </a:rPr>
              <a:t>03  TEST</a:t>
            </a:r>
            <a:endParaRPr lang="en-US" sz="1000" dirty="0"/>
          </a:p>
        </p:txBody>
      </p:sp>
      <p:sp>
        <p:nvSpPr>
          <p:cNvPr id="22" name="Text 19"/>
          <p:cNvSpPr/>
          <p:nvPr/>
        </p:nvSpPr>
        <p:spPr>
          <a:xfrm>
            <a:off x="8310677" y="2578608"/>
            <a:ext cx="237744" cy="237744"/>
          </a:xfrm>
          <a:prstGeom prst="ellipse">
            <a:avLst/>
          </a:prstGeom>
          <a:solidFill>
            <a:srgbClr val="0E9F6E"/>
          </a:solidFill>
          <a:ln/>
        </p:spPr>
        <p:txBody>
          <a:bodyPr wrap="square" lIns="0" tIns="0" rIns="0" bIns="0" rtlCol="0" anchor="ctr"/>
          <a:lstStyle/>
          <a:p>
            <a:pPr algn="ctr" indent="0" marL="0">
              <a:buNone/>
            </a:pPr>
            <a:r>
              <a:rPr lang="en-US" sz="990" b="1" dirty="0">
                <a:solidFill>
                  <a:srgbClr val="FFFFFF"/>
                </a:solidFill>
                <a:latin typeface="Segoe UI Symbol" pitchFamily="34" charset="0"/>
                <a:ea typeface="Segoe UI Symbol" pitchFamily="34" charset="-122"/>
                <a:cs typeface="Segoe UI Symbol" pitchFamily="34" charset="-120"/>
              </a:rPr>
              <a:t>✓</a:t>
            </a:r>
            <a:endParaRPr lang="en-US" sz="990" dirty="0"/>
          </a:p>
        </p:txBody>
      </p:sp>
      <p:sp>
        <p:nvSpPr>
          <p:cNvPr id="23" name="Shape 20"/>
          <p:cNvSpPr/>
          <p:nvPr/>
        </p:nvSpPr>
        <p:spPr>
          <a:xfrm>
            <a:off x="8991295" y="2395728"/>
            <a:ext cx="2560320" cy="2212848"/>
          </a:xfrm>
          <a:prstGeom prst="roundRect">
            <a:avLst>
              <a:gd name="adj" fmla="val 4959"/>
            </a:avLst>
          </a:prstGeom>
          <a:solidFill>
            <a:srgbClr val="FFFFFF"/>
          </a:solidFill>
          <a:ln w="9525">
            <a:solidFill>
              <a:srgbClr val="E6E3EC"/>
            </a:solidFill>
            <a:prstDash val="solid"/>
          </a:ln>
          <a:effectLst>
            <a:outerShdw sx="100000" sy="100000" kx="0" ky="0" algn="bl" rotWithShape="0" blurRad="114300" dist="25400" dir="5400000">
              <a:srgbClr val="2A1650">
                <a:alpha val="10000"/>
              </a:srgbClr>
            </a:outerShdw>
          </a:effectLst>
        </p:spPr>
      </p:sp>
      <p:sp>
        <p:nvSpPr>
          <p:cNvPr id="24" name="Text 21"/>
          <p:cNvSpPr/>
          <p:nvPr/>
        </p:nvSpPr>
        <p:spPr>
          <a:xfrm>
            <a:off x="9219895" y="2596896"/>
            <a:ext cx="1737360" cy="201168"/>
          </a:xfrm>
          <a:prstGeom prst="rect">
            <a:avLst/>
          </a:prstGeom>
          <a:noFill/>
          <a:ln/>
        </p:spPr>
        <p:txBody>
          <a:bodyPr wrap="square" lIns="0" tIns="0" rIns="0" bIns="0" rtlCol="0" anchor="ctr"/>
          <a:lstStyle/>
          <a:p>
            <a:pPr indent="0" marL="0">
              <a:buNone/>
            </a:pPr>
            <a:r>
              <a:rPr lang="en-US" sz="1000" b="1" spc="150" kern="0" dirty="0">
                <a:solidFill>
                  <a:srgbClr val="9400FF"/>
                </a:solidFill>
                <a:latin typeface="Aptos" pitchFamily="34" charset="0"/>
                <a:ea typeface="Aptos" pitchFamily="34" charset="-122"/>
                <a:cs typeface="Aptos" pitchFamily="34" charset="-120"/>
              </a:rPr>
              <a:t>04  EXECUTE</a:t>
            </a:r>
            <a:endParaRPr lang="en-US" sz="1000" dirty="0"/>
          </a:p>
        </p:txBody>
      </p:sp>
      <p:sp>
        <p:nvSpPr>
          <p:cNvPr id="25" name="Text 22"/>
          <p:cNvSpPr/>
          <p:nvPr/>
        </p:nvSpPr>
        <p:spPr>
          <a:xfrm>
            <a:off x="11094415" y="2578608"/>
            <a:ext cx="237744" cy="237744"/>
          </a:xfrm>
          <a:prstGeom prst="ellipse">
            <a:avLst/>
          </a:prstGeom>
          <a:solidFill>
            <a:srgbClr val="0E9F6E"/>
          </a:solidFill>
          <a:ln/>
        </p:spPr>
        <p:txBody>
          <a:bodyPr wrap="square" lIns="0" tIns="0" rIns="0" bIns="0" rtlCol="0" anchor="ctr"/>
          <a:lstStyle/>
          <a:p>
            <a:pPr algn="ctr" indent="0" marL="0">
              <a:buNone/>
            </a:pPr>
            <a:r>
              <a:rPr lang="en-US" sz="990" b="1" dirty="0">
                <a:solidFill>
                  <a:srgbClr val="FFFFFF"/>
                </a:solidFill>
                <a:latin typeface="Segoe UI Symbol" pitchFamily="34" charset="0"/>
                <a:ea typeface="Segoe UI Symbol" pitchFamily="34" charset="-122"/>
                <a:cs typeface="Segoe UI Symbol" pitchFamily="34" charset="-120"/>
              </a:rPr>
              <a:t>✓</a:t>
            </a:r>
            <a:endParaRPr lang="en-US" sz="990" dirty="0"/>
          </a:p>
        </p:txBody>
      </p:sp>
      <p:sp>
        <p:nvSpPr>
          <p:cNvPr id="26" name="Text 23"/>
          <p:cNvSpPr/>
          <p:nvPr/>
        </p:nvSpPr>
        <p:spPr>
          <a:xfrm>
            <a:off x="868680" y="2980944"/>
            <a:ext cx="914400" cy="201168"/>
          </a:xfrm>
          <a:prstGeom prst="rect">
            <a:avLst/>
          </a:prstGeom>
          <a:noFill/>
          <a:ln/>
        </p:spPr>
        <p:txBody>
          <a:bodyPr wrap="square" lIns="0" tIns="0" rIns="0" bIns="0" rtlCol="0" anchor="ctr"/>
          <a:lstStyle/>
          <a:p>
            <a:pPr indent="0" marL="0">
              <a:buNone/>
            </a:pPr>
            <a:r>
              <a:rPr lang="en-US" sz="850" b="1" spc="150" kern="0" dirty="0">
                <a:solidFill>
                  <a:srgbClr val="8A8A93"/>
                </a:solidFill>
                <a:latin typeface="Aptos" pitchFamily="34" charset="0"/>
                <a:ea typeface="Aptos" pitchFamily="34" charset="-122"/>
                <a:cs typeface="Aptos" pitchFamily="34" charset="-120"/>
              </a:rPr>
              <a:t>JSM</a:t>
            </a:r>
            <a:endParaRPr lang="en-US" sz="850" dirty="0"/>
          </a:p>
        </p:txBody>
      </p:sp>
      <p:sp>
        <p:nvSpPr>
          <p:cNvPr id="27" name="Text 24"/>
          <p:cNvSpPr/>
          <p:nvPr/>
        </p:nvSpPr>
        <p:spPr>
          <a:xfrm>
            <a:off x="1938528" y="2980944"/>
            <a:ext cx="1188720" cy="201168"/>
          </a:xfrm>
          <a:prstGeom prst="rect">
            <a:avLst/>
          </a:prstGeom>
          <a:noFill/>
          <a:ln/>
        </p:spPr>
        <p:txBody>
          <a:bodyPr wrap="square" lIns="0" tIns="0" rIns="0" bIns="0" rtlCol="0" anchor="ctr"/>
          <a:lstStyle/>
          <a:p>
            <a:pPr indent="0" marL="0">
              <a:buNone/>
            </a:pPr>
            <a:r>
              <a:rPr lang="en-US" sz="850" b="1" spc="150" kern="0" dirty="0">
                <a:solidFill>
                  <a:srgbClr val="8A8A93"/>
                </a:solidFill>
                <a:latin typeface="Aptos" pitchFamily="34" charset="0"/>
                <a:ea typeface="Aptos" pitchFamily="34" charset="-122"/>
                <a:cs typeface="Aptos" pitchFamily="34" charset="-120"/>
              </a:rPr>
              <a:t>FRESHSERVICE</a:t>
            </a:r>
            <a:endParaRPr lang="en-US" sz="850" dirty="0"/>
          </a:p>
        </p:txBody>
      </p:sp>
      <p:sp>
        <p:nvSpPr>
          <p:cNvPr id="28" name="Text 25"/>
          <p:cNvSpPr/>
          <p:nvPr/>
        </p:nvSpPr>
        <p:spPr>
          <a:xfrm>
            <a:off x="868680" y="3291840"/>
            <a:ext cx="164592" cy="164592"/>
          </a:xfrm>
          <a:prstGeom prst="ellipse">
            <a:avLst/>
          </a:prstGeom>
          <a:solidFill>
            <a:srgbClr val="0E9F6E"/>
          </a:solidFill>
          <a:ln/>
        </p:spPr>
        <p:txBody>
          <a:bodyPr wrap="square" lIns="0" tIns="0" rIns="0" bIns="0" rtlCol="0" anchor="ctr"/>
          <a:lstStyle/>
          <a:p>
            <a:pPr algn="ctr" indent="0" marL="0">
              <a:buNone/>
            </a:pPr>
            <a:r>
              <a:rPr lang="en-US" sz="680" b="1" dirty="0">
                <a:solidFill>
                  <a:srgbClr val="FFFFFF"/>
                </a:solidFill>
                <a:latin typeface="Segoe UI Symbol" pitchFamily="34" charset="0"/>
                <a:ea typeface="Segoe UI Symbol" pitchFamily="34" charset="-122"/>
                <a:cs typeface="Segoe UI Symbol" pitchFamily="34" charset="-120"/>
              </a:rPr>
              <a:t>✓</a:t>
            </a:r>
            <a:endParaRPr lang="en-US" sz="680" dirty="0"/>
          </a:p>
        </p:txBody>
      </p:sp>
      <p:sp>
        <p:nvSpPr>
          <p:cNvPr id="29" name="Text 26"/>
          <p:cNvSpPr/>
          <p:nvPr/>
        </p:nvSpPr>
        <p:spPr>
          <a:xfrm>
            <a:off x="1097280" y="3264408"/>
            <a:ext cx="1005840" cy="219456"/>
          </a:xfrm>
          <a:prstGeom prst="rect">
            <a:avLst/>
          </a:prstGeom>
          <a:noFill/>
          <a:ln/>
        </p:spPr>
        <p:txBody>
          <a:bodyPr wrap="square" lIns="0" tIns="0" rIns="0" bIns="0" rtlCol="0" anchor="ctr"/>
          <a:lstStyle/>
          <a:p>
            <a:pPr indent="0" marL="0">
              <a:buNone/>
            </a:pPr>
            <a:r>
              <a:rPr lang="en-US" sz="1100" dirty="0">
                <a:solidFill>
                  <a:srgbClr val="111111"/>
                </a:solidFill>
                <a:latin typeface="Aptos" pitchFamily="34" charset="0"/>
                <a:ea typeface="Aptos" pitchFamily="34" charset="-122"/>
                <a:cs typeface="Aptos" pitchFamily="34" charset="-120"/>
              </a:rPr>
              <a:t>Customers</a:t>
            </a:r>
            <a:endParaRPr lang="en-US" sz="1100" dirty="0"/>
          </a:p>
        </p:txBody>
      </p:sp>
      <p:sp>
        <p:nvSpPr>
          <p:cNvPr id="30" name="Text 27"/>
          <p:cNvSpPr/>
          <p:nvPr/>
        </p:nvSpPr>
        <p:spPr>
          <a:xfrm>
            <a:off x="868680" y="3575304"/>
            <a:ext cx="164592" cy="164592"/>
          </a:xfrm>
          <a:prstGeom prst="ellipse">
            <a:avLst/>
          </a:prstGeom>
          <a:solidFill>
            <a:srgbClr val="0E9F6E"/>
          </a:solidFill>
          <a:ln/>
        </p:spPr>
        <p:txBody>
          <a:bodyPr wrap="square" lIns="0" tIns="0" rIns="0" bIns="0" rtlCol="0" anchor="ctr"/>
          <a:lstStyle/>
          <a:p>
            <a:pPr algn="ctr" indent="0" marL="0">
              <a:buNone/>
            </a:pPr>
            <a:r>
              <a:rPr lang="en-US" sz="680" b="1" dirty="0">
                <a:solidFill>
                  <a:srgbClr val="FFFFFF"/>
                </a:solidFill>
                <a:latin typeface="Segoe UI Symbol" pitchFamily="34" charset="0"/>
                <a:ea typeface="Segoe UI Symbol" pitchFamily="34" charset="-122"/>
                <a:cs typeface="Segoe UI Symbol" pitchFamily="34" charset="-120"/>
              </a:rPr>
              <a:t>✓</a:t>
            </a:r>
            <a:endParaRPr lang="en-US" sz="680" dirty="0"/>
          </a:p>
        </p:txBody>
      </p:sp>
      <p:sp>
        <p:nvSpPr>
          <p:cNvPr id="31" name="Text 28"/>
          <p:cNvSpPr/>
          <p:nvPr/>
        </p:nvSpPr>
        <p:spPr>
          <a:xfrm>
            <a:off x="1097280" y="3547872"/>
            <a:ext cx="1005840" cy="219456"/>
          </a:xfrm>
          <a:prstGeom prst="rect">
            <a:avLst/>
          </a:prstGeom>
          <a:noFill/>
          <a:ln/>
        </p:spPr>
        <p:txBody>
          <a:bodyPr wrap="square" lIns="0" tIns="0" rIns="0" bIns="0" rtlCol="0" anchor="ctr"/>
          <a:lstStyle/>
          <a:p>
            <a:pPr indent="0" marL="0">
              <a:buNone/>
            </a:pPr>
            <a:r>
              <a:rPr lang="en-US" sz="1100" dirty="0">
                <a:solidFill>
                  <a:srgbClr val="111111"/>
                </a:solidFill>
                <a:latin typeface="Aptos" pitchFamily="34" charset="0"/>
                <a:ea typeface="Aptos" pitchFamily="34" charset="-122"/>
                <a:cs typeface="Aptos" pitchFamily="34" charset="-120"/>
              </a:rPr>
              <a:t>Tickets</a:t>
            </a:r>
            <a:endParaRPr lang="en-US" sz="1100" dirty="0"/>
          </a:p>
        </p:txBody>
      </p:sp>
      <p:sp>
        <p:nvSpPr>
          <p:cNvPr id="32" name="Text 29"/>
          <p:cNvSpPr/>
          <p:nvPr/>
        </p:nvSpPr>
        <p:spPr>
          <a:xfrm>
            <a:off x="1938528" y="3291840"/>
            <a:ext cx="164592" cy="164592"/>
          </a:xfrm>
          <a:prstGeom prst="ellipse">
            <a:avLst/>
          </a:prstGeom>
          <a:solidFill>
            <a:srgbClr val="0E9F6E"/>
          </a:solidFill>
          <a:ln/>
        </p:spPr>
        <p:txBody>
          <a:bodyPr wrap="square" lIns="0" tIns="0" rIns="0" bIns="0" rtlCol="0" anchor="ctr"/>
          <a:lstStyle/>
          <a:p>
            <a:pPr algn="ctr" indent="0" marL="0">
              <a:buNone/>
            </a:pPr>
            <a:r>
              <a:rPr lang="en-US" sz="680" b="1" dirty="0">
                <a:solidFill>
                  <a:srgbClr val="FFFFFF"/>
                </a:solidFill>
                <a:latin typeface="Segoe UI Symbol" pitchFamily="34" charset="0"/>
                <a:ea typeface="Segoe UI Symbol" pitchFamily="34" charset="-122"/>
                <a:cs typeface="Segoe UI Symbol" pitchFamily="34" charset="-120"/>
              </a:rPr>
              <a:t>✓</a:t>
            </a:r>
            <a:endParaRPr lang="en-US" sz="680" dirty="0"/>
          </a:p>
        </p:txBody>
      </p:sp>
      <p:sp>
        <p:nvSpPr>
          <p:cNvPr id="33" name="Text 30"/>
          <p:cNvSpPr/>
          <p:nvPr/>
        </p:nvSpPr>
        <p:spPr>
          <a:xfrm>
            <a:off x="2167128" y="3264408"/>
            <a:ext cx="1005840" cy="219456"/>
          </a:xfrm>
          <a:prstGeom prst="rect">
            <a:avLst/>
          </a:prstGeom>
          <a:noFill/>
          <a:ln/>
        </p:spPr>
        <p:txBody>
          <a:bodyPr wrap="square" lIns="0" tIns="0" rIns="0" bIns="0" rtlCol="0" anchor="ctr"/>
          <a:lstStyle/>
          <a:p>
            <a:pPr indent="0" marL="0">
              <a:buNone/>
            </a:pPr>
            <a:r>
              <a:rPr lang="en-US" sz="1100" dirty="0">
                <a:solidFill>
                  <a:srgbClr val="111111"/>
                </a:solidFill>
                <a:latin typeface="Aptos" pitchFamily="34" charset="0"/>
                <a:ea typeface="Aptos" pitchFamily="34" charset="-122"/>
                <a:cs typeface="Aptos" pitchFamily="34" charset="-120"/>
              </a:rPr>
              <a:t>Requesters</a:t>
            </a:r>
            <a:endParaRPr lang="en-US" sz="1100" dirty="0"/>
          </a:p>
        </p:txBody>
      </p:sp>
      <p:sp>
        <p:nvSpPr>
          <p:cNvPr id="34" name="Text 31"/>
          <p:cNvSpPr/>
          <p:nvPr/>
        </p:nvSpPr>
        <p:spPr>
          <a:xfrm>
            <a:off x="1938528" y="3575304"/>
            <a:ext cx="164592" cy="164592"/>
          </a:xfrm>
          <a:prstGeom prst="ellipse">
            <a:avLst/>
          </a:prstGeom>
          <a:solidFill>
            <a:srgbClr val="0E9F6E"/>
          </a:solidFill>
          <a:ln/>
        </p:spPr>
        <p:txBody>
          <a:bodyPr wrap="square" lIns="0" tIns="0" rIns="0" bIns="0" rtlCol="0" anchor="ctr"/>
          <a:lstStyle/>
          <a:p>
            <a:pPr algn="ctr" indent="0" marL="0">
              <a:buNone/>
            </a:pPr>
            <a:r>
              <a:rPr lang="en-US" sz="680" b="1" dirty="0">
                <a:solidFill>
                  <a:srgbClr val="FFFFFF"/>
                </a:solidFill>
                <a:latin typeface="Segoe UI Symbol" pitchFamily="34" charset="0"/>
                <a:ea typeface="Segoe UI Symbol" pitchFamily="34" charset="-122"/>
                <a:cs typeface="Segoe UI Symbol" pitchFamily="34" charset="-120"/>
              </a:rPr>
              <a:t>✓</a:t>
            </a:r>
            <a:endParaRPr lang="en-US" sz="680" dirty="0"/>
          </a:p>
        </p:txBody>
      </p:sp>
      <p:sp>
        <p:nvSpPr>
          <p:cNvPr id="35" name="Text 32"/>
          <p:cNvSpPr/>
          <p:nvPr/>
        </p:nvSpPr>
        <p:spPr>
          <a:xfrm>
            <a:off x="2167128" y="3547872"/>
            <a:ext cx="1005840" cy="219456"/>
          </a:xfrm>
          <a:prstGeom prst="rect">
            <a:avLst/>
          </a:prstGeom>
          <a:noFill/>
          <a:ln/>
        </p:spPr>
        <p:txBody>
          <a:bodyPr wrap="square" lIns="0" tIns="0" rIns="0" bIns="0" rtlCol="0" anchor="ctr"/>
          <a:lstStyle/>
          <a:p>
            <a:pPr indent="0" marL="0">
              <a:buNone/>
            </a:pPr>
            <a:r>
              <a:rPr lang="en-US" sz="1100" dirty="0">
                <a:solidFill>
                  <a:srgbClr val="111111"/>
                </a:solidFill>
                <a:latin typeface="Aptos" pitchFamily="34" charset="0"/>
                <a:ea typeface="Aptos" pitchFamily="34" charset="-122"/>
                <a:cs typeface="Aptos" pitchFamily="34" charset="-120"/>
              </a:rPr>
              <a:t>Tickets</a:t>
            </a:r>
            <a:endParaRPr lang="en-US" sz="1100" dirty="0"/>
          </a:p>
        </p:txBody>
      </p:sp>
      <p:sp>
        <p:nvSpPr>
          <p:cNvPr id="36" name="Text 33"/>
          <p:cNvSpPr/>
          <p:nvPr/>
        </p:nvSpPr>
        <p:spPr>
          <a:xfrm>
            <a:off x="1938528" y="3858768"/>
            <a:ext cx="164592" cy="164592"/>
          </a:xfrm>
          <a:prstGeom prst="ellipse">
            <a:avLst/>
          </a:prstGeom>
          <a:solidFill>
            <a:srgbClr val="0E9F6E"/>
          </a:solidFill>
          <a:ln/>
        </p:spPr>
        <p:txBody>
          <a:bodyPr wrap="square" lIns="0" tIns="0" rIns="0" bIns="0" rtlCol="0" anchor="ctr"/>
          <a:lstStyle/>
          <a:p>
            <a:pPr algn="ctr" indent="0" marL="0">
              <a:buNone/>
            </a:pPr>
            <a:r>
              <a:rPr lang="en-US" sz="680" b="1" dirty="0">
                <a:solidFill>
                  <a:srgbClr val="FFFFFF"/>
                </a:solidFill>
                <a:latin typeface="Segoe UI Symbol" pitchFamily="34" charset="0"/>
                <a:ea typeface="Segoe UI Symbol" pitchFamily="34" charset="-122"/>
                <a:cs typeface="Segoe UI Symbol" pitchFamily="34" charset="-120"/>
              </a:rPr>
              <a:t>✓</a:t>
            </a:r>
            <a:endParaRPr lang="en-US" sz="680" dirty="0"/>
          </a:p>
        </p:txBody>
      </p:sp>
      <p:sp>
        <p:nvSpPr>
          <p:cNvPr id="37" name="Text 34"/>
          <p:cNvSpPr/>
          <p:nvPr/>
        </p:nvSpPr>
        <p:spPr>
          <a:xfrm>
            <a:off x="2167128" y="3831336"/>
            <a:ext cx="1005840" cy="219456"/>
          </a:xfrm>
          <a:prstGeom prst="rect">
            <a:avLst/>
          </a:prstGeom>
          <a:noFill/>
          <a:ln/>
        </p:spPr>
        <p:txBody>
          <a:bodyPr wrap="square" lIns="0" tIns="0" rIns="0" bIns="0" rtlCol="0" anchor="ctr"/>
          <a:lstStyle/>
          <a:p>
            <a:pPr indent="0" marL="0">
              <a:buNone/>
            </a:pPr>
            <a:r>
              <a:rPr lang="en-US" sz="1100" dirty="0">
                <a:solidFill>
                  <a:srgbClr val="111111"/>
                </a:solidFill>
                <a:latin typeface="Aptos" pitchFamily="34" charset="0"/>
                <a:ea typeface="Aptos" pitchFamily="34" charset="-122"/>
                <a:cs typeface="Aptos" pitchFamily="34" charset="-120"/>
              </a:rPr>
              <a:t>Workspaces</a:t>
            </a:r>
            <a:endParaRPr lang="en-US" sz="1100" dirty="0"/>
          </a:p>
        </p:txBody>
      </p:sp>
      <p:sp>
        <p:nvSpPr>
          <p:cNvPr id="38" name="Text 35"/>
          <p:cNvSpPr/>
          <p:nvPr/>
        </p:nvSpPr>
        <p:spPr>
          <a:xfrm>
            <a:off x="1938528" y="4142232"/>
            <a:ext cx="164592" cy="164592"/>
          </a:xfrm>
          <a:prstGeom prst="ellipse">
            <a:avLst/>
          </a:prstGeom>
          <a:solidFill>
            <a:srgbClr val="0E9F6E"/>
          </a:solidFill>
          <a:ln/>
        </p:spPr>
        <p:txBody>
          <a:bodyPr wrap="square" lIns="0" tIns="0" rIns="0" bIns="0" rtlCol="0" anchor="ctr"/>
          <a:lstStyle/>
          <a:p>
            <a:pPr algn="ctr" indent="0" marL="0">
              <a:buNone/>
            </a:pPr>
            <a:r>
              <a:rPr lang="en-US" sz="680" b="1" dirty="0">
                <a:solidFill>
                  <a:srgbClr val="FFFFFF"/>
                </a:solidFill>
                <a:latin typeface="Segoe UI Symbol" pitchFamily="34" charset="0"/>
                <a:ea typeface="Segoe UI Symbol" pitchFamily="34" charset="-122"/>
                <a:cs typeface="Segoe UI Symbol" pitchFamily="34" charset="-120"/>
              </a:rPr>
              <a:t>✓</a:t>
            </a:r>
            <a:endParaRPr lang="en-US" sz="680" dirty="0"/>
          </a:p>
        </p:txBody>
      </p:sp>
      <p:sp>
        <p:nvSpPr>
          <p:cNvPr id="39" name="Text 36"/>
          <p:cNvSpPr/>
          <p:nvPr/>
        </p:nvSpPr>
        <p:spPr>
          <a:xfrm>
            <a:off x="2167128" y="4114800"/>
            <a:ext cx="1005840" cy="219456"/>
          </a:xfrm>
          <a:prstGeom prst="rect">
            <a:avLst/>
          </a:prstGeom>
          <a:noFill/>
          <a:ln/>
        </p:spPr>
        <p:txBody>
          <a:bodyPr wrap="square" lIns="0" tIns="0" rIns="0" bIns="0" rtlCol="0" anchor="ctr"/>
          <a:lstStyle/>
          <a:p>
            <a:pPr indent="0" marL="0">
              <a:buNone/>
            </a:pPr>
            <a:r>
              <a:rPr lang="en-US" sz="1100" dirty="0">
                <a:solidFill>
                  <a:srgbClr val="111111"/>
                </a:solidFill>
                <a:latin typeface="Aptos" pitchFamily="34" charset="0"/>
                <a:ea typeface="Aptos" pitchFamily="34" charset="-122"/>
                <a:cs typeface="Aptos" pitchFamily="34" charset="-120"/>
              </a:rPr>
              <a:t>Departments</a:t>
            </a:r>
            <a:endParaRPr lang="en-US" sz="1100" dirty="0"/>
          </a:p>
        </p:txBody>
      </p:sp>
      <p:sp>
        <p:nvSpPr>
          <p:cNvPr id="40" name="Text 37"/>
          <p:cNvSpPr/>
          <p:nvPr/>
        </p:nvSpPr>
        <p:spPr>
          <a:xfrm>
            <a:off x="3652418" y="2852928"/>
            <a:ext cx="2103120" cy="548640"/>
          </a:xfrm>
          <a:prstGeom prst="rect">
            <a:avLst/>
          </a:prstGeom>
          <a:noFill/>
          <a:ln/>
        </p:spPr>
        <p:txBody>
          <a:bodyPr wrap="square" lIns="0" tIns="0" rIns="0" bIns="0" rtlCol="0" anchor="ctr"/>
          <a:lstStyle/>
          <a:p>
            <a:pPr indent="0" marL="0">
              <a:buNone/>
            </a:pPr>
            <a:r>
              <a:rPr lang="en-US" sz="3800" b="1" dirty="0">
                <a:solidFill>
                  <a:srgbClr val="111111"/>
                </a:solidFill>
                <a:latin typeface="Aptos Display" pitchFamily="34" charset="0"/>
                <a:ea typeface="Aptos Display" pitchFamily="34" charset="-122"/>
                <a:cs typeface="Aptos Display" pitchFamily="34" charset="-120"/>
              </a:rPr>
              <a:t>42</a:t>
            </a:r>
            <a:endParaRPr lang="en-US" sz="3800" dirty="0"/>
          </a:p>
        </p:txBody>
      </p:sp>
      <p:sp>
        <p:nvSpPr>
          <p:cNvPr id="41" name="Text 38"/>
          <p:cNvSpPr/>
          <p:nvPr/>
        </p:nvSpPr>
        <p:spPr>
          <a:xfrm>
            <a:off x="3652418" y="3401568"/>
            <a:ext cx="2240280" cy="219456"/>
          </a:xfrm>
          <a:prstGeom prst="rect">
            <a:avLst/>
          </a:prstGeom>
          <a:noFill/>
          <a:ln/>
        </p:spPr>
        <p:txBody>
          <a:bodyPr wrap="square" lIns="0" tIns="0" rIns="0" bIns="0" rtlCol="0" anchor="ctr"/>
          <a:lstStyle/>
          <a:p>
            <a:pPr indent="0" marL="0">
              <a:buNone/>
            </a:pPr>
            <a:r>
              <a:rPr lang="en-US" sz="1100" dirty="0">
                <a:solidFill>
                  <a:srgbClr val="5F5F66"/>
                </a:solidFill>
                <a:latin typeface="Aptos" pitchFamily="34" charset="0"/>
                <a:ea typeface="Aptos" pitchFamily="34" charset="-122"/>
                <a:cs typeface="Aptos" pitchFamily="34" charset="-120"/>
              </a:rPr>
              <a:t>fields discovered</a:t>
            </a:r>
            <a:endParaRPr lang="en-US" sz="1100" dirty="0"/>
          </a:p>
        </p:txBody>
      </p:sp>
      <p:sp>
        <p:nvSpPr>
          <p:cNvPr id="42" name="Shape 39"/>
          <p:cNvSpPr/>
          <p:nvPr/>
        </p:nvSpPr>
        <p:spPr>
          <a:xfrm>
            <a:off x="3652418" y="3785616"/>
            <a:ext cx="1784386" cy="128016"/>
          </a:xfrm>
          <a:prstGeom prst="rect">
            <a:avLst/>
          </a:prstGeom>
          <a:solidFill>
            <a:srgbClr val="0E9F6E"/>
          </a:solidFill>
          <a:ln/>
        </p:spPr>
      </p:sp>
      <p:sp>
        <p:nvSpPr>
          <p:cNvPr id="43" name="Shape 40"/>
          <p:cNvSpPr/>
          <p:nvPr/>
        </p:nvSpPr>
        <p:spPr>
          <a:xfrm>
            <a:off x="5455093" y="3785616"/>
            <a:ext cx="232083" cy="128016"/>
          </a:xfrm>
          <a:prstGeom prst="rect">
            <a:avLst/>
          </a:prstGeom>
          <a:solidFill>
            <a:srgbClr val="9400FF"/>
          </a:solidFill>
          <a:ln/>
        </p:spPr>
      </p:sp>
      <p:sp>
        <p:nvSpPr>
          <p:cNvPr id="44" name="Shape 41"/>
          <p:cNvSpPr/>
          <p:nvPr/>
        </p:nvSpPr>
        <p:spPr>
          <a:xfrm>
            <a:off x="5705464" y="3785616"/>
            <a:ext cx="50074" cy="128016"/>
          </a:xfrm>
          <a:prstGeom prst="rect">
            <a:avLst/>
          </a:prstGeom>
          <a:solidFill>
            <a:srgbClr val="D97706"/>
          </a:solidFill>
          <a:ln/>
        </p:spPr>
      </p:sp>
      <p:sp>
        <p:nvSpPr>
          <p:cNvPr id="45" name="Text 42"/>
          <p:cNvSpPr/>
          <p:nvPr/>
        </p:nvSpPr>
        <p:spPr>
          <a:xfrm>
            <a:off x="3652418" y="4005072"/>
            <a:ext cx="658368" cy="274320"/>
          </a:xfrm>
          <a:prstGeom prst="rect">
            <a:avLst/>
          </a:prstGeom>
          <a:noFill/>
          <a:ln/>
        </p:spPr>
        <p:txBody>
          <a:bodyPr wrap="square" lIns="0" tIns="0" rIns="0" bIns="0" rtlCol="0" anchor="ctr"/>
          <a:lstStyle/>
          <a:p>
            <a:pPr indent="0" marL="0">
              <a:buNone/>
            </a:pPr>
            <a:r>
              <a:rPr lang="en-US" sz="1400" b="1" dirty="0">
                <a:solidFill>
                  <a:srgbClr val="0E9F6E"/>
                </a:solidFill>
                <a:latin typeface="Aptos" pitchFamily="34" charset="0"/>
                <a:ea typeface="Aptos" pitchFamily="34" charset="-122"/>
                <a:cs typeface="Aptos" pitchFamily="34" charset="-120"/>
              </a:rPr>
              <a:t>36</a:t>
            </a:r>
            <a:endParaRPr lang="en-US" sz="1400" dirty="0"/>
          </a:p>
        </p:txBody>
      </p:sp>
      <p:sp>
        <p:nvSpPr>
          <p:cNvPr id="46" name="Text 43"/>
          <p:cNvSpPr/>
          <p:nvPr/>
        </p:nvSpPr>
        <p:spPr>
          <a:xfrm>
            <a:off x="3652418" y="4270248"/>
            <a:ext cx="658368"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high</a:t>
            </a:r>
            <a:endParaRPr lang="en-US" sz="950" dirty="0"/>
          </a:p>
        </p:txBody>
      </p:sp>
      <p:sp>
        <p:nvSpPr>
          <p:cNvPr id="47" name="Text 44"/>
          <p:cNvSpPr/>
          <p:nvPr/>
        </p:nvSpPr>
        <p:spPr>
          <a:xfrm>
            <a:off x="4310786" y="4005072"/>
            <a:ext cx="658368" cy="274320"/>
          </a:xfrm>
          <a:prstGeom prst="rect">
            <a:avLst/>
          </a:prstGeom>
          <a:noFill/>
          <a:ln/>
        </p:spPr>
        <p:txBody>
          <a:bodyPr wrap="square" lIns="0" tIns="0" rIns="0" bIns="0" rtlCol="0" anchor="ctr"/>
          <a:lstStyle/>
          <a:p>
            <a:pPr indent="0" marL="0">
              <a:buNone/>
            </a:pPr>
            <a:r>
              <a:rPr lang="en-US" sz="1400" b="1" dirty="0">
                <a:solidFill>
                  <a:srgbClr val="9400FF"/>
                </a:solidFill>
                <a:latin typeface="Aptos" pitchFamily="34" charset="0"/>
                <a:ea typeface="Aptos" pitchFamily="34" charset="-122"/>
                <a:cs typeface="Aptos" pitchFamily="34" charset="-120"/>
              </a:rPr>
              <a:t>5</a:t>
            </a:r>
            <a:endParaRPr lang="en-US" sz="1400" dirty="0"/>
          </a:p>
        </p:txBody>
      </p:sp>
      <p:sp>
        <p:nvSpPr>
          <p:cNvPr id="48" name="Text 45"/>
          <p:cNvSpPr/>
          <p:nvPr/>
        </p:nvSpPr>
        <p:spPr>
          <a:xfrm>
            <a:off x="4310786" y="4270248"/>
            <a:ext cx="658368"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medium</a:t>
            </a:r>
            <a:endParaRPr lang="en-US" sz="950" dirty="0"/>
          </a:p>
        </p:txBody>
      </p:sp>
      <p:sp>
        <p:nvSpPr>
          <p:cNvPr id="49" name="Text 46"/>
          <p:cNvSpPr/>
          <p:nvPr/>
        </p:nvSpPr>
        <p:spPr>
          <a:xfrm>
            <a:off x="4969154" y="4005072"/>
            <a:ext cx="786384" cy="274320"/>
          </a:xfrm>
          <a:prstGeom prst="rect">
            <a:avLst/>
          </a:prstGeom>
          <a:noFill/>
          <a:ln/>
        </p:spPr>
        <p:txBody>
          <a:bodyPr wrap="square" lIns="0" tIns="0" rIns="0" bIns="0" rtlCol="0" anchor="ctr"/>
          <a:lstStyle/>
          <a:p>
            <a:pPr indent="0" marL="0">
              <a:buNone/>
            </a:pPr>
            <a:r>
              <a:rPr lang="en-US" sz="1400" b="1" dirty="0">
                <a:solidFill>
                  <a:srgbClr val="D97706"/>
                </a:solidFill>
                <a:latin typeface="Aptos" pitchFamily="34" charset="0"/>
                <a:ea typeface="Aptos" pitchFamily="34" charset="-122"/>
                <a:cs typeface="Aptos" pitchFamily="34" charset="-120"/>
              </a:rPr>
              <a:t>1</a:t>
            </a:r>
            <a:endParaRPr lang="en-US" sz="1400" dirty="0"/>
          </a:p>
        </p:txBody>
      </p:sp>
      <p:sp>
        <p:nvSpPr>
          <p:cNvPr id="50" name="Text 47"/>
          <p:cNvSpPr/>
          <p:nvPr/>
        </p:nvSpPr>
        <p:spPr>
          <a:xfrm>
            <a:off x="4969154" y="4270248"/>
            <a:ext cx="786384"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needs review</a:t>
            </a:r>
            <a:endParaRPr lang="en-US" sz="950" dirty="0"/>
          </a:p>
        </p:txBody>
      </p:sp>
      <p:sp>
        <p:nvSpPr>
          <p:cNvPr id="51" name="Text 48"/>
          <p:cNvSpPr/>
          <p:nvPr/>
        </p:nvSpPr>
        <p:spPr>
          <a:xfrm>
            <a:off x="6436157" y="2852928"/>
            <a:ext cx="2103120" cy="548640"/>
          </a:xfrm>
          <a:prstGeom prst="rect">
            <a:avLst/>
          </a:prstGeom>
          <a:noFill/>
          <a:ln/>
        </p:spPr>
        <p:txBody>
          <a:bodyPr wrap="square" lIns="0" tIns="0" rIns="0" bIns="0" rtlCol="0" anchor="ctr"/>
          <a:lstStyle/>
          <a:p>
            <a:pPr indent="0" marL="0">
              <a:buNone/>
            </a:pPr>
            <a:r>
              <a:rPr lang="en-US" sz="3800" b="1" dirty="0">
                <a:solidFill>
                  <a:srgbClr val="111111"/>
                </a:solidFill>
                <a:latin typeface="Aptos Display" pitchFamily="34" charset="0"/>
                <a:ea typeface="Aptos Display" pitchFamily="34" charset="-122"/>
                <a:cs typeface="Aptos Display" pitchFamily="34" charset="-120"/>
              </a:rPr>
              <a:t>100</a:t>
            </a:r>
            <a:endParaRPr lang="en-US" sz="3800" dirty="0"/>
          </a:p>
        </p:txBody>
      </p:sp>
      <p:sp>
        <p:nvSpPr>
          <p:cNvPr id="52" name="Text 49"/>
          <p:cNvSpPr/>
          <p:nvPr/>
        </p:nvSpPr>
        <p:spPr>
          <a:xfrm>
            <a:off x="6436157" y="3401568"/>
            <a:ext cx="2240280" cy="219456"/>
          </a:xfrm>
          <a:prstGeom prst="rect">
            <a:avLst/>
          </a:prstGeom>
          <a:noFill/>
          <a:ln/>
        </p:spPr>
        <p:txBody>
          <a:bodyPr wrap="square" lIns="0" tIns="0" rIns="0" bIns="0" rtlCol="0" anchor="ctr"/>
          <a:lstStyle/>
          <a:p>
            <a:pPr indent="0" marL="0">
              <a:buNone/>
            </a:pPr>
            <a:r>
              <a:rPr lang="en-US" sz="1100" dirty="0">
                <a:solidFill>
                  <a:srgbClr val="5F5F66"/>
                </a:solidFill>
                <a:latin typeface="Aptos" pitchFamily="34" charset="0"/>
                <a:ea typeface="Aptos" pitchFamily="34" charset="-122"/>
                <a:cs typeface="Aptos" pitchFamily="34" charset="-120"/>
              </a:rPr>
              <a:t>sample records tested</a:t>
            </a:r>
            <a:endParaRPr lang="en-US" sz="1100" dirty="0"/>
          </a:p>
        </p:txBody>
      </p:sp>
      <p:sp>
        <p:nvSpPr>
          <p:cNvPr id="53" name="Text 50"/>
          <p:cNvSpPr/>
          <p:nvPr/>
        </p:nvSpPr>
        <p:spPr>
          <a:xfrm>
            <a:off x="6436157" y="3694176"/>
            <a:ext cx="658368" cy="274320"/>
          </a:xfrm>
          <a:prstGeom prst="rect">
            <a:avLst/>
          </a:prstGeom>
          <a:noFill/>
          <a:ln/>
        </p:spPr>
        <p:txBody>
          <a:bodyPr wrap="square" lIns="0" tIns="0" rIns="0" bIns="0" rtlCol="0" anchor="ctr"/>
          <a:lstStyle/>
          <a:p>
            <a:pPr indent="0" marL="0">
              <a:buNone/>
            </a:pPr>
            <a:r>
              <a:rPr lang="en-US" sz="1400" b="1" dirty="0">
                <a:solidFill>
                  <a:srgbClr val="0E9F6E"/>
                </a:solidFill>
                <a:latin typeface="Aptos" pitchFamily="34" charset="0"/>
                <a:ea typeface="Aptos" pitchFamily="34" charset="-122"/>
                <a:cs typeface="Aptos" pitchFamily="34" charset="-120"/>
              </a:rPr>
              <a:t>98</a:t>
            </a:r>
            <a:endParaRPr lang="en-US" sz="1400" dirty="0"/>
          </a:p>
        </p:txBody>
      </p:sp>
      <p:sp>
        <p:nvSpPr>
          <p:cNvPr id="54" name="Text 51"/>
          <p:cNvSpPr/>
          <p:nvPr/>
        </p:nvSpPr>
        <p:spPr>
          <a:xfrm>
            <a:off x="6436157" y="3959352"/>
            <a:ext cx="658368"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passed</a:t>
            </a:r>
            <a:endParaRPr lang="en-US" sz="950" dirty="0"/>
          </a:p>
        </p:txBody>
      </p:sp>
      <p:sp>
        <p:nvSpPr>
          <p:cNvPr id="55" name="Text 52"/>
          <p:cNvSpPr/>
          <p:nvPr/>
        </p:nvSpPr>
        <p:spPr>
          <a:xfrm>
            <a:off x="7094525" y="3694176"/>
            <a:ext cx="786384" cy="274320"/>
          </a:xfrm>
          <a:prstGeom prst="rect">
            <a:avLst/>
          </a:prstGeom>
          <a:noFill/>
          <a:ln/>
        </p:spPr>
        <p:txBody>
          <a:bodyPr wrap="square" lIns="0" tIns="0" rIns="0" bIns="0" rtlCol="0" anchor="ctr"/>
          <a:lstStyle/>
          <a:p>
            <a:pPr indent="0" marL="0">
              <a:buNone/>
            </a:pPr>
            <a:r>
              <a:rPr lang="en-US" sz="1400" b="1" dirty="0">
                <a:solidFill>
                  <a:srgbClr val="9400FF"/>
                </a:solidFill>
                <a:latin typeface="Aptos" pitchFamily="34" charset="0"/>
                <a:ea typeface="Aptos" pitchFamily="34" charset="-122"/>
                <a:cs typeface="Aptos" pitchFamily="34" charset="-120"/>
              </a:rPr>
              <a:t>2</a:t>
            </a:r>
            <a:endParaRPr lang="en-US" sz="1400" dirty="0"/>
          </a:p>
        </p:txBody>
      </p:sp>
      <p:sp>
        <p:nvSpPr>
          <p:cNvPr id="56" name="Text 53"/>
          <p:cNvSpPr/>
          <p:nvPr/>
        </p:nvSpPr>
        <p:spPr>
          <a:xfrm>
            <a:off x="7094525" y="3959352"/>
            <a:ext cx="786384"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auto-fixed</a:t>
            </a:r>
            <a:endParaRPr lang="en-US" sz="950" dirty="0"/>
          </a:p>
        </p:txBody>
      </p:sp>
      <p:sp>
        <p:nvSpPr>
          <p:cNvPr id="57" name="Text 54"/>
          <p:cNvSpPr/>
          <p:nvPr/>
        </p:nvSpPr>
        <p:spPr>
          <a:xfrm>
            <a:off x="7880909" y="3694176"/>
            <a:ext cx="640080" cy="274320"/>
          </a:xfrm>
          <a:prstGeom prst="rect">
            <a:avLst/>
          </a:prstGeom>
          <a:noFill/>
          <a:ln/>
        </p:spPr>
        <p:txBody>
          <a:bodyPr wrap="square" lIns="0" tIns="0" rIns="0" bIns="0" rtlCol="0" anchor="ctr"/>
          <a:lstStyle/>
          <a:p>
            <a:pPr indent="0" marL="0">
              <a:buNone/>
            </a:pPr>
            <a:r>
              <a:rPr lang="en-US" sz="1400" b="1" dirty="0">
                <a:solidFill>
                  <a:srgbClr val="111111"/>
                </a:solidFill>
                <a:latin typeface="Aptos" pitchFamily="34" charset="0"/>
                <a:ea typeface="Aptos" pitchFamily="34" charset="-122"/>
                <a:cs typeface="Aptos" pitchFamily="34" charset="-120"/>
              </a:rPr>
              <a:t>0</a:t>
            </a:r>
            <a:endParaRPr lang="en-US" sz="1400" dirty="0"/>
          </a:p>
        </p:txBody>
      </p:sp>
      <p:sp>
        <p:nvSpPr>
          <p:cNvPr id="58" name="Text 55"/>
          <p:cNvSpPr/>
          <p:nvPr/>
        </p:nvSpPr>
        <p:spPr>
          <a:xfrm>
            <a:off x="7880909" y="3959352"/>
            <a:ext cx="640080"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critical</a:t>
            </a:r>
            <a:endParaRPr lang="en-US" sz="950" dirty="0"/>
          </a:p>
        </p:txBody>
      </p:sp>
      <p:sp>
        <p:nvSpPr>
          <p:cNvPr id="59" name="Text 56"/>
          <p:cNvSpPr/>
          <p:nvPr/>
        </p:nvSpPr>
        <p:spPr>
          <a:xfrm>
            <a:off x="6436157" y="4206240"/>
            <a:ext cx="1783080" cy="274320"/>
          </a:xfrm>
          <a:prstGeom prst="roundRect">
            <a:avLst>
              <a:gd name="adj" fmla="val 50000"/>
            </a:avLst>
          </a:prstGeom>
          <a:solidFill>
            <a:srgbClr val="E7F6EF"/>
          </a:solidFill>
          <a:ln/>
        </p:spPr>
        <p:txBody>
          <a:bodyPr wrap="square" lIns="0" tIns="0" rIns="0" bIns="0" rtlCol="0" anchor="ctr"/>
          <a:lstStyle/>
          <a:p>
            <a:pPr algn="ctr" indent="0" marL="0">
              <a:buNone/>
            </a:pPr>
            <a:r>
              <a:rPr lang="en-US" sz="950" b="1" spc="100" kern="0" dirty="0">
                <a:solidFill>
                  <a:srgbClr val="0E9F6E"/>
                </a:solidFill>
                <a:latin typeface="Aptos" pitchFamily="34" charset="0"/>
                <a:ea typeface="Aptos" pitchFamily="34" charset="-122"/>
                <a:cs typeface="Aptos" pitchFamily="34" charset="-120"/>
              </a:rPr>
              <a:t>●  MIGRATION READY</a:t>
            </a:r>
            <a:endParaRPr lang="en-US" sz="950" dirty="0"/>
          </a:p>
        </p:txBody>
      </p:sp>
      <p:sp>
        <p:nvSpPr>
          <p:cNvPr id="60" name="Text 57"/>
          <p:cNvSpPr/>
          <p:nvPr/>
        </p:nvSpPr>
        <p:spPr>
          <a:xfrm>
            <a:off x="9219895" y="2852928"/>
            <a:ext cx="2103120" cy="548640"/>
          </a:xfrm>
          <a:prstGeom prst="rect">
            <a:avLst/>
          </a:prstGeom>
          <a:noFill/>
          <a:ln/>
        </p:spPr>
        <p:txBody>
          <a:bodyPr wrap="square" lIns="0" tIns="0" rIns="0" bIns="0" rtlCol="0" anchor="ctr"/>
          <a:lstStyle/>
          <a:p>
            <a:pPr indent="0" marL="0">
              <a:buNone/>
            </a:pPr>
            <a:r>
              <a:rPr lang="en-US" sz="3800" b="1" dirty="0">
                <a:solidFill>
                  <a:srgbClr val="0E9F6E"/>
                </a:solidFill>
                <a:latin typeface="Aptos Display" pitchFamily="34" charset="0"/>
                <a:ea typeface="Aptos Display" pitchFamily="34" charset="-122"/>
                <a:cs typeface="Aptos Display" pitchFamily="34" charset="-120"/>
              </a:rPr>
              <a:t>96.5%</a:t>
            </a:r>
            <a:endParaRPr lang="en-US" sz="3800" dirty="0"/>
          </a:p>
        </p:txBody>
      </p:sp>
      <p:sp>
        <p:nvSpPr>
          <p:cNvPr id="61" name="Text 58"/>
          <p:cNvSpPr/>
          <p:nvPr/>
        </p:nvSpPr>
        <p:spPr>
          <a:xfrm>
            <a:off x="9219895" y="3401568"/>
            <a:ext cx="2240280" cy="219456"/>
          </a:xfrm>
          <a:prstGeom prst="rect">
            <a:avLst/>
          </a:prstGeom>
          <a:noFill/>
          <a:ln/>
        </p:spPr>
        <p:txBody>
          <a:bodyPr wrap="square" lIns="0" tIns="0" rIns="0" bIns="0" rtlCol="0" anchor="ctr"/>
          <a:lstStyle/>
          <a:p>
            <a:pPr indent="0" marL="0">
              <a:buNone/>
            </a:pPr>
            <a:r>
              <a:rPr lang="en-US" sz="1050" dirty="0">
                <a:solidFill>
                  <a:srgbClr val="5F5F66"/>
                </a:solidFill>
                <a:latin typeface="Aptos" pitchFamily="34" charset="0"/>
                <a:ea typeface="Aptos" pitchFamily="34" charset="-122"/>
                <a:cs typeface="Aptos" pitchFamily="34" charset="-120"/>
              </a:rPr>
              <a:t>first-pass success · 10,000 records</a:t>
            </a:r>
            <a:endParaRPr lang="en-US" sz="1050" dirty="0"/>
          </a:p>
        </p:txBody>
      </p:sp>
      <p:sp>
        <p:nvSpPr>
          <p:cNvPr id="62" name="Shape 59"/>
          <p:cNvSpPr/>
          <p:nvPr/>
        </p:nvSpPr>
        <p:spPr>
          <a:xfrm>
            <a:off x="9219895" y="3785616"/>
            <a:ext cx="2011223" cy="128016"/>
          </a:xfrm>
          <a:prstGeom prst="rect">
            <a:avLst/>
          </a:prstGeom>
          <a:solidFill>
            <a:srgbClr val="0E9F6E"/>
          </a:solidFill>
          <a:ln/>
        </p:spPr>
      </p:sp>
      <p:sp>
        <p:nvSpPr>
          <p:cNvPr id="63" name="Shape 60"/>
          <p:cNvSpPr/>
          <p:nvPr/>
        </p:nvSpPr>
        <p:spPr>
          <a:xfrm>
            <a:off x="11249406" y="3785616"/>
            <a:ext cx="40599" cy="128016"/>
          </a:xfrm>
          <a:prstGeom prst="rect">
            <a:avLst/>
          </a:prstGeom>
          <a:solidFill>
            <a:srgbClr val="9400FF"/>
          </a:solidFill>
          <a:ln/>
        </p:spPr>
      </p:sp>
      <p:sp>
        <p:nvSpPr>
          <p:cNvPr id="64" name="Shape 61"/>
          <p:cNvSpPr/>
          <p:nvPr/>
        </p:nvSpPr>
        <p:spPr>
          <a:xfrm>
            <a:off x="11308293" y="3785616"/>
            <a:ext cx="27432" cy="128016"/>
          </a:xfrm>
          <a:prstGeom prst="rect">
            <a:avLst/>
          </a:prstGeom>
          <a:solidFill>
            <a:srgbClr val="D97706"/>
          </a:solidFill>
          <a:ln/>
        </p:spPr>
      </p:sp>
      <p:sp>
        <p:nvSpPr>
          <p:cNvPr id="65" name="Text 62"/>
          <p:cNvSpPr/>
          <p:nvPr/>
        </p:nvSpPr>
        <p:spPr>
          <a:xfrm>
            <a:off x="9219895" y="4005072"/>
            <a:ext cx="749808" cy="274320"/>
          </a:xfrm>
          <a:prstGeom prst="rect">
            <a:avLst/>
          </a:prstGeom>
          <a:noFill/>
          <a:ln/>
        </p:spPr>
        <p:txBody>
          <a:bodyPr wrap="square" lIns="0" tIns="0" rIns="0" bIns="0" rtlCol="0" anchor="ctr"/>
          <a:lstStyle/>
          <a:p>
            <a:pPr indent="0" marL="0">
              <a:buNone/>
            </a:pPr>
            <a:r>
              <a:rPr lang="en-US" sz="1400" b="1" dirty="0">
                <a:solidFill>
                  <a:srgbClr val="0E9F6E"/>
                </a:solidFill>
                <a:latin typeface="Aptos" pitchFamily="34" charset="0"/>
                <a:ea typeface="Aptos" pitchFamily="34" charset="-122"/>
                <a:cs typeface="Aptos" pitchFamily="34" charset="-120"/>
              </a:rPr>
              <a:t>9,650</a:t>
            </a:r>
            <a:endParaRPr lang="en-US" sz="1400" dirty="0"/>
          </a:p>
        </p:txBody>
      </p:sp>
      <p:sp>
        <p:nvSpPr>
          <p:cNvPr id="66" name="Text 63"/>
          <p:cNvSpPr/>
          <p:nvPr/>
        </p:nvSpPr>
        <p:spPr>
          <a:xfrm>
            <a:off x="9219895" y="4270248"/>
            <a:ext cx="749808"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migrated</a:t>
            </a:r>
            <a:endParaRPr lang="en-US" sz="950" dirty="0"/>
          </a:p>
        </p:txBody>
      </p:sp>
      <p:sp>
        <p:nvSpPr>
          <p:cNvPr id="67" name="Text 64"/>
          <p:cNvSpPr/>
          <p:nvPr/>
        </p:nvSpPr>
        <p:spPr>
          <a:xfrm>
            <a:off x="9969703" y="4005072"/>
            <a:ext cx="713232" cy="274320"/>
          </a:xfrm>
          <a:prstGeom prst="rect">
            <a:avLst/>
          </a:prstGeom>
          <a:noFill/>
          <a:ln/>
        </p:spPr>
        <p:txBody>
          <a:bodyPr wrap="square" lIns="0" tIns="0" rIns="0" bIns="0" rtlCol="0" anchor="ctr"/>
          <a:lstStyle/>
          <a:p>
            <a:pPr indent="0" marL="0">
              <a:buNone/>
            </a:pPr>
            <a:r>
              <a:rPr lang="en-US" sz="1400" b="1" dirty="0">
                <a:solidFill>
                  <a:srgbClr val="9400FF"/>
                </a:solidFill>
                <a:latin typeface="Aptos" pitchFamily="34" charset="0"/>
                <a:ea typeface="Aptos" pitchFamily="34" charset="-122"/>
                <a:cs typeface="Aptos" pitchFamily="34" charset="-120"/>
              </a:rPr>
              <a:t>280</a:t>
            </a:r>
            <a:endParaRPr lang="en-US" sz="1400" dirty="0"/>
          </a:p>
        </p:txBody>
      </p:sp>
      <p:sp>
        <p:nvSpPr>
          <p:cNvPr id="68" name="Text 65"/>
          <p:cNvSpPr/>
          <p:nvPr/>
        </p:nvSpPr>
        <p:spPr>
          <a:xfrm>
            <a:off x="9969703" y="4270248"/>
            <a:ext cx="713232"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auto-fixed</a:t>
            </a:r>
            <a:endParaRPr lang="en-US" sz="950" dirty="0"/>
          </a:p>
        </p:txBody>
      </p:sp>
      <p:sp>
        <p:nvSpPr>
          <p:cNvPr id="69" name="Text 66"/>
          <p:cNvSpPr/>
          <p:nvPr/>
        </p:nvSpPr>
        <p:spPr>
          <a:xfrm>
            <a:off x="10682935" y="4005072"/>
            <a:ext cx="822960" cy="274320"/>
          </a:xfrm>
          <a:prstGeom prst="rect">
            <a:avLst/>
          </a:prstGeom>
          <a:noFill/>
          <a:ln/>
        </p:spPr>
        <p:txBody>
          <a:bodyPr wrap="square" lIns="0" tIns="0" rIns="0" bIns="0" rtlCol="0" anchor="ctr"/>
          <a:lstStyle/>
          <a:p>
            <a:pPr indent="0" marL="0">
              <a:buNone/>
            </a:pPr>
            <a:r>
              <a:rPr lang="en-US" sz="1400" b="1" dirty="0">
                <a:solidFill>
                  <a:srgbClr val="D97706"/>
                </a:solidFill>
                <a:latin typeface="Aptos" pitchFamily="34" charset="0"/>
                <a:ea typeface="Aptos" pitchFamily="34" charset="-122"/>
                <a:cs typeface="Aptos" pitchFamily="34" charset="-120"/>
              </a:rPr>
              <a:t>70</a:t>
            </a:r>
            <a:endParaRPr lang="en-US" sz="1400" dirty="0"/>
          </a:p>
        </p:txBody>
      </p:sp>
      <p:sp>
        <p:nvSpPr>
          <p:cNvPr id="70" name="Text 67"/>
          <p:cNvSpPr/>
          <p:nvPr/>
        </p:nvSpPr>
        <p:spPr>
          <a:xfrm>
            <a:off x="10682935" y="4270248"/>
            <a:ext cx="822960" cy="182880"/>
          </a:xfrm>
          <a:prstGeom prst="rect">
            <a:avLst/>
          </a:prstGeom>
          <a:noFill/>
          <a:ln/>
        </p:spPr>
        <p:txBody>
          <a:bodyPr wrap="square" lIns="0" tIns="0" rIns="0" bIns="0" rtlCol="0" anchor="ctr"/>
          <a:lstStyle/>
          <a:p>
            <a:pPr indent="0" marL="0">
              <a:buNone/>
            </a:pPr>
            <a:r>
              <a:rPr lang="en-US" sz="950" dirty="0">
                <a:solidFill>
                  <a:srgbClr val="5F5F66"/>
                </a:solidFill>
                <a:latin typeface="Aptos" pitchFamily="34" charset="0"/>
                <a:ea typeface="Aptos" pitchFamily="34" charset="-122"/>
                <a:cs typeface="Aptos" pitchFamily="34" charset="-120"/>
              </a:rPr>
              <a:t>human review</a:t>
            </a:r>
            <a:endParaRPr lang="en-US" sz="950" dirty="0"/>
          </a:p>
        </p:txBody>
      </p:sp>
      <p:sp>
        <p:nvSpPr>
          <p:cNvPr id="71" name="Shape 68"/>
          <p:cNvSpPr/>
          <p:nvPr/>
        </p:nvSpPr>
        <p:spPr>
          <a:xfrm>
            <a:off x="640080" y="4846320"/>
            <a:ext cx="10911535" cy="1371600"/>
          </a:xfrm>
          <a:prstGeom prst="roundRect">
            <a:avLst>
              <a:gd name="adj" fmla="val 9333"/>
            </a:avLst>
          </a:prstGeom>
          <a:solidFill>
            <a:srgbClr val="0D0B12"/>
          </a:solidFill>
          <a:ln/>
        </p:spPr>
      </p:sp>
      <p:sp>
        <p:nvSpPr>
          <p:cNvPr id="72" name="Shape 69"/>
          <p:cNvSpPr/>
          <p:nvPr/>
        </p:nvSpPr>
        <p:spPr>
          <a:xfrm>
            <a:off x="914400" y="5084064"/>
            <a:ext cx="310896" cy="310896"/>
          </a:xfrm>
          <a:prstGeom prst="star4">
            <a:avLst/>
          </a:prstGeom>
          <a:solidFill>
            <a:srgbClr val="C9A2FF"/>
          </a:solidFill>
          <a:ln/>
        </p:spPr>
      </p:sp>
      <p:sp>
        <p:nvSpPr>
          <p:cNvPr id="73" name="Text 70"/>
          <p:cNvSpPr/>
          <p:nvPr/>
        </p:nvSpPr>
        <p:spPr>
          <a:xfrm>
            <a:off x="914400" y="5468112"/>
            <a:ext cx="1417320" cy="566928"/>
          </a:xfrm>
          <a:prstGeom prst="rect">
            <a:avLst/>
          </a:prstGeom>
          <a:noFill/>
          <a:ln/>
        </p:spPr>
        <p:txBody>
          <a:bodyPr wrap="square" lIns="0" tIns="0" rIns="0" bIns="0" rtlCol="0" anchor="t"/>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Claude</a:t>
            </a:r>
            <a:endParaRPr lang="en-US" sz="1500" dirty="0"/>
          </a:p>
          <a:p>
            <a:pPr indent="0" marL="0">
              <a:buNone/>
            </a:pPr>
            <a:r>
              <a:rPr lang="en-US" sz="1500" b="1" dirty="0">
                <a:solidFill>
                  <a:srgbClr val="FFFFFF"/>
                </a:solidFill>
                <a:latin typeface="Aptos Display" pitchFamily="34" charset="0"/>
                <a:ea typeface="Aptos Display" pitchFamily="34" charset="-122"/>
                <a:cs typeface="Aptos Display" pitchFamily="34" charset="-120"/>
              </a:rPr>
              <a:t>explains</a:t>
            </a:r>
            <a:endParaRPr lang="en-US" sz="1500" dirty="0"/>
          </a:p>
        </p:txBody>
      </p:sp>
      <p:sp>
        <p:nvSpPr>
          <p:cNvPr id="74" name="Text 71"/>
          <p:cNvSpPr/>
          <p:nvPr/>
        </p:nvSpPr>
        <p:spPr>
          <a:xfrm>
            <a:off x="2514600" y="5047488"/>
            <a:ext cx="2743200" cy="201168"/>
          </a:xfrm>
          <a:prstGeom prst="rect">
            <a:avLst/>
          </a:prstGeom>
          <a:noFill/>
          <a:ln/>
        </p:spPr>
        <p:txBody>
          <a:bodyPr wrap="square" lIns="0" tIns="0" rIns="0" bIns="0" rtlCol="0" anchor="ctr"/>
          <a:lstStyle/>
          <a:p>
            <a:pPr indent="0" marL="0">
              <a:buNone/>
            </a:pPr>
            <a:r>
              <a:rPr lang="en-US" sz="900" b="1" spc="150" kern="0" dirty="0">
                <a:solidFill>
                  <a:srgbClr val="C9A2FF"/>
                </a:solidFill>
                <a:latin typeface="Aptos" pitchFamily="34" charset="0"/>
                <a:ea typeface="Aptos" pitchFamily="34" charset="-122"/>
                <a:cs typeface="Aptos" pitchFamily="34" charset="-120"/>
              </a:rPr>
              <a:t>WHAT WENT WRONG?</a:t>
            </a:r>
            <a:endParaRPr lang="en-US" sz="900" dirty="0"/>
          </a:p>
        </p:txBody>
      </p:sp>
      <p:sp>
        <p:nvSpPr>
          <p:cNvPr id="75" name="Text 72"/>
          <p:cNvSpPr/>
          <p:nvPr/>
        </p:nvSpPr>
        <p:spPr>
          <a:xfrm>
            <a:off x="2514600" y="5303520"/>
            <a:ext cx="2788920" cy="777240"/>
          </a:xfrm>
          <a:prstGeom prst="rect">
            <a:avLst/>
          </a:prstGeom>
          <a:noFill/>
          <a:ln/>
        </p:spPr>
        <p:txBody>
          <a:bodyPr wrap="square" lIns="0" tIns="0" rIns="0" bIns="0" rtlCol="0" anchor="t"/>
          <a:lstStyle/>
          <a:p>
            <a:pPr indent="0" marL="0">
              <a:buNone/>
            </a:pPr>
            <a:r>
              <a:rPr lang="en-US" sz="1200" dirty="0">
                <a:solidFill>
                  <a:srgbClr val="FFFFFF"/>
                </a:solidFill>
                <a:latin typeface="Aptos" pitchFamily="34" charset="0"/>
                <a:ea typeface="Aptos" pitchFamily="34" charset="-122"/>
                <a:cs typeface="Aptos" pitchFamily="34" charset="-120"/>
              </a:rPr>
              <a:t>Missing requester information was the primary failure category.</a:t>
            </a:r>
            <a:endParaRPr lang="en-US" sz="1200" dirty="0"/>
          </a:p>
        </p:txBody>
      </p:sp>
      <p:sp>
        <p:nvSpPr>
          <p:cNvPr id="76" name="Shape 73"/>
          <p:cNvSpPr/>
          <p:nvPr/>
        </p:nvSpPr>
        <p:spPr>
          <a:xfrm>
            <a:off x="5330952" y="5074920"/>
            <a:ext cx="0" cy="914400"/>
          </a:xfrm>
          <a:prstGeom prst="line">
            <a:avLst/>
          </a:prstGeom>
          <a:noFill/>
          <a:ln w="9525">
            <a:solidFill>
              <a:srgbClr val="2F2A3A"/>
            </a:solidFill>
            <a:prstDash val="solid"/>
          </a:ln>
        </p:spPr>
      </p:sp>
      <p:sp>
        <p:nvSpPr>
          <p:cNvPr id="77" name="Text 74"/>
          <p:cNvSpPr/>
          <p:nvPr/>
        </p:nvSpPr>
        <p:spPr>
          <a:xfrm>
            <a:off x="5513832" y="5047488"/>
            <a:ext cx="2743200" cy="201168"/>
          </a:xfrm>
          <a:prstGeom prst="rect">
            <a:avLst/>
          </a:prstGeom>
          <a:noFill/>
          <a:ln/>
        </p:spPr>
        <p:txBody>
          <a:bodyPr wrap="square" lIns="0" tIns="0" rIns="0" bIns="0" rtlCol="0" anchor="ctr"/>
          <a:lstStyle/>
          <a:p>
            <a:pPr indent="0" marL="0">
              <a:buNone/>
            </a:pPr>
            <a:r>
              <a:rPr lang="en-US" sz="900" b="1" spc="150" kern="0" dirty="0">
                <a:solidFill>
                  <a:srgbClr val="C9A2FF"/>
                </a:solidFill>
                <a:latin typeface="Aptos" pitchFamily="34" charset="0"/>
                <a:ea typeface="Aptos" pitchFamily="34" charset="-122"/>
                <a:cs typeface="Aptos" pitchFamily="34" charset="-120"/>
              </a:rPr>
              <a:t>WHAT DID ZEN FIX?</a:t>
            </a:r>
            <a:endParaRPr lang="en-US" sz="900" dirty="0"/>
          </a:p>
        </p:txBody>
      </p:sp>
      <p:sp>
        <p:nvSpPr>
          <p:cNvPr id="78" name="Text 75"/>
          <p:cNvSpPr/>
          <p:nvPr/>
        </p:nvSpPr>
        <p:spPr>
          <a:xfrm>
            <a:off x="5513832" y="5303520"/>
            <a:ext cx="2788920" cy="777240"/>
          </a:xfrm>
          <a:prstGeom prst="rect">
            <a:avLst/>
          </a:prstGeom>
          <a:noFill/>
          <a:ln/>
        </p:spPr>
        <p:txBody>
          <a:bodyPr wrap="square" lIns="0" tIns="0" rIns="0" bIns="0" rtlCol="0" anchor="t"/>
          <a:lstStyle/>
          <a:p>
            <a:pPr indent="0" marL="0">
              <a:buNone/>
            </a:pPr>
            <a:r>
              <a:rPr lang="en-US" sz="1200" dirty="0">
                <a:solidFill>
                  <a:srgbClr val="FFFFFF"/>
                </a:solidFill>
                <a:latin typeface="Aptos" pitchFamily="34" charset="0"/>
                <a:ea typeface="Aptos" pitchFamily="34" charset="-122"/>
                <a:cs typeface="Aptos" pitchFamily="34" charset="-120"/>
              </a:rPr>
              <a:t>Matched existing requesters by email and normalized known department values.</a:t>
            </a:r>
            <a:endParaRPr lang="en-US" sz="1200" dirty="0"/>
          </a:p>
        </p:txBody>
      </p:sp>
      <p:sp>
        <p:nvSpPr>
          <p:cNvPr id="79" name="Shape 76"/>
          <p:cNvSpPr/>
          <p:nvPr/>
        </p:nvSpPr>
        <p:spPr>
          <a:xfrm>
            <a:off x="8330184" y="5074920"/>
            <a:ext cx="0" cy="914400"/>
          </a:xfrm>
          <a:prstGeom prst="line">
            <a:avLst/>
          </a:prstGeom>
          <a:noFill/>
          <a:ln w="9525">
            <a:solidFill>
              <a:srgbClr val="2F2A3A"/>
            </a:solidFill>
            <a:prstDash val="solid"/>
          </a:ln>
        </p:spPr>
      </p:sp>
      <p:sp>
        <p:nvSpPr>
          <p:cNvPr id="80" name="Text 77"/>
          <p:cNvSpPr/>
          <p:nvPr/>
        </p:nvSpPr>
        <p:spPr>
          <a:xfrm>
            <a:off x="8513064" y="5047488"/>
            <a:ext cx="2743200" cy="201168"/>
          </a:xfrm>
          <a:prstGeom prst="rect">
            <a:avLst/>
          </a:prstGeom>
          <a:noFill/>
          <a:ln/>
        </p:spPr>
        <p:txBody>
          <a:bodyPr wrap="square" lIns="0" tIns="0" rIns="0" bIns="0" rtlCol="0" anchor="ctr"/>
          <a:lstStyle/>
          <a:p>
            <a:pPr indent="0" marL="0">
              <a:buNone/>
            </a:pPr>
            <a:r>
              <a:rPr lang="en-US" sz="900" b="1" spc="150" kern="0" dirty="0">
                <a:solidFill>
                  <a:srgbClr val="C9A2FF"/>
                </a:solidFill>
                <a:latin typeface="Aptos" pitchFamily="34" charset="0"/>
                <a:ea typeface="Aptos" pitchFamily="34" charset="-122"/>
                <a:cs typeface="Aptos" pitchFamily="34" charset="-120"/>
              </a:rPr>
              <a:t>WHAT REMAINS?</a:t>
            </a:r>
            <a:endParaRPr lang="en-US" sz="900" dirty="0"/>
          </a:p>
        </p:txBody>
      </p:sp>
      <p:sp>
        <p:nvSpPr>
          <p:cNvPr id="81" name="Text 78"/>
          <p:cNvSpPr/>
          <p:nvPr/>
        </p:nvSpPr>
        <p:spPr>
          <a:xfrm>
            <a:off x="8513064" y="5303520"/>
            <a:ext cx="2788920" cy="777240"/>
          </a:xfrm>
          <a:prstGeom prst="rect">
            <a:avLst/>
          </a:prstGeom>
          <a:noFill/>
          <a:ln/>
        </p:spPr>
        <p:txBody>
          <a:bodyPr wrap="square" lIns="0" tIns="0" rIns="0" bIns="0" rtlCol="0" anchor="t"/>
          <a:lstStyle/>
          <a:p>
            <a:pPr indent="0" marL="0">
              <a:buNone/>
            </a:pPr>
            <a:r>
              <a:rPr lang="en-US" sz="1200" dirty="0">
                <a:solidFill>
                  <a:srgbClr val="FFFFFF"/>
                </a:solidFill>
                <a:latin typeface="Aptos" pitchFamily="34" charset="0"/>
                <a:ea typeface="Aptos" pitchFamily="34" charset="-122"/>
                <a:cs typeface="Aptos" pitchFamily="34" charset="-120"/>
              </a:rPr>
              <a:t>70 records need human review — no reliable requester match was found.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73952"/>
            <a:ext cx="5486400" cy="164592"/>
          </a:xfrm>
          <a:prstGeom prst="rect">
            <a:avLst/>
          </a:prstGeom>
          <a:noFill/>
          <a:ln/>
        </p:spPr>
        <p:txBody>
          <a:bodyPr wrap="square" lIns="0" tIns="0" rIns="0" bIns="0" rtlCol="0" anchor="ctr"/>
          <a:lstStyle/>
          <a:p>
            <a:pPr indent="0" marL="0">
              <a:buNone/>
            </a:pPr>
            <a:r>
              <a:rPr lang="en-US" sz="800" spc="100" kern="0" dirty="0">
                <a:solidFill>
                  <a:srgbClr val="8A8A93"/>
                </a:solidFill>
                <a:latin typeface="Aptos" pitchFamily="34" charset="0"/>
                <a:ea typeface="Aptos" pitchFamily="34" charset="-122"/>
                <a:cs typeface="Aptos" pitchFamily="34" charset="-120"/>
              </a:rPr>
              <a:t>ZEN  ·  AUTONOMOUS ENTERPRISE MIGRATION AGENT</a:t>
            </a:r>
            <a:endParaRPr lang="en-US" sz="800" dirty="0"/>
          </a:p>
        </p:txBody>
      </p:sp>
      <p:sp>
        <p:nvSpPr>
          <p:cNvPr id="3" name="Text 1"/>
          <p:cNvSpPr/>
          <p:nvPr/>
        </p:nvSpPr>
        <p:spPr>
          <a:xfrm>
            <a:off x="11002975" y="6473952"/>
            <a:ext cx="548640" cy="164592"/>
          </a:xfrm>
          <a:prstGeom prst="rect">
            <a:avLst/>
          </a:prstGeom>
          <a:noFill/>
          <a:ln/>
        </p:spPr>
        <p:txBody>
          <a:bodyPr wrap="square" lIns="0" tIns="0" rIns="0" bIns="0" rtlCol="0" anchor="ctr"/>
          <a:lstStyle/>
          <a:p>
            <a:pPr algn="r" indent="0" marL="0">
              <a:buNone/>
            </a:pPr>
            <a:r>
              <a:rPr lang="en-US" sz="800" dirty="0">
                <a:solidFill>
                  <a:srgbClr val="8A8A93"/>
                </a:solidFill>
                <a:latin typeface="Aptos" pitchFamily="34" charset="0"/>
                <a:ea typeface="Aptos" pitchFamily="34" charset="-122"/>
                <a:cs typeface="Aptos" pitchFamily="34" charset="-120"/>
              </a:rPr>
              <a:t>07</a:t>
            </a:r>
            <a:endParaRPr lang="en-US" sz="800" dirty="0"/>
          </a:p>
        </p:txBody>
      </p:sp>
      <p:sp>
        <p:nvSpPr>
          <p:cNvPr id="5" name="Text 2"/>
          <p:cNvSpPr/>
          <p:nvPr/>
        </p:nvSpPr>
        <p:spPr>
          <a:xfrm>
            <a:off x="640080" y="502920"/>
            <a:ext cx="6400800" cy="201168"/>
          </a:xfrm>
          <a:prstGeom prst="rect">
            <a:avLst/>
          </a:prstGeom>
          <a:noFill/>
          <a:ln/>
        </p:spPr>
        <p:txBody>
          <a:bodyPr wrap="square" lIns="0" tIns="0" rIns="0" bIns="0" rtlCol="0" anchor="ctr"/>
          <a:lstStyle/>
          <a:p>
            <a:pPr indent="0" marL="0">
              <a:buNone/>
            </a:pPr>
            <a:r>
              <a:rPr lang="en-US" sz="1050" b="1" spc="200" kern="0" dirty="0">
                <a:solidFill>
                  <a:srgbClr val="9400FF"/>
                </a:solidFill>
                <a:latin typeface="Aptos" pitchFamily="34" charset="0"/>
                <a:ea typeface="Aptos" pitchFamily="34" charset="-122"/>
                <a:cs typeface="Aptos" pitchFamily="34" charset="-120"/>
              </a:rPr>
              <a:t>WHAT MAKES ZEN DIFFERENT</a:t>
            </a:r>
            <a:endParaRPr lang="en-US" sz="1050" dirty="0"/>
          </a:p>
        </p:txBody>
      </p:sp>
      <p:sp>
        <p:nvSpPr>
          <p:cNvPr id="6" name="Text 3"/>
          <p:cNvSpPr/>
          <p:nvPr/>
        </p:nvSpPr>
        <p:spPr>
          <a:xfrm>
            <a:off x="640080" y="768096"/>
            <a:ext cx="10911535" cy="603504"/>
          </a:xfrm>
          <a:prstGeom prst="rect">
            <a:avLst/>
          </a:prstGeom>
          <a:noFill/>
          <a:ln/>
        </p:spPr>
        <p:txBody>
          <a:bodyPr wrap="square" lIns="0" tIns="0" rIns="0" bIns="0" rtlCol="0" anchor="ctr"/>
          <a:lstStyle/>
          <a:p>
            <a:pPr indent="0" marL="0">
              <a:buNone/>
            </a:pPr>
            <a:r>
              <a:rPr lang="en-US" sz="2800" b="1" dirty="0">
                <a:solidFill>
                  <a:srgbClr val="111111"/>
                </a:solidFill>
                <a:latin typeface="Aptos Display" pitchFamily="34" charset="0"/>
                <a:ea typeface="Aptos Display" pitchFamily="34" charset="-122"/>
                <a:cs typeface="Aptos Display" pitchFamily="34" charset="-120"/>
              </a:rPr>
              <a:t>From migration execution to migration autonomy</a:t>
            </a:r>
            <a:endParaRPr lang="en-US" sz="2800" dirty="0"/>
          </a:p>
        </p:txBody>
      </p:sp>
      <p:sp>
        <p:nvSpPr>
          <p:cNvPr id="7" name="Text 4"/>
          <p:cNvSpPr/>
          <p:nvPr/>
        </p:nvSpPr>
        <p:spPr>
          <a:xfrm>
            <a:off x="640080" y="1389888"/>
            <a:ext cx="10911535" cy="310896"/>
          </a:xfrm>
          <a:prstGeom prst="rect">
            <a:avLst/>
          </a:prstGeom>
          <a:noFill/>
          <a:ln/>
        </p:spPr>
        <p:txBody>
          <a:bodyPr wrap="square" lIns="0" tIns="0" rIns="0" bIns="0" rtlCol="0" anchor="ctr"/>
          <a:lstStyle/>
          <a:p>
            <a:pPr indent="0" marL="0">
              <a:buNone/>
            </a:pPr>
            <a:r>
              <a:rPr lang="en-US" sz="1400" dirty="0">
                <a:solidFill>
                  <a:srgbClr val="5F5F66"/>
                </a:solidFill>
                <a:latin typeface="Aptos" pitchFamily="34" charset="0"/>
                <a:ea typeface="Aptos" pitchFamily="34" charset="-122"/>
                <a:cs typeface="Aptos" pitchFamily="34" charset="-120"/>
              </a:rPr>
              <a:t>Existing tools prove mapping, test runs and validation work. Zen unifies them in one goal-driven agent.</a:t>
            </a:r>
            <a:endParaRPr lang="en-US" sz="1400" dirty="0"/>
          </a:p>
        </p:txBody>
      </p:sp>
      <p:sp>
        <p:nvSpPr>
          <p:cNvPr id="8" name="Text 5"/>
          <p:cNvSpPr/>
          <p:nvPr/>
        </p:nvSpPr>
        <p:spPr>
          <a:xfrm>
            <a:off x="868680" y="2103120"/>
            <a:ext cx="3017520" cy="201168"/>
          </a:xfrm>
          <a:prstGeom prst="rect">
            <a:avLst/>
          </a:prstGeom>
          <a:noFill/>
          <a:ln/>
        </p:spPr>
        <p:txBody>
          <a:bodyPr wrap="square" lIns="0" tIns="0" rIns="0" bIns="0" rtlCol="0" anchor="ctr"/>
          <a:lstStyle/>
          <a:p>
            <a:pPr indent="0" marL="0">
              <a:buNone/>
            </a:pPr>
            <a:r>
              <a:rPr lang="en-US" sz="950" b="1" spc="150" kern="0" dirty="0">
                <a:solidFill>
                  <a:srgbClr val="8A8A93"/>
                </a:solidFill>
                <a:latin typeface="Aptos" pitchFamily="34" charset="0"/>
                <a:ea typeface="Aptos" pitchFamily="34" charset="-122"/>
                <a:cs typeface="Aptos" pitchFamily="34" charset="-120"/>
              </a:rPr>
              <a:t>TRADITIONAL APPROACH</a:t>
            </a:r>
            <a:endParaRPr lang="en-US" sz="950" dirty="0"/>
          </a:p>
        </p:txBody>
      </p:sp>
      <p:sp>
        <p:nvSpPr>
          <p:cNvPr id="9" name="Text 6"/>
          <p:cNvSpPr/>
          <p:nvPr/>
        </p:nvSpPr>
        <p:spPr>
          <a:xfrm>
            <a:off x="4864608" y="2103120"/>
            <a:ext cx="2926080" cy="201168"/>
          </a:xfrm>
          <a:prstGeom prst="rect">
            <a:avLst/>
          </a:prstGeom>
          <a:noFill/>
          <a:ln/>
        </p:spPr>
        <p:txBody>
          <a:bodyPr wrap="square" lIns="0" tIns="0" rIns="0" bIns="0" rtlCol="0" anchor="ctr"/>
          <a:lstStyle/>
          <a:p>
            <a:pPr indent="0" marL="0">
              <a:buNone/>
            </a:pPr>
            <a:r>
              <a:rPr lang="en-US" sz="950" b="1" spc="150" kern="0" dirty="0">
                <a:solidFill>
                  <a:srgbClr val="9400FF"/>
                </a:solidFill>
                <a:latin typeface="Aptos" pitchFamily="34" charset="0"/>
                <a:ea typeface="Aptos" pitchFamily="34" charset="-122"/>
                <a:cs typeface="Aptos" pitchFamily="34" charset="-120"/>
              </a:rPr>
              <a:t>ZEN</a:t>
            </a:r>
            <a:endParaRPr lang="en-US" sz="950" dirty="0"/>
          </a:p>
        </p:txBody>
      </p:sp>
      <p:sp>
        <p:nvSpPr>
          <p:cNvPr id="10" name="Shape 7"/>
          <p:cNvSpPr/>
          <p:nvPr/>
        </p:nvSpPr>
        <p:spPr>
          <a:xfrm>
            <a:off x="640080" y="2377440"/>
            <a:ext cx="7223760" cy="0"/>
          </a:xfrm>
          <a:prstGeom prst="line">
            <a:avLst/>
          </a:prstGeom>
          <a:noFill/>
          <a:ln w="12700">
            <a:solidFill>
              <a:srgbClr val="D9D6DF"/>
            </a:solidFill>
            <a:prstDash val="solid"/>
          </a:ln>
        </p:spPr>
      </p:sp>
      <p:sp>
        <p:nvSpPr>
          <p:cNvPr id="11" name="Text 8"/>
          <p:cNvSpPr/>
          <p:nvPr/>
        </p:nvSpPr>
        <p:spPr>
          <a:xfrm>
            <a:off x="868680" y="2395728"/>
            <a:ext cx="3108960" cy="493776"/>
          </a:xfrm>
          <a:prstGeom prst="rect">
            <a:avLst/>
          </a:prstGeom>
          <a:noFill/>
          <a:ln/>
        </p:spPr>
        <p:txBody>
          <a:bodyPr wrap="square" lIns="0" tIns="0" rIns="0" bIns="0" rtlCol="0" anchor="ctr"/>
          <a:lstStyle/>
          <a:p>
            <a:pPr indent="0" marL="0">
              <a:buNone/>
            </a:pPr>
            <a:r>
              <a:rPr lang="en-US" sz="1300" dirty="0">
                <a:solidFill>
                  <a:srgbClr val="5F5F66"/>
                </a:solidFill>
                <a:latin typeface="Aptos" pitchFamily="34" charset="0"/>
                <a:ea typeface="Aptos" pitchFamily="34" charset="-122"/>
                <a:cs typeface="Aptos" pitchFamily="34" charset="-120"/>
              </a:rPr>
              <a:t>Human defines every step</a:t>
            </a:r>
            <a:endParaRPr lang="en-US" sz="1300" dirty="0"/>
          </a:p>
        </p:txBody>
      </p:sp>
      <p:sp>
        <p:nvSpPr>
          <p:cNvPr id="12" name="Text 9"/>
          <p:cNvSpPr/>
          <p:nvPr/>
        </p:nvSpPr>
        <p:spPr>
          <a:xfrm>
            <a:off x="4041648" y="2395728"/>
            <a:ext cx="365760" cy="493776"/>
          </a:xfrm>
          <a:prstGeom prst="rect">
            <a:avLst/>
          </a:prstGeom>
          <a:noFill/>
          <a:ln/>
        </p:spPr>
        <p:txBody>
          <a:bodyPr wrap="square" lIns="0" tIns="0" rIns="0" bIns="0" rtlCol="0" anchor="ctr"/>
          <a:lstStyle/>
          <a:p>
            <a:pPr algn="ctr" indent="0" marL="0">
              <a:buNone/>
            </a:pPr>
            <a:r>
              <a:rPr lang="en-US" sz="1300" dirty="0">
                <a:solidFill>
                  <a:srgbClr val="B9B4C3"/>
                </a:solidFill>
                <a:latin typeface="Aptos" pitchFamily="34" charset="0"/>
                <a:ea typeface="Aptos" pitchFamily="34" charset="-122"/>
                <a:cs typeface="Aptos" pitchFamily="34" charset="-120"/>
              </a:rPr>
              <a:t>→</a:t>
            </a:r>
            <a:endParaRPr lang="en-US" sz="1300" dirty="0"/>
          </a:p>
        </p:txBody>
      </p:sp>
      <p:sp>
        <p:nvSpPr>
          <p:cNvPr id="13" name="Text 10"/>
          <p:cNvSpPr/>
          <p:nvPr/>
        </p:nvSpPr>
        <p:spPr>
          <a:xfrm>
            <a:off x="4526280" y="2532888"/>
            <a:ext cx="219456" cy="219456"/>
          </a:xfrm>
          <a:prstGeom prst="ellipse">
            <a:avLst/>
          </a:prstGeom>
          <a:solidFill>
            <a:srgbClr val="9400FF"/>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14" name="Text 11"/>
          <p:cNvSpPr/>
          <p:nvPr/>
        </p:nvSpPr>
        <p:spPr>
          <a:xfrm>
            <a:off x="4864608" y="2395728"/>
            <a:ext cx="2971800" cy="493776"/>
          </a:xfrm>
          <a:prstGeom prst="rect">
            <a:avLst/>
          </a:prstGeom>
          <a:noFill/>
          <a:ln/>
        </p:spPr>
        <p:txBody>
          <a:bodyPr wrap="square" lIns="0" tIns="0" rIns="0" bIns="0" rtlCol="0" anchor="ctr"/>
          <a:lstStyle/>
          <a:p>
            <a:pPr indent="0" marL="0">
              <a:buNone/>
            </a:pPr>
            <a:r>
              <a:rPr lang="en-US" sz="1300" b="1" dirty="0">
                <a:solidFill>
                  <a:srgbClr val="111111"/>
                </a:solidFill>
                <a:latin typeface="Aptos" pitchFamily="34" charset="0"/>
                <a:ea typeface="Aptos" pitchFamily="34" charset="-122"/>
                <a:cs typeface="Aptos" pitchFamily="34" charset="-120"/>
              </a:rPr>
              <a:t>User defines the goal</a:t>
            </a:r>
            <a:endParaRPr lang="en-US" sz="1300" dirty="0"/>
          </a:p>
        </p:txBody>
      </p:sp>
      <p:sp>
        <p:nvSpPr>
          <p:cNvPr id="15" name="Shape 12"/>
          <p:cNvSpPr/>
          <p:nvPr/>
        </p:nvSpPr>
        <p:spPr>
          <a:xfrm>
            <a:off x="640080" y="2889504"/>
            <a:ext cx="7223760" cy="0"/>
          </a:xfrm>
          <a:prstGeom prst="line">
            <a:avLst/>
          </a:prstGeom>
          <a:noFill/>
          <a:ln w="9525">
            <a:solidFill>
              <a:srgbClr val="EEECF2"/>
            </a:solidFill>
            <a:prstDash val="solid"/>
          </a:ln>
        </p:spPr>
      </p:sp>
      <p:sp>
        <p:nvSpPr>
          <p:cNvPr id="16" name="Text 13"/>
          <p:cNvSpPr/>
          <p:nvPr/>
        </p:nvSpPr>
        <p:spPr>
          <a:xfrm>
            <a:off x="868680" y="2889504"/>
            <a:ext cx="3108960" cy="493776"/>
          </a:xfrm>
          <a:prstGeom prst="rect">
            <a:avLst/>
          </a:prstGeom>
          <a:noFill/>
          <a:ln/>
        </p:spPr>
        <p:txBody>
          <a:bodyPr wrap="square" lIns="0" tIns="0" rIns="0" bIns="0" rtlCol="0" anchor="ctr"/>
          <a:lstStyle/>
          <a:p>
            <a:pPr indent="0" marL="0">
              <a:buNone/>
            </a:pPr>
            <a:r>
              <a:rPr lang="en-US" sz="1300" dirty="0">
                <a:solidFill>
                  <a:srgbClr val="5F5F66"/>
                </a:solidFill>
                <a:latin typeface="Aptos" pitchFamily="34" charset="0"/>
                <a:ea typeface="Aptos" pitchFamily="34" charset="-122"/>
                <a:cs typeface="Aptos" pitchFamily="34" charset="-120"/>
              </a:rPr>
              <a:t>Manual discovery &amp; field mapping</a:t>
            </a:r>
            <a:endParaRPr lang="en-US" sz="1300" dirty="0"/>
          </a:p>
        </p:txBody>
      </p:sp>
      <p:sp>
        <p:nvSpPr>
          <p:cNvPr id="17" name="Text 14"/>
          <p:cNvSpPr/>
          <p:nvPr/>
        </p:nvSpPr>
        <p:spPr>
          <a:xfrm>
            <a:off x="4041648" y="2889504"/>
            <a:ext cx="365760" cy="493776"/>
          </a:xfrm>
          <a:prstGeom prst="rect">
            <a:avLst/>
          </a:prstGeom>
          <a:noFill/>
          <a:ln/>
        </p:spPr>
        <p:txBody>
          <a:bodyPr wrap="square" lIns="0" tIns="0" rIns="0" bIns="0" rtlCol="0" anchor="ctr"/>
          <a:lstStyle/>
          <a:p>
            <a:pPr algn="ctr" indent="0" marL="0">
              <a:buNone/>
            </a:pPr>
            <a:r>
              <a:rPr lang="en-US" sz="1300" dirty="0">
                <a:solidFill>
                  <a:srgbClr val="B9B4C3"/>
                </a:solidFill>
                <a:latin typeface="Aptos" pitchFamily="34" charset="0"/>
                <a:ea typeface="Aptos" pitchFamily="34" charset="-122"/>
                <a:cs typeface="Aptos" pitchFamily="34" charset="-120"/>
              </a:rPr>
              <a:t>→</a:t>
            </a:r>
            <a:endParaRPr lang="en-US" sz="1300" dirty="0"/>
          </a:p>
        </p:txBody>
      </p:sp>
      <p:sp>
        <p:nvSpPr>
          <p:cNvPr id="18" name="Text 15"/>
          <p:cNvSpPr/>
          <p:nvPr/>
        </p:nvSpPr>
        <p:spPr>
          <a:xfrm>
            <a:off x="4526280" y="3026664"/>
            <a:ext cx="219456" cy="219456"/>
          </a:xfrm>
          <a:prstGeom prst="ellipse">
            <a:avLst/>
          </a:prstGeom>
          <a:solidFill>
            <a:srgbClr val="9400FF"/>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19" name="Text 16"/>
          <p:cNvSpPr/>
          <p:nvPr/>
        </p:nvSpPr>
        <p:spPr>
          <a:xfrm>
            <a:off x="4864608" y="2889504"/>
            <a:ext cx="2971800" cy="493776"/>
          </a:xfrm>
          <a:prstGeom prst="rect">
            <a:avLst/>
          </a:prstGeom>
          <a:noFill/>
          <a:ln/>
        </p:spPr>
        <p:txBody>
          <a:bodyPr wrap="square" lIns="0" tIns="0" rIns="0" bIns="0" rtlCol="0" anchor="ctr"/>
          <a:lstStyle/>
          <a:p>
            <a:pPr indent="0" marL="0">
              <a:buNone/>
            </a:pPr>
            <a:r>
              <a:rPr lang="en-US" sz="1300" b="1" dirty="0">
                <a:solidFill>
                  <a:srgbClr val="111111"/>
                </a:solidFill>
                <a:latin typeface="Aptos" pitchFamily="34" charset="0"/>
                <a:ea typeface="Aptos" pitchFamily="34" charset="-122"/>
                <a:cs typeface="Aptos" pitchFamily="34" charset="-120"/>
              </a:rPr>
              <a:t>Auto-discovery + AI mapping</a:t>
            </a:r>
            <a:endParaRPr lang="en-US" sz="1300" dirty="0"/>
          </a:p>
        </p:txBody>
      </p:sp>
      <p:sp>
        <p:nvSpPr>
          <p:cNvPr id="20" name="Shape 17"/>
          <p:cNvSpPr/>
          <p:nvPr/>
        </p:nvSpPr>
        <p:spPr>
          <a:xfrm>
            <a:off x="640080" y="3383280"/>
            <a:ext cx="7223760" cy="0"/>
          </a:xfrm>
          <a:prstGeom prst="line">
            <a:avLst/>
          </a:prstGeom>
          <a:noFill/>
          <a:ln w="9525">
            <a:solidFill>
              <a:srgbClr val="EEECF2"/>
            </a:solidFill>
            <a:prstDash val="solid"/>
          </a:ln>
        </p:spPr>
      </p:sp>
      <p:sp>
        <p:nvSpPr>
          <p:cNvPr id="21" name="Text 18"/>
          <p:cNvSpPr/>
          <p:nvPr/>
        </p:nvSpPr>
        <p:spPr>
          <a:xfrm>
            <a:off x="868680" y="3383280"/>
            <a:ext cx="3108960" cy="493776"/>
          </a:xfrm>
          <a:prstGeom prst="rect">
            <a:avLst/>
          </a:prstGeom>
          <a:noFill/>
          <a:ln/>
        </p:spPr>
        <p:txBody>
          <a:bodyPr wrap="square" lIns="0" tIns="0" rIns="0" bIns="0" rtlCol="0" anchor="ctr"/>
          <a:lstStyle/>
          <a:p>
            <a:pPr indent="0" marL="0">
              <a:buNone/>
            </a:pPr>
            <a:r>
              <a:rPr lang="en-US" sz="1300" dirty="0">
                <a:solidFill>
                  <a:srgbClr val="5F5F66"/>
                </a:solidFill>
                <a:latin typeface="Aptos" pitchFamily="34" charset="0"/>
                <a:ea typeface="Aptos" pitchFamily="34" charset="-122"/>
                <a:cs typeface="Aptos" pitchFamily="34" charset="-120"/>
              </a:rPr>
              <a:t>Import and hope</a:t>
            </a:r>
            <a:endParaRPr lang="en-US" sz="1300" dirty="0"/>
          </a:p>
        </p:txBody>
      </p:sp>
      <p:sp>
        <p:nvSpPr>
          <p:cNvPr id="22" name="Text 19"/>
          <p:cNvSpPr/>
          <p:nvPr/>
        </p:nvSpPr>
        <p:spPr>
          <a:xfrm>
            <a:off x="4041648" y="3383280"/>
            <a:ext cx="365760" cy="493776"/>
          </a:xfrm>
          <a:prstGeom prst="rect">
            <a:avLst/>
          </a:prstGeom>
          <a:noFill/>
          <a:ln/>
        </p:spPr>
        <p:txBody>
          <a:bodyPr wrap="square" lIns="0" tIns="0" rIns="0" bIns="0" rtlCol="0" anchor="ctr"/>
          <a:lstStyle/>
          <a:p>
            <a:pPr algn="ctr" indent="0" marL="0">
              <a:buNone/>
            </a:pPr>
            <a:r>
              <a:rPr lang="en-US" sz="1300" dirty="0">
                <a:solidFill>
                  <a:srgbClr val="B9B4C3"/>
                </a:solidFill>
                <a:latin typeface="Aptos" pitchFamily="34" charset="0"/>
                <a:ea typeface="Aptos" pitchFamily="34" charset="-122"/>
                <a:cs typeface="Aptos" pitchFamily="34" charset="-120"/>
              </a:rPr>
              <a:t>→</a:t>
            </a:r>
            <a:endParaRPr lang="en-US" sz="1300" dirty="0"/>
          </a:p>
        </p:txBody>
      </p:sp>
      <p:sp>
        <p:nvSpPr>
          <p:cNvPr id="23" name="Text 20"/>
          <p:cNvSpPr/>
          <p:nvPr/>
        </p:nvSpPr>
        <p:spPr>
          <a:xfrm>
            <a:off x="4526280" y="3520440"/>
            <a:ext cx="219456" cy="219456"/>
          </a:xfrm>
          <a:prstGeom prst="ellipse">
            <a:avLst/>
          </a:prstGeom>
          <a:solidFill>
            <a:srgbClr val="9400FF"/>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24" name="Text 21"/>
          <p:cNvSpPr/>
          <p:nvPr/>
        </p:nvSpPr>
        <p:spPr>
          <a:xfrm>
            <a:off x="4864608" y="3383280"/>
            <a:ext cx="2971800" cy="493776"/>
          </a:xfrm>
          <a:prstGeom prst="rect">
            <a:avLst/>
          </a:prstGeom>
          <a:noFill/>
          <a:ln/>
        </p:spPr>
        <p:txBody>
          <a:bodyPr wrap="square" lIns="0" tIns="0" rIns="0" bIns="0" rtlCol="0" anchor="ctr"/>
          <a:lstStyle/>
          <a:p>
            <a:pPr indent="0" marL="0">
              <a:buNone/>
            </a:pPr>
            <a:r>
              <a:rPr lang="en-US" sz="1300" b="1" dirty="0">
                <a:solidFill>
                  <a:srgbClr val="111111"/>
                </a:solidFill>
                <a:latin typeface="Aptos" pitchFamily="34" charset="0"/>
                <a:ea typeface="Aptos" pitchFamily="34" charset="-122"/>
                <a:cs typeface="Aptos" pitchFamily="34" charset="-120"/>
              </a:rPr>
              <a:t>Test before full migration</a:t>
            </a:r>
            <a:endParaRPr lang="en-US" sz="1300" dirty="0"/>
          </a:p>
        </p:txBody>
      </p:sp>
      <p:sp>
        <p:nvSpPr>
          <p:cNvPr id="25" name="Shape 22"/>
          <p:cNvSpPr/>
          <p:nvPr/>
        </p:nvSpPr>
        <p:spPr>
          <a:xfrm>
            <a:off x="640080" y="3877056"/>
            <a:ext cx="7223760" cy="0"/>
          </a:xfrm>
          <a:prstGeom prst="line">
            <a:avLst/>
          </a:prstGeom>
          <a:noFill/>
          <a:ln w="9525">
            <a:solidFill>
              <a:srgbClr val="EEECF2"/>
            </a:solidFill>
            <a:prstDash val="solid"/>
          </a:ln>
        </p:spPr>
      </p:sp>
      <p:sp>
        <p:nvSpPr>
          <p:cNvPr id="26" name="Text 23"/>
          <p:cNvSpPr/>
          <p:nvPr/>
        </p:nvSpPr>
        <p:spPr>
          <a:xfrm>
            <a:off x="868680" y="3877056"/>
            <a:ext cx="3108960" cy="493776"/>
          </a:xfrm>
          <a:prstGeom prst="rect">
            <a:avLst/>
          </a:prstGeom>
          <a:noFill/>
          <a:ln/>
        </p:spPr>
        <p:txBody>
          <a:bodyPr wrap="square" lIns="0" tIns="0" rIns="0" bIns="0" rtlCol="0" anchor="ctr"/>
          <a:lstStyle/>
          <a:p>
            <a:pPr indent="0" marL="0">
              <a:buNone/>
            </a:pPr>
            <a:r>
              <a:rPr lang="en-US" sz="1300" dirty="0">
                <a:solidFill>
                  <a:srgbClr val="5F5F66"/>
                </a:solidFill>
                <a:latin typeface="Aptos" pitchFamily="34" charset="0"/>
                <a:ea typeface="Aptos" pitchFamily="34" charset="-122"/>
                <a:cs typeface="Aptos" pitchFamily="34" charset="-120"/>
              </a:rPr>
              <a:t>Monitor &amp; troubleshoot manually</a:t>
            </a:r>
            <a:endParaRPr lang="en-US" sz="1300" dirty="0"/>
          </a:p>
        </p:txBody>
      </p:sp>
      <p:sp>
        <p:nvSpPr>
          <p:cNvPr id="27" name="Text 24"/>
          <p:cNvSpPr/>
          <p:nvPr/>
        </p:nvSpPr>
        <p:spPr>
          <a:xfrm>
            <a:off x="4041648" y="3877056"/>
            <a:ext cx="365760" cy="493776"/>
          </a:xfrm>
          <a:prstGeom prst="rect">
            <a:avLst/>
          </a:prstGeom>
          <a:noFill/>
          <a:ln/>
        </p:spPr>
        <p:txBody>
          <a:bodyPr wrap="square" lIns="0" tIns="0" rIns="0" bIns="0" rtlCol="0" anchor="ctr"/>
          <a:lstStyle/>
          <a:p>
            <a:pPr algn="ctr" indent="0" marL="0">
              <a:buNone/>
            </a:pPr>
            <a:r>
              <a:rPr lang="en-US" sz="1300" dirty="0">
                <a:solidFill>
                  <a:srgbClr val="B9B4C3"/>
                </a:solidFill>
                <a:latin typeface="Aptos" pitchFamily="34" charset="0"/>
                <a:ea typeface="Aptos" pitchFamily="34" charset="-122"/>
                <a:cs typeface="Aptos" pitchFamily="34" charset="-120"/>
              </a:rPr>
              <a:t>→</a:t>
            </a:r>
            <a:endParaRPr lang="en-US" sz="1300" dirty="0"/>
          </a:p>
        </p:txBody>
      </p:sp>
      <p:sp>
        <p:nvSpPr>
          <p:cNvPr id="28" name="Text 25"/>
          <p:cNvSpPr/>
          <p:nvPr/>
        </p:nvSpPr>
        <p:spPr>
          <a:xfrm>
            <a:off x="4526280" y="4014216"/>
            <a:ext cx="219456" cy="219456"/>
          </a:xfrm>
          <a:prstGeom prst="ellipse">
            <a:avLst/>
          </a:prstGeom>
          <a:solidFill>
            <a:srgbClr val="9400FF"/>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29" name="Text 26"/>
          <p:cNvSpPr/>
          <p:nvPr/>
        </p:nvSpPr>
        <p:spPr>
          <a:xfrm>
            <a:off x="4864608" y="3877056"/>
            <a:ext cx="2971800" cy="493776"/>
          </a:xfrm>
          <a:prstGeom prst="rect">
            <a:avLst/>
          </a:prstGeom>
          <a:noFill/>
          <a:ln/>
        </p:spPr>
        <p:txBody>
          <a:bodyPr wrap="square" lIns="0" tIns="0" rIns="0" bIns="0" rtlCol="0" anchor="ctr"/>
          <a:lstStyle/>
          <a:p>
            <a:pPr indent="0" marL="0">
              <a:buNone/>
            </a:pPr>
            <a:r>
              <a:rPr lang="en-US" sz="1300" b="1" dirty="0">
                <a:solidFill>
                  <a:srgbClr val="111111"/>
                </a:solidFill>
                <a:latin typeface="Aptos" pitchFamily="34" charset="0"/>
                <a:ea typeface="Aptos" pitchFamily="34" charset="-122"/>
                <a:cs typeface="Aptos" pitchFamily="34" charset="-120"/>
              </a:rPr>
              <a:t>AI detects, fixes &amp; retries</a:t>
            </a:r>
            <a:endParaRPr lang="en-US" sz="1300" dirty="0"/>
          </a:p>
        </p:txBody>
      </p:sp>
      <p:sp>
        <p:nvSpPr>
          <p:cNvPr id="30" name="Shape 27"/>
          <p:cNvSpPr/>
          <p:nvPr/>
        </p:nvSpPr>
        <p:spPr>
          <a:xfrm>
            <a:off x="640080" y="4370832"/>
            <a:ext cx="7223760" cy="0"/>
          </a:xfrm>
          <a:prstGeom prst="line">
            <a:avLst/>
          </a:prstGeom>
          <a:noFill/>
          <a:ln w="9525">
            <a:solidFill>
              <a:srgbClr val="EEECF2"/>
            </a:solidFill>
            <a:prstDash val="solid"/>
          </a:ln>
        </p:spPr>
      </p:sp>
      <p:sp>
        <p:nvSpPr>
          <p:cNvPr id="31" name="Text 28"/>
          <p:cNvSpPr/>
          <p:nvPr/>
        </p:nvSpPr>
        <p:spPr>
          <a:xfrm>
            <a:off x="868680" y="4370832"/>
            <a:ext cx="3108960" cy="493776"/>
          </a:xfrm>
          <a:prstGeom prst="rect">
            <a:avLst/>
          </a:prstGeom>
          <a:noFill/>
          <a:ln/>
        </p:spPr>
        <p:txBody>
          <a:bodyPr wrap="square" lIns="0" tIns="0" rIns="0" bIns="0" rtlCol="0" anchor="ctr"/>
          <a:lstStyle/>
          <a:p>
            <a:pPr indent="0" marL="0">
              <a:buNone/>
            </a:pPr>
            <a:r>
              <a:rPr lang="en-US" sz="1300" dirty="0">
                <a:solidFill>
                  <a:srgbClr val="5F5F66"/>
                </a:solidFill>
                <a:latin typeface="Aptos" pitchFamily="34" charset="0"/>
                <a:ea typeface="Aptos" pitchFamily="34" charset="-122"/>
                <a:cs typeface="Aptos" pitchFamily="34" charset="-120"/>
              </a:rPr>
              <a:t>Manual reconciliation</a:t>
            </a:r>
            <a:endParaRPr lang="en-US" sz="1300" dirty="0"/>
          </a:p>
        </p:txBody>
      </p:sp>
      <p:sp>
        <p:nvSpPr>
          <p:cNvPr id="32" name="Text 29"/>
          <p:cNvSpPr/>
          <p:nvPr/>
        </p:nvSpPr>
        <p:spPr>
          <a:xfrm>
            <a:off x="4041648" y="4370832"/>
            <a:ext cx="365760" cy="493776"/>
          </a:xfrm>
          <a:prstGeom prst="rect">
            <a:avLst/>
          </a:prstGeom>
          <a:noFill/>
          <a:ln/>
        </p:spPr>
        <p:txBody>
          <a:bodyPr wrap="square" lIns="0" tIns="0" rIns="0" bIns="0" rtlCol="0" anchor="ctr"/>
          <a:lstStyle/>
          <a:p>
            <a:pPr algn="ctr" indent="0" marL="0">
              <a:buNone/>
            </a:pPr>
            <a:r>
              <a:rPr lang="en-US" sz="1300" dirty="0">
                <a:solidFill>
                  <a:srgbClr val="B9B4C3"/>
                </a:solidFill>
                <a:latin typeface="Aptos" pitchFamily="34" charset="0"/>
                <a:ea typeface="Aptos" pitchFamily="34" charset="-122"/>
                <a:cs typeface="Aptos" pitchFamily="34" charset="-120"/>
              </a:rPr>
              <a:t>→</a:t>
            </a:r>
            <a:endParaRPr lang="en-US" sz="1300" dirty="0"/>
          </a:p>
        </p:txBody>
      </p:sp>
      <p:sp>
        <p:nvSpPr>
          <p:cNvPr id="33" name="Text 30"/>
          <p:cNvSpPr/>
          <p:nvPr/>
        </p:nvSpPr>
        <p:spPr>
          <a:xfrm>
            <a:off x="4526280" y="4507992"/>
            <a:ext cx="219456" cy="219456"/>
          </a:xfrm>
          <a:prstGeom prst="ellipse">
            <a:avLst/>
          </a:prstGeom>
          <a:solidFill>
            <a:srgbClr val="9400FF"/>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34" name="Text 31"/>
          <p:cNvSpPr/>
          <p:nvPr/>
        </p:nvSpPr>
        <p:spPr>
          <a:xfrm>
            <a:off x="4864608" y="4370832"/>
            <a:ext cx="2971800" cy="493776"/>
          </a:xfrm>
          <a:prstGeom prst="rect">
            <a:avLst/>
          </a:prstGeom>
          <a:noFill/>
          <a:ln/>
        </p:spPr>
        <p:txBody>
          <a:bodyPr wrap="square" lIns="0" tIns="0" rIns="0" bIns="0" rtlCol="0" anchor="ctr"/>
          <a:lstStyle/>
          <a:p>
            <a:pPr indent="0" marL="0">
              <a:buNone/>
            </a:pPr>
            <a:r>
              <a:rPr lang="en-US" sz="1300" b="1" dirty="0">
                <a:solidFill>
                  <a:srgbClr val="111111"/>
                </a:solidFill>
                <a:latin typeface="Aptos" pitchFamily="34" charset="0"/>
                <a:ea typeface="Aptos" pitchFamily="34" charset="-122"/>
                <a:cs typeface="Aptos" pitchFamily="34" charset="-120"/>
              </a:rPr>
              <a:t>Automated reconciliation</a:t>
            </a:r>
            <a:endParaRPr lang="en-US" sz="1300" dirty="0"/>
          </a:p>
        </p:txBody>
      </p:sp>
      <p:sp>
        <p:nvSpPr>
          <p:cNvPr id="35" name="Shape 32"/>
          <p:cNvSpPr/>
          <p:nvPr/>
        </p:nvSpPr>
        <p:spPr>
          <a:xfrm>
            <a:off x="640080" y="4864608"/>
            <a:ext cx="7223760" cy="0"/>
          </a:xfrm>
          <a:prstGeom prst="line">
            <a:avLst/>
          </a:prstGeom>
          <a:noFill/>
          <a:ln w="9525">
            <a:solidFill>
              <a:srgbClr val="EEECF2"/>
            </a:solidFill>
            <a:prstDash val="solid"/>
          </a:ln>
        </p:spPr>
      </p:sp>
      <p:sp>
        <p:nvSpPr>
          <p:cNvPr id="36" name="Text 33"/>
          <p:cNvSpPr/>
          <p:nvPr/>
        </p:nvSpPr>
        <p:spPr>
          <a:xfrm>
            <a:off x="868680" y="4864608"/>
            <a:ext cx="3108960" cy="493776"/>
          </a:xfrm>
          <a:prstGeom prst="rect">
            <a:avLst/>
          </a:prstGeom>
          <a:noFill/>
          <a:ln/>
        </p:spPr>
        <p:txBody>
          <a:bodyPr wrap="square" lIns="0" tIns="0" rIns="0" bIns="0" rtlCol="0" anchor="ctr"/>
          <a:lstStyle/>
          <a:p>
            <a:pPr indent="0" marL="0">
              <a:buNone/>
            </a:pPr>
            <a:r>
              <a:rPr lang="en-US" sz="1300" dirty="0">
                <a:solidFill>
                  <a:srgbClr val="5F5F66"/>
                </a:solidFill>
                <a:latin typeface="Aptos" pitchFamily="34" charset="0"/>
                <a:ea typeface="Aptos" pitchFamily="34" charset="-122"/>
                <a:cs typeface="Aptos" pitchFamily="34" charset="-120"/>
              </a:rPr>
              <a:t>Human involved throughout</a:t>
            </a:r>
            <a:endParaRPr lang="en-US" sz="1300" dirty="0"/>
          </a:p>
        </p:txBody>
      </p:sp>
      <p:sp>
        <p:nvSpPr>
          <p:cNvPr id="37" name="Text 34"/>
          <p:cNvSpPr/>
          <p:nvPr/>
        </p:nvSpPr>
        <p:spPr>
          <a:xfrm>
            <a:off x="4041648" y="4864608"/>
            <a:ext cx="365760" cy="493776"/>
          </a:xfrm>
          <a:prstGeom prst="rect">
            <a:avLst/>
          </a:prstGeom>
          <a:noFill/>
          <a:ln/>
        </p:spPr>
        <p:txBody>
          <a:bodyPr wrap="square" lIns="0" tIns="0" rIns="0" bIns="0" rtlCol="0" anchor="ctr"/>
          <a:lstStyle/>
          <a:p>
            <a:pPr algn="ctr" indent="0" marL="0">
              <a:buNone/>
            </a:pPr>
            <a:r>
              <a:rPr lang="en-US" sz="1300" dirty="0">
                <a:solidFill>
                  <a:srgbClr val="B9B4C3"/>
                </a:solidFill>
                <a:latin typeface="Aptos" pitchFamily="34" charset="0"/>
                <a:ea typeface="Aptos" pitchFamily="34" charset="-122"/>
                <a:cs typeface="Aptos" pitchFamily="34" charset="-120"/>
              </a:rPr>
              <a:t>→</a:t>
            </a:r>
            <a:endParaRPr lang="en-US" sz="1300" dirty="0"/>
          </a:p>
        </p:txBody>
      </p:sp>
      <p:sp>
        <p:nvSpPr>
          <p:cNvPr id="38" name="Text 35"/>
          <p:cNvSpPr/>
          <p:nvPr/>
        </p:nvSpPr>
        <p:spPr>
          <a:xfrm>
            <a:off x="4526280" y="5001768"/>
            <a:ext cx="219456" cy="219456"/>
          </a:xfrm>
          <a:prstGeom prst="ellipse">
            <a:avLst/>
          </a:prstGeom>
          <a:solidFill>
            <a:srgbClr val="9400FF"/>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39" name="Text 36"/>
          <p:cNvSpPr/>
          <p:nvPr/>
        </p:nvSpPr>
        <p:spPr>
          <a:xfrm>
            <a:off x="4864608" y="4864608"/>
            <a:ext cx="2971800" cy="493776"/>
          </a:xfrm>
          <a:prstGeom prst="rect">
            <a:avLst/>
          </a:prstGeom>
          <a:noFill/>
          <a:ln/>
        </p:spPr>
        <p:txBody>
          <a:bodyPr wrap="square" lIns="0" tIns="0" rIns="0" bIns="0" rtlCol="0" anchor="ctr"/>
          <a:lstStyle/>
          <a:p>
            <a:pPr indent="0" marL="0">
              <a:buNone/>
            </a:pPr>
            <a:r>
              <a:rPr lang="en-US" sz="1300" b="1" dirty="0">
                <a:solidFill>
                  <a:srgbClr val="111111"/>
                </a:solidFill>
                <a:latin typeface="Aptos" pitchFamily="34" charset="0"/>
                <a:ea typeface="Aptos" pitchFamily="34" charset="-122"/>
                <a:cs typeface="Aptos" pitchFamily="34" charset="-120"/>
              </a:rPr>
              <a:t>Human only for exceptions</a:t>
            </a:r>
            <a:endParaRPr lang="en-US" sz="1300" dirty="0"/>
          </a:p>
        </p:txBody>
      </p:sp>
      <p:sp>
        <p:nvSpPr>
          <p:cNvPr id="40" name="Shape 37"/>
          <p:cNvSpPr/>
          <p:nvPr/>
        </p:nvSpPr>
        <p:spPr>
          <a:xfrm>
            <a:off x="640080" y="5358384"/>
            <a:ext cx="7223760" cy="0"/>
          </a:xfrm>
          <a:prstGeom prst="line">
            <a:avLst/>
          </a:prstGeom>
          <a:noFill/>
          <a:ln w="9525">
            <a:solidFill>
              <a:srgbClr val="EEECF2"/>
            </a:solidFill>
            <a:prstDash val="solid"/>
          </a:ln>
        </p:spPr>
      </p:sp>
      <p:sp>
        <p:nvSpPr>
          <p:cNvPr id="41" name="Text 38"/>
          <p:cNvSpPr/>
          <p:nvPr/>
        </p:nvSpPr>
        <p:spPr>
          <a:xfrm>
            <a:off x="868680" y="5358384"/>
            <a:ext cx="3108960" cy="493776"/>
          </a:xfrm>
          <a:prstGeom prst="rect">
            <a:avLst/>
          </a:prstGeom>
          <a:noFill/>
          <a:ln/>
        </p:spPr>
        <p:txBody>
          <a:bodyPr wrap="square" lIns="0" tIns="0" rIns="0" bIns="0" rtlCol="0" anchor="ctr"/>
          <a:lstStyle/>
          <a:p>
            <a:pPr indent="0" marL="0">
              <a:buNone/>
            </a:pPr>
            <a:r>
              <a:rPr lang="en-US" sz="1300" dirty="0">
                <a:solidFill>
                  <a:srgbClr val="5F5F66"/>
                </a:solidFill>
                <a:latin typeface="Aptos" pitchFamily="34" charset="0"/>
                <a:ea typeface="Aptos" pitchFamily="34" charset="-122"/>
                <a:cs typeface="Aptos" pitchFamily="34" charset="-120"/>
              </a:rPr>
              <a:t>Static migration report</a:t>
            </a:r>
            <a:endParaRPr lang="en-US" sz="1300" dirty="0"/>
          </a:p>
        </p:txBody>
      </p:sp>
      <p:sp>
        <p:nvSpPr>
          <p:cNvPr id="42" name="Text 39"/>
          <p:cNvSpPr/>
          <p:nvPr/>
        </p:nvSpPr>
        <p:spPr>
          <a:xfrm>
            <a:off x="4041648" y="5358384"/>
            <a:ext cx="365760" cy="493776"/>
          </a:xfrm>
          <a:prstGeom prst="rect">
            <a:avLst/>
          </a:prstGeom>
          <a:noFill/>
          <a:ln/>
        </p:spPr>
        <p:txBody>
          <a:bodyPr wrap="square" lIns="0" tIns="0" rIns="0" bIns="0" rtlCol="0" anchor="ctr"/>
          <a:lstStyle/>
          <a:p>
            <a:pPr algn="ctr" indent="0" marL="0">
              <a:buNone/>
            </a:pPr>
            <a:r>
              <a:rPr lang="en-US" sz="1300" dirty="0">
                <a:solidFill>
                  <a:srgbClr val="B9B4C3"/>
                </a:solidFill>
                <a:latin typeface="Aptos" pitchFamily="34" charset="0"/>
                <a:ea typeface="Aptos" pitchFamily="34" charset="-122"/>
                <a:cs typeface="Aptos" pitchFamily="34" charset="-120"/>
              </a:rPr>
              <a:t>→</a:t>
            </a:r>
            <a:endParaRPr lang="en-US" sz="1300" dirty="0"/>
          </a:p>
        </p:txBody>
      </p:sp>
      <p:sp>
        <p:nvSpPr>
          <p:cNvPr id="43" name="Text 40"/>
          <p:cNvSpPr/>
          <p:nvPr/>
        </p:nvSpPr>
        <p:spPr>
          <a:xfrm>
            <a:off x="4526280" y="5495544"/>
            <a:ext cx="219456" cy="219456"/>
          </a:xfrm>
          <a:prstGeom prst="ellipse">
            <a:avLst/>
          </a:prstGeom>
          <a:solidFill>
            <a:srgbClr val="9400FF"/>
          </a:solidFill>
          <a:ln/>
        </p:spPr>
        <p:txBody>
          <a:bodyPr wrap="square" lIns="0" tIns="0" rIns="0" bIns="0" rtlCol="0" anchor="ctr"/>
          <a:lstStyle/>
          <a:p>
            <a:pPr algn="ctr" indent="0" marL="0">
              <a:buNone/>
            </a:pPr>
            <a:r>
              <a:rPr lang="en-US" sz="910" b="1" dirty="0">
                <a:solidFill>
                  <a:srgbClr val="FFFFFF"/>
                </a:solidFill>
                <a:latin typeface="Segoe UI Symbol" pitchFamily="34" charset="0"/>
                <a:ea typeface="Segoe UI Symbol" pitchFamily="34" charset="-122"/>
                <a:cs typeface="Segoe UI Symbol" pitchFamily="34" charset="-120"/>
              </a:rPr>
              <a:t>✓</a:t>
            </a:r>
            <a:endParaRPr lang="en-US" sz="910" dirty="0"/>
          </a:p>
        </p:txBody>
      </p:sp>
      <p:sp>
        <p:nvSpPr>
          <p:cNvPr id="44" name="Text 41"/>
          <p:cNvSpPr/>
          <p:nvPr/>
        </p:nvSpPr>
        <p:spPr>
          <a:xfrm>
            <a:off x="4864608" y="5358384"/>
            <a:ext cx="2971800" cy="493776"/>
          </a:xfrm>
          <a:prstGeom prst="rect">
            <a:avLst/>
          </a:prstGeom>
          <a:noFill/>
          <a:ln/>
        </p:spPr>
        <p:txBody>
          <a:bodyPr wrap="square" lIns="0" tIns="0" rIns="0" bIns="0" rtlCol="0" anchor="ctr"/>
          <a:lstStyle/>
          <a:p>
            <a:pPr indent="0" marL="0">
              <a:buNone/>
            </a:pPr>
            <a:r>
              <a:rPr lang="en-US" sz="1300" b="1" dirty="0">
                <a:solidFill>
                  <a:srgbClr val="111111"/>
                </a:solidFill>
                <a:latin typeface="Aptos" pitchFamily="34" charset="0"/>
                <a:ea typeface="Aptos" pitchFamily="34" charset="-122"/>
                <a:cs typeface="Aptos" pitchFamily="34" charset="-120"/>
              </a:rPr>
              <a:t>Claude-generated insights</a:t>
            </a:r>
            <a:endParaRPr lang="en-US" sz="1300" dirty="0"/>
          </a:p>
        </p:txBody>
      </p:sp>
      <p:sp>
        <p:nvSpPr>
          <p:cNvPr id="45" name="Shape 42"/>
          <p:cNvSpPr/>
          <p:nvPr/>
        </p:nvSpPr>
        <p:spPr>
          <a:xfrm>
            <a:off x="640080" y="5852160"/>
            <a:ext cx="7223760" cy="0"/>
          </a:xfrm>
          <a:prstGeom prst="line">
            <a:avLst/>
          </a:prstGeom>
          <a:noFill/>
          <a:ln w="9525">
            <a:solidFill>
              <a:srgbClr val="EEECF2"/>
            </a:solidFill>
            <a:prstDash val="solid"/>
          </a:ln>
        </p:spPr>
      </p:sp>
      <p:sp>
        <p:nvSpPr>
          <p:cNvPr id="46" name="Shape 43"/>
          <p:cNvSpPr/>
          <p:nvPr/>
        </p:nvSpPr>
        <p:spPr>
          <a:xfrm>
            <a:off x="8229600" y="2103120"/>
            <a:ext cx="3322015" cy="3749040"/>
          </a:xfrm>
          <a:prstGeom prst="roundRect">
            <a:avLst>
              <a:gd name="adj" fmla="val 3854"/>
            </a:avLst>
          </a:prstGeom>
          <a:solidFill>
            <a:srgbClr val="0D0B12"/>
          </a:solidFill>
          <a:ln/>
        </p:spPr>
      </p:sp>
      <p:sp>
        <p:nvSpPr>
          <p:cNvPr id="47" name="Text 44"/>
          <p:cNvSpPr/>
          <p:nvPr/>
        </p:nvSpPr>
        <p:spPr>
          <a:xfrm>
            <a:off x="8485632" y="2395728"/>
            <a:ext cx="2743200" cy="201168"/>
          </a:xfrm>
          <a:prstGeom prst="rect">
            <a:avLst/>
          </a:prstGeom>
          <a:noFill/>
          <a:ln/>
        </p:spPr>
        <p:txBody>
          <a:bodyPr wrap="square" lIns="0" tIns="0" rIns="0" bIns="0" rtlCol="0" anchor="ctr"/>
          <a:lstStyle/>
          <a:p>
            <a:pPr indent="0" marL="0">
              <a:buNone/>
            </a:pPr>
            <a:r>
              <a:rPr lang="en-US" sz="950" b="1" spc="150" kern="0" dirty="0">
                <a:solidFill>
                  <a:srgbClr val="C9A2FF"/>
                </a:solidFill>
                <a:latin typeface="Aptos" pitchFamily="34" charset="0"/>
                <a:ea typeface="Aptos" pitchFamily="34" charset="-122"/>
                <a:cs typeface="Aptos" pitchFamily="34" charset="-120"/>
              </a:rPr>
              <a:t>THE ZEN PRINCIPLE</a:t>
            </a:r>
            <a:endParaRPr lang="en-US" sz="950" dirty="0"/>
          </a:p>
        </p:txBody>
      </p:sp>
      <p:sp>
        <p:nvSpPr>
          <p:cNvPr id="48" name="Text 45"/>
          <p:cNvSpPr/>
          <p:nvPr/>
        </p:nvSpPr>
        <p:spPr>
          <a:xfrm>
            <a:off x="8485632" y="2761488"/>
            <a:ext cx="2834640" cy="731520"/>
          </a:xfrm>
          <a:prstGeom prst="rect">
            <a:avLst/>
          </a:prstGeom>
          <a:noFill/>
          <a:ln/>
        </p:spPr>
        <p:txBody>
          <a:bodyPr wrap="square" lIns="0" tIns="0" rIns="0" bIns="0" rtlCol="0" anchor="t"/>
          <a:lstStyle/>
          <a:p>
            <a:pPr indent="0" marL="0">
              <a:buNone/>
            </a:pPr>
            <a:r>
              <a:rPr lang="en-US" sz="2100" b="1" dirty="0">
                <a:solidFill>
                  <a:srgbClr val="FFFFFF"/>
                </a:solidFill>
                <a:latin typeface="Aptos Display" pitchFamily="34" charset="0"/>
                <a:ea typeface="Aptos Display" pitchFamily="34" charset="-122"/>
                <a:cs typeface="Aptos Display" pitchFamily="34" charset="-120"/>
              </a:rPr>
              <a:t>Automate where</a:t>
            </a:r>
            <a:endParaRPr lang="en-US" sz="2100" dirty="0"/>
          </a:p>
          <a:p>
            <a:pPr indent="0" marL="0">
              <a:buNone/>
            </a:pPr>
            <a:r>
              <a:rPr lang="en-US" sz="2100" b="1" dirty="0">
                <a:solidFill>
                  <a:srgbClr val="FFFFFF"/>
                </a:solidFill>
                <a:latin typeface="Aptos Display" pitchFamily="34" charset="0"/>
                <a:ea typeface="Aptos Display" pitchFamily="34" charset="-122"/>
                <a:cs typeface="Aptos Display" pitchFamily="34" charset="-120"/>
              </a:rPr>
              <a:t>confidence is high.</a:t>
            </a:r>
            <a:endParaRPr lang="en-US" sz="2100" dirty="0"/>
          </a:p>
        </p:txBody>
      </p:sp>
      <p:sp>
        <p:nvSpPr>
          <p:cNvPr id="49" name="Text 46"/>
          <p:cNvSpPr/>
          <p:nvPr/>
        </p:nvSpPr>
        <p:spPr>
          <a:xfrm>
            <a:off x="8485632" y="3639312"/>
            <a:ext cx="2834640" cy="731520"/>
          </a:xfrm>
          <a:prstGeom prst="rect">
            <a:avLst/>
          </a:prstGeom>
          <a:noFill/>
          <a:ln/>
        </p:spPr>
        <p:txBody>
          <a:bodyPr wrap="square" lIns="0" tIns="0" rIns="0" bIns="0" rtlCol="0" anchor="t"/>
          <a:lstStyle/>
          <a:p>
            <a:pPr indent="0" marL="0">
              <a:buNone/>
            </a:pPr>
            <a:r>
              <a:rPr lang="en-US" sz="2100" b="1" dirty="0">
                <a:solidFill>
                  <a:srgbClr val="5EE6A8"/>
                </a:solidFill>
                <a:latin typeface="Aptos Display" pitchFamily="34" charset="0"/>
                <a:ea typeface="Aptos Display" pitchFamily="34" charset="-122"/>
                <a:cs typeface="Aptos Display" pitchFamily="34" charset="-120"/>
              </a:rPr>
              <a:t>Escalate where</a:t>
            </a:r>
            <a:endParaRPr lang="en-US" sz="2100" dirty="0"/>
          </a:p>
          <a:p>
            <a:pPr indent="0" marL="0">
              <a:buNone/>
            </a:pPr>
            <a:r>
              <a:rPr lang="en-US" sz="2100" b="1" dirty="0">
                <a:solidFill>
                  <a:srgbClr val="5EE6A8"/>
                </a:solidFill>
                <a:latin typeface="Aptos Display" pitchFamily="34" charset="0"/>
                <a:ea typeface="Aptos Display" pitchFamily="34" charset="-122"/>
                <a:cs typeface="Aptos Display" pitchFamily="34" charset="-120"/>
              </a:rPr>
              <a:t>judgment is required.</a:t>
            </a:r>
            <a:endParaRPr lang="en-US" sz="2100" dirty="0"/>
          </a:p>
        </p:txBody>
      </p:sp>
      <p:sp>
        <p:nvSpPr>
          <p:cNvPr id="50" name="Shape 47"/>
          <p:cNvSpPr/>
          <p:nvPr/>
        </p:nvSpPr>
        <p:spPr>
          <a:xfrm>
            <a:off x="8485632" y="5193792"/>
            <a:ext cx="2021190" cy="73152"/>
          </a:xfrm>
          <a:prstGeom prst="rect">
            <a:avLst/>
          </a:prstGeom>
          <a:solidFill>
            <a:srgbClr val="5EE6A8"/>
          </a:solidFill>
          <a:ln/>
        </p:spPr>
      </p:sp>
      <p:sp>
        <p:nvSpPr>
          <p:cNvPr id="51" name="Shape 48"/>
          <p:cNvSpPr/>
          <p:nvPr/>
        </p:nvSpPr>
        <p:spPr>
          <a:xfrm>
            <a:off x="10534254" y="5193792"/>
            <a:ext cx="758586" cy="73152"/>
          </a:xfrm>
          <a:prstGeom prst="rect">
            <a:avLst/>
          </a:prstGeom>
          <a:solidFill>
            <a:srgbClr val="F5B94A"/>
          </a:solidFill>
          <a:ln/>
        </p:spPr>
      </p:sp>
      <p:sp>
        <p:nvSpPr>
          <p:cNvPr id="52" name="Text 49"/>
          <p:cNvSpPr/>
          <p:nvPr/>
        </p:nvSpPr>
        <p:spPr>
          <a:xfrm>
            <a:off x="8485632" y="5340096"/>
            <a:ext cx="1371600" cy="182880"/>
          </a:xfrm>
          <a:prstGeom prst="rect">
            <a:avLst/>
          </a:prstGeom>
          <a:noFill/>
          <a:ln/>
        </p:spPr>
        <p:txBody>
          <a:bodyPr wrap="square" lIns="0" tIns="0" rIns="0" bIns="0" rtlCol="0" anchor="ctr"/>
          <a:lstStyle/>
          <a:p>
            <a:pPr indent="0" marL="0">
              <a:buNone/>
            </a:pPr>
            <a:r>
              <a:rPr lang="en-US" sz="950" b="1" dirty="0">
                <a:solidFill>
                  <a:srgbClr val="5EE6A8"/>
                </a:solidFill>
                <a:latin typeface="Aptos" pitchFamily="34" charset="0"/>
                <a:ea typeface="Aptos" pitchFamily="34" charset="-122"/>
                <a:cs typeface="Aptos" pitchFamily="34" charset="-120"/>
              </a:rPr>
              <a:t>Zen acts</a:t>
            </a:r>
            <a:endParaRPr lang="en-US" sz="950" dirty="0"/>
          </a:p>
        </p:txBody>
      </p:sp>
      <p:sp>
        <p:nvSpPr>
          <p:cNvPr id="53" name="Text 50"/>
          <p:cNvSpPr/>
          <p:nvPr/>
        </p:nvSpPr>
        <p:spPr>
          <a:xfrm>
            <a:off x="9921240" y="5340096"/>
            <a:ext cx="1371600" cy="182880"/>
          </a:xfrm>
          <a:prstGeom prst="rect">
            <a:avLst/>
          </a:prstGeom>
          <a:noFill/>
          <a:ln/>
        </p:spPr>
        <p:txBody>
          <a:bodyPr wrap="square" lIns="0" tIns="0" rIns="0" bIns="0" rtlCol="0" anchor="ctr"/>
          <a:lstStyle/>
          <a:p>
            <a:pPr algn="r" indent="0" marL="0">
              <a:buNone/>
            </a:pPr>
            <a:r>
              <a:rPr lang="en-US" sz="950" b="1" dirty="0">
                <a:solidFill>
                  <a:srgbClr val="F5B94A"/>
                </a:solidFill>
                <a:latin typeface="Aptos" pitchFamily="34" charset="0"/>
                <a:ea typeface="Aptos" pitchFamily="34" charset="-122"/>
                <a:cs typeface="Aptos" pitchFamily="34" charset="-120"/>
              </a:rPr>
              <a:t>People decide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73952"/>
            <a:ext cx="5486400" cy="164592"/>
          </a:xfrm>
          <a:prstGeom prst="rect">
            <a:avLst/>
          </a:prstGeom>
          <a:noFill/>
          <a:ln/>
        </p:spPr>
        <p:txBody>
          <a:bodyPr wrap="square" lIns="0" tIns="0" rIns="0" bIns="0" rtlCol="0" anchor="ctr"/>
          <a:lstStyle/>
          <a:p>
            <a:pPr indent="0" marL="0">
              <a:buNone/>
            </a:pPr>
            <a:r>
              <a:rPr lang="en-US" sz="800" spc="100" kern="0" dirty="0">
                <a:solidFill>
                  <a:srgbClr val="8A8A93"/>
                </a:solidFill>
                <a:latin typeface="Aptos" pitchFamily="34" charset="0"/>
                <a:ea typeface="Aptos" pitchFamily="34" charset="-122"/>
                <a:cs typeface="Aptos" pitchFamily="34" charset="-120"/>
              </a:rPr>
              <a:t>ZEN  ·  AUTONOMOUS ENTERPRISE MIGRATION AGENT</a:t>
            </a:r>
            <a:endParaRPr lang="en-US" sz="800" dirty="0"/>
          </a:p>
        </p:txBody>
      </p:sp>
      <p:sp>
        <p:nvSpPr>
          <p:cNvPr id="3" name="Text 1"/>
          <p:cNvSpPr/>
          <p:nvPr/>
        </p:nvSpPr>
        <p:spPr>
          <a:xfrm>
            <a:off x="11002975" y="6473952"/>
            <a:ext cx="548640" cy="164592"/>
          </a:xfrm>
          <a:prstGeom prst="rect">
            <a:avLst/>
          </a:prstGeom>
          <a:noFill/>
          <a:ln/>
        </p:spPr>
        <p:txBody>
          <a:bodyPr wrap="square" lIns="0" tIns="0" rIns="0" bIns="0" rtlCol="0" anchor="ctr"/>
          <a:lstStyle/>
          <a:p>
            <a:pPr algn="r" indent="0" marL="0">
              <a:buNone/>
            </a:pPr>
            <a:r>
              <a:rPr lang="en-US" sz="800" dirty="0">
                <a:solidFill>
                  <a:srgbClr val="8A8A93"/>
                </a:solidFill>
                <a:latin typeface="Aptos" pitchFamily="34" charset="0"/>
                <a:ea typeface="Aptos" pitchFamily="34" charset="-122"/>
                <a:cs typeface="Aptos" pitchFamily="34" charset="-120"/>
              </a:rPr>
              <a:t>08</a:t>
            </a:r>
            <a:endParaRPr lang="en-US" sz="800" dirty="0"/>
          </a:p>
        </p:txBody>
      </p:sp>
      <p:sp>
        <p:nvSpPr>
          <p:cNvPr id="5" name="Text 2"/>
          <p:cNvSpPr/>
          <p:nvPr/>
        </p:nvSpPr>
        <p:spPr>
          <a:xfrm>
            <a:off x="640080" y="502920"/>
            <a:ext cx="6400800" cy="201168"/>
          </a:xfrm>
          <a:prstGeom prst="rect">
            <a:avLst/>
          </a:prstGeom>
          <a:noFill/>
          <a:ln/>
        </p:spPr>
        <p:txBody>
          <a:bodyPr wrap="square" lIns="0" tIns="0" rIns="0" bIns="0" rtlCol="0" anchor="ctr"/>
          <a:lstStyle/>
          <a:p>
            <a:pPr indent="0" marL="0">
              <a:buNone/>
            </a:pPr>
            <a:r>
              <a:rPr lang="en-US" sz="1050" b="1" spc="200" kern="0" dirty="0">
                <a:solidFill>
                  <a:srgbClr val="9400FF"/>
                </a:solidFill>
                <a:latin typeface="Aptos" pitchFamily="34" charset="0"/>
                <a:ea typeface="Aptos" pitchFamily="34" charset="-122"/>
                <a:cs typeface="Aptos" pitchFamily="34" charset="-120"/>
              </a:rPr>
              <a:t>BUSINESS VALUE &amp; SUCCESS</a:t>
            </a:r>
            <a:endParaRPr lang="en-US" sz="1050" dirty="0"/>
          </a:p>
        </p:txBody>
      </p:sp>
      <p:sp>
        <p:nvSpPr>
          <p:cNvPr id="6" name="Text 3"/>
          <p:cNvSpPr/>
          <p:nvPr/>
        </p:nvSpPr>
        <p:spPr>
          <a:xfrm>
            <a:off x="640080" y="768096"/>
            <a:ext cx="10911535" cy="603504"/>
          </a:xfrm>
          <a:prstGeom prst="rect">
            <a:avLst/>
          </a:prstGeom>
          <a:noFill/>
          <a:ln/>
        </p:spPr>
        <p:txBody>
          <a:bodyPr wrap="square" lIns="0" tIns="0" rIns="0" bIns="0" rtlCol="0" anchor="ctr"/>
          <a:lstStyle/>
          <a:p>
            <a:pPr indent="0" marL="0">
              <a:buNone/>
            </a:pPr>
            <a:r>
              <a:rPr lang="en-US" sz="2800" b="1" dirty="0">
                <a:solidFill>
                  <a:srgbClr val="111111"/>
                </a:solidFill>
                <a:latin typeface="Aptos Display" pitchFamily="34" charset="0"/>
                <a:ea typeface="Aptos Display" pitchFamily="34" charset="-122"/>
                <a:cs typeface="Aptos Display" pitchFamily="34" charset="-120"/>
              </a:rPr>
              <a:t>Accelerate customer time-to-value</a:t>
            </a:r>
            <a:endParaRPr lang="en-US" sz="2800" dirty="0"/>
          </a:p>
        </p:txBody>
      </p:sp>
      <p:sp>
        <p:nvSpPr>
          <p:cNvPr id="7" name="Shape 4"/>
          <p:cNvSpPr/>
          <p:nvPr/>
        </p:nvSpPr>
        <p:spPr>
          <a:xfrm>
            <a:off x="640080" y="1691640"/>
            <a:ext cx="566928" cy="566928"/>
          </a:xfrm>
          <a:prstGeom prst="ellipse">
            <a:avLst/>
          </a:prstGeom>
          <a:solidFill>
            <a:srgbClr val="F5ECFF"/>
          </a:solidFill>
          <a:ln/>
        </p:spPr>
      </p:sp>
      <p:sp>
        <p:nvSpPr>
          <p:cNvPr id="8" name="Shape 5"/>
          <p:cNvSpPr/>
          <p:nvPr/>
        </p:nvSpPr>
        <p:spPr>
          <a:xfrm>
            <a:off x="786384" y="1819656"/>
            <a:ext cx="274320" cy="310896"/>
          </a:xfrm>
          <a:prstGeom prst="lightningBolt">
            <a:avLst/>
          </a:prstGeom>
          <a:solidFill>
            <a:srgbClr val="9400FF"/>
          </a:solidFill>
          <a:ln/>
        </p:spPr>
      </p:sp>
      <p:sp>
        <p:nvSpPr>
          <p:cNvPr id="9" name="Text 6"/>
          <p:cNvSpPr/>
          <p:nvPr/>
        </p:nvSpPr>
        <p:spPr>
          <a:xfrm>
            <a:off x="640080" y="2414016"/>
            <a:ext cx="2514600" cy="329184"/>
          </a:xfrm>
          <a:prstGeom prst="rect">
            <a:avLst/>
          </a:prstGeom>
          <a:noFill/>
          <a:ln/>
        </p:spPr>
        <p:txBody>
          <a:bodyPr wrap="square" lIns="0" tIns="0" rIns="0" bIns="0" rtlCol="0" anchor="ctr"/>
          <a:lstStyle/>
          <a:p>
            <a:pPr indent="0" marL="0">
              <a:buNone/>
            </a:pPr>
            <a:r>
              <a:rPr lang="en-US" sz="1700" b="1" dirty="0">
                <a:solidFill>
                  <a:srgbClr val="111111"/>
                </a:solidFill>
                <a:latin typeface="Aptos" pitchFamily="34" charset="0"/>
                <a:ea typeface="Aptos" pitchFamily="34" charset="-122"/>
                <a:cs typeface="Aptos" pitchFamily="34" charset="-120"/>
              </a:rPr>
              <a:t>Faster</a:t>
            </a:r>
            <a:endParaRPr lang="en-US" sz="1700" dirty="0"/>
          </a:p>
        </p:txBody>
      </p:sp>
      <p:sp>
        <p:nvSpPr>
          <p:cNvPr id="10" name="Text 7"/>
          <p:cNvSpPr/>
          <p:nvPr/>
        </p:nvSpPr>
        <p:spPr>
          <a:xfrm>
            <a:off x="640080" y="2743200"/>
            <a:ext cx="2468880" cy="457200"/>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Automates repetitive</a:t>
            </a:r>
            <a:endParaRPr lang="en-US" sz="1200" dirty="0"/>
          </a:p>
          <a:p>
            <a:pPr indent="0" marL="0">
              <a:buNone/>
            </a:pPr>
            <a:r>
              <a:rPr lang="en-US" sz="1200" dirty="0">
                <a:solidFill>
                  <a:srgbClr val="5F5F66"/>
                </a:solidFill>
                <a:latin typeface="Aptos" pitchFamily="34" charset="0"/>
                <a:ea typeface="Aptos" pitchFamily="34" charset="-122"/>
                <a:cs typeface="Aptos" pitchFamily="34" charset="-120"/>
              </a:rPr>
              <a:t>migration work</a:t>
            </a:r>
            <a:endParaRPr lang="en-US" sz="1200" dirty="0"/>
          </a:p>
        </p:txBody>
      </p:sp>
      <p:sp>
        <p:nvSpPr>
          <p:cNvPr id="11" name="Shape 8"/>
          <p:cNvSpPr/>
          <p:nvPr/>
        </p:nvSpPr>
        <p:spPr>
          <a:xfrm>
            <a:off x="3438144" y="1691640"/>
            <a:ext cx="566928" cy="566928"/>
          </a:xfrm>
          <a:prstGeom prst="ellipse">
            <a:avLst/>
          </a:prstGeom>
          <a:solidFill>
            <a:srgbClr val="F5ECFF"/>
          </a:solidFill>
          <a:ln/>
        </p:spPr>
      </p:sp>
      <p:sp>
        <p:nvSpPr>
          <p:cNvPr id="12" name="Text 9"/>
          <p:cNvSpPr/>
          <p:nvPr/>
        </p:nvSpPr>
        <p:spPr>
          <a:xfrm>
            <a:off x="3566160" y="1819656"/>
            <a:ext cx="310896" cy="310896"/>
          </a:xfrm>
          <a:prstGeom prst="ellipse">
            <a:avLst/>
          </a:prstGeom>
          <a:solidFill>
            <a:srgbClr val="9400FF"/>
          </a:solidFill>
          <a:ln/>
        </p:spPr>
        <p:txBody>
          <a:bodyPr wrap="square" lIns="0" tIns="0" rIns="0" bIns="0" rtlCol="0" anchor="ctr"/>
          <a:lstStyle/>
          <a:p>
            <a:pPr algn="ctr" indent="0" marL="0">
              <a:buNone/>
            </a:pPr>
            <a:r>
              <a:rPr lang="en-US" sz="1290" b="1" dirty="0">
                <a:solidFill>
                  <a:srgbClr val="FFFFFF"/>
                </a:solidFill>
                <a:latin typeface="Segoe UI Symbol" pitchFamily="34" charset="0"/>
                <a:ea typeface="Segoe UI Symbol" pitchFamily="34" charset="-122"/>
                <a:cs typeface="Segoe UI Symbol" pitchFamily="34" charset="-120"/>
              </a:rPr>
              <a:t>✓</a:t>
            </a:r>
            <a:endParaRPr lang="en-US" sz="1290" dirty="0"/>
          </a:p>
        </p:txBody>
      </p:sp>
      <p:sp>
        <p:nvSpPr>
          <p:cNvPr id="13" name="Text 10"/>
          <p:cNvSpPr/>
          <p:nvPr/>
        </p:nvSpPr>
        <p:spPr>
          <a:xfrm>
            <a:off x="3438144" y="2414016"/>
            <a:ext cx="2514600" cy="329184"/>
          </a:xfrm>
          <a:prstGeom prst="rect">
            <a:avLst/>
          </a:prstGeom>
          <a:noFill/>
          <a:ln/>
        </p:spPr>
        <p:txBody>
          <a:bodyPr wrap="square" lIns="0" tIns="0" rIns="0" bIns="0" rtlCol="0" anchor="ctr"/>
          <a:lstStyle/>
          <a:p>
            <a:pPr indent="0" marL="0">
              <a:buNone/>
            </a:pPr>
            <a:r>
              <a:rPr lang="en-US" sz="1700" b="1" dirty="0">
                <a:solidFill>
                  <a:srgbClr val="111111"/>
                </a:solidFill>
                <a:latin typeface="Aptos" pitchFamily="34" charset="0"/>
                <a:ea typeface="Aptos" pitchFamily="34" charset="-122"/>
                <a:cs typeface="Aptos" pitchFamily="34" charset="-120"/>
              </a:rPr>
              <a:t>Safer</a:t>
            </a:r>
            <a:endParaRPr lang="en-US" sz="1700" dirty="0"/>
          </a:p>
        </p:txBody>
      </p:sp>
      <p:sp>
        <p:nvSpPr>
          <p:cNvPr id="14" name="Text 11"/>
          <p:cNvSpPr/>
          <p:nvPr/>
        </p:nvSpPr>
        <p:spPr>
          <a:xfrm>
            <a:off x="3438144" y="2743200"/>
            <a:ext cx="2468880" cy="457200"/>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Tests, validates and reconciles</a:t>
            </a:r>
            <a:endParaRPr lang="en-US" sz="1200" dirty="0"/>
          </a:p>
          <a:p>
            <a:pPr indent="0" marL="0">
              <a:buNone/>
            </a:pPr>
            <a:r>
              <a:rPr lang="en-US" sz="1200" dirty="0">
                <a:solidFill>
                  <a:srgbClr val="5F5F66"/>
                </a:solidFill>
                <a:latin typeface="Aptos" pitchFamily="34" charset="0"/>
                <a:ea typeface="Aptos" pitchFamily="34" charset="-122"/>
                <a:cs typeface="Aptos" pitchFamily="34" charset="-120"/>
              </a:rPr>
              <a:t>before and after migration</a:t>
            </a:r>
            <a:endParaRPr lang="en-US" sz="1200" dirty="0"/>
          </a:p>
        </p:txBody>
      </p:sp>
      <p:sp>
        <p:nvSpPr>
          <p:cNvPr id="15" name="Shape 12"/>
          <p:cNvSpPr/>
          <p:nvPr/>
        </p:nvSpPr>
        <p:spPr>
          <a:xfrm>
            <a:off x="6236208" y="1691640"/>
            <a:ext cx="566928" cy="566928"/>
          </a:xfrm>
          <a:prstGeom prst="ellipse">
            <a:avLst/>
          </a:prstGeom>
          <a:solidFill>
            <a:srgbClr val="F5ECFF"/>
          </a:solidFill>
          <a:ln/>
        </p:spPr>
      </p:sp>
      <p:sp>
        <p:nvSpPr>
          <p:cNvPr id="16" name="Shape 13"/>
          <p:cNvSpPr/>
          <p:nvPr/>
        </p:nvSpPr>
        <p:spPr>
          <a:xfrm>
            <a:off x="6364224" y="1819656"/>
            <a:ext cx="310896" cy="310896"/>
          </a:xfrm>
          <a:prstGeom prst="gear6">
            <a:avLst/>
          </a:prstGeom>
          <a:solidFill>
            <a:srgbClr val="9400FF"/>
          </a:solidFill>
          <a:ln/>
        </p:spPr>
      </p:sp>
      <p:sp>
        <p:nvSpPr>
          <p:cNvPr id="17" name="Shape 14"/>
          <p:cNvSpPr/>
          <p:nvPr/>
        </p:nvSpPr>
        <p:spPr>
          <a:xfrm>
            <a:off x="6469380" y="1924812"/>
            <a:ext cx="100584" cy="100584"/>
          </a:xfrm>
          <a:prstGeom prst="ellipse">
            <a:avLst/>
          </a:prstGeom>
          <a:solidFill>
            <a:srgbClr val="F5ECFF"/>
          </a:solidFill>
          <a:ln/>
        </p:spPr>
      </p:sp>
      <p:sp>
        <p:nvSpPr>
          <p:cNvPr id="18" name="Text 15"/>
          <p:cNvSpPr/>
          <p:nvPr/>
        </p:nvSpPr>
        <p:spPr>
          <a:xfrm>
            <a:off x="6236208" y="2414016"/>
            <a:ext cx="2514600" cy="329184"/>
          </a:xfrm>
          <a:prstGeom prst="rect">
            <a:avLst/>
          </a:prstGeom>
          <a:noFill/>
          <a:ln/>
        </p:spPr>
        <p:txBody>
          <a:bodyPr wrap="square" lIns="0" tIns="0" rIns="0" bIns="0" rtlCol="0" anchor="ctr"/>
          <a:lstStyle/>
          <a:p>
            <a:pPr indent="0" marL="0">
              <a:buNone/>
            </a:pPr>
            <a:r>
              <a:rPr lang="en-US" sz="1700" b="1" dirty="0">
                <a:solidFill>
                  <a:srgbClr val="111111"/>
                </a:solidFill>
                <a:latin typeface="Aptos" pitchFamily="34" charset="0"/>
                <a:ea typeface="Aptos" pitchFamily="34" charset="-122"/>
                <a:cs typeface="Aptos" pitchFamily="34" charset="-120"/>
              </a:rPr>
              <a:t>Autonomous</a:t>
            </a:r>
            <a:endParaRPr lang="en-US" sz="1700" dirty="0"/>
          </a:p>
        </p:txBody>
      </p:sp>
      <p:sp>
        <p:nvSpPr>
          <p:cNvPr id="19" name="Text 16"/>
          <p:cNvSpPr/>
          <p:nvPr/>
        </p:nvSpPr>
        <p:spPr>
          <a:xfrm>
            <a:off x="6236208" y="2743200"/>
            <a:ext cx="2468880" cy="457200"/>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AI handles routine failures</a:t>
            </a:r>
            <a:endParaRPr lang="en-US" sz="1200" dirty="0"/>
          </a:p>
          <a:p>
            <a:pPr indent="0" marL="0">
              <a:buNone/>
            </a:pPr>
            <a:r>
              <a:rPr lang="en-US" sz="1200" dirty="0">
                <a:solidFill>
                  <a:srgbClr val="5F5F66"/>
                </a:solidFill>
                <a:latin typeface="Aptos" pitchFamily="34" charset="0"/>
                <a:ea typeface="Aptos" pitchFamily="34" charset="-122"/>
                <a:cs typeface="Aptos" pitchFamily="34" charset="-120"/>
              </a:rPr>
              <a:t>and remediation</a:t>
            </a:r>
            <a:endParaRPr lang="en-US" sz="1200" dirty="0"/>
          </a:p>
        </p:txBody>
      </p:sp>
      <p:sp>
        <p:nvSpPr>
          <p:cNvPr id="20" name="Shape 17"/>
          <p:cNvSpPr/>
          <p:nvPr/>
        </p:nvSpPr>
        <p:spPr>
          <a:xfrm>
            <a:off x="9034272" y="1691640"/>
            <a:ext cx="566928" cy="566928"/>
          </a:xfrm>
          <a:prstGeom prst="ellipse">
            <a:avLst/>
          </a:prstGeom>
          <a:solidFill>
            <a:srgbClr val="F5ECFF"/>
          </a:solidFill>
          <a:ln/>
        </p:spPr>
      </p:sp>
      <p:sp>
        <p:nvSpPr>
          <p:cNvPr id="21" name="Shape 18"/>
          <p:cNvSpPr/>
          <p:nvPr/>
        </p:nvSpPr>
        <p:spPr>
          <a:xfrm>
            <a:off x="9255557" y="1837944"/>
            <a:ext cx="124358" cy="124358"/>
          </a:xfrm>
          <a:prstGeom prst="ellipse">
            <a:avLst/>
          </a:prstGeom>
          <a:solidFill>
            <a:srgbClr val="9400FF"/>
          </a:solidFill>
          <a:ln/>
        </p:spPr>
      </p:sp>
      <p:sp>
        <p:nvSpPr>
          <p:cNvPr id="22" name="Shape 19"/>
          <p:cNvSpPr/>
          <p:nvPr/>
        </p:nvSpPr>
        <p:spPr>
          <a:xfrm>
            <a:off x="9193378" y="1984065"/>
            <a:ext cx="248717" cy="248717"/>
          </a:xfrm>
          <a:prstGeom prst="pie">
            <a:avLst>
              <a:gd name="adj1" fmla="val 10800000"/>
              <a:gd name="adj2" fmla="val 0"/>
            </a:avLst>
          </a:prstGeom>
          <a:solidFill>
            <a:srgbClr val="9400FF"/>
          </a:solidFill>
          <a:ln/>
        </p:spPr>
      </p:sp>
      <p:sp>
        <p:nvSpPr>
          <p:cNvPr id="23" name="Text 20"/>
          <p:cNvSpPr/>
          <p:nvPr/>
        </p:nvSpPr>
        <p:spPr>
          <a:xfrm>
            <a:off x="9034272" y="2414016"/>
            <a:ext cx="2514600" cy="329184"/>
          </a:xfrm>
          <a:prstGeom prst="rect">
            <a:avLst/>
          </a:prstGeom>
          <a:noFill/>
          <a:ln/>
        </p:spPr>
        <p:txBody>
          <a:bodyPr wrap="square" lIns="0" tIns="0" rIns="0" bIns="0" rtlCol="0" anchor="ctr"/>
          <a:lstStyle/>
          <a:p>
            <a:pPr indent="0" marL="0">
              <a:buNone/>
            </a:pPr>
            <a:r>
              <a:rPr lang="en-US" sz="1700" b="1" dirty="0">
                <a:solidFill>
                  <a:srgbClr val="111111"/>
                </a:solidFill>
                <a:latin typeface="Aptos" pitchFamily="34" charset="0"/>
                <a:ea typeface="Aptos" pitchFamily="34" charset="-122"/>
                <a:cs typeface="Aptos" pitchFamily="34" charset="-120"/>
              </a:rPr>
              <a:t>Human-controlled</a:t>
            </a:r>
            <a:endParaRPr lang="en-US" sz="1700" dirty="0"/>
          </a:p>
        </p:txBody>
      </p:sp>
      <p:sp>
        <p:nvSpPr>
          <p:cNvPr id="24" name="Text 21"/>
          <p:cNvSpPr/>
          <p:nvPr/>
        </p:nvSpPr>
        <p:spPr>
          <a:xfrm>
            <a:off x="9034272" y="2743200"/>
            <a:ext cx="2468880" cy="457200"/>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Escalates uncertain or</a:t>
            </a:r>
            <a:endParaRPr lang="en-US" sz="1200" dirty="0"/>
          </a:p>
          <a:p>
            <a:pPr indent="0" marL="0">
              <a:buNone/>
            </a:pPr>
            <a:r>
              <a:rPr lang="en-US" sz="1200" dirty="0">
                <a:solidFill>
                  <a:srgbClr val="5F5F66"/>
                </a:solidFill>
                <a:latin typeface="Aptos" pitchFamily="34" charset="0"/>
                <a:ea typeface="Aptos" pitchFamily="34" charset="-122"/>
                <a:cs typeface="Aptos" pitchFamily="34" charset="-120"/>
              </a:rPr>
              <a:t>critical issues</a:t>
            </a:r>
            <a:endParaRPr lang="en-US" sz="1200" dirty="0"/>
          </a:p>
        </p:txBody>
      </p:sp>
      <p:sp>
        <p:nvSpPr>
          <p:cNvPr id="25" name="Shape 22"/>
          <p:cNvSpPr/>
          <p:nvPr/>
        </p:nvSpPr>
        <p:spPr>
          <a:xfrm>
            <a:off x="640080" y="3520440"/>
            <a:ext cx="10911535" cy="1783080"/>
          </a:xfrm>
          <a:prstGeom prst="roundRect">
            <a:avLst>
              <a:gd name="adj" fmla="val 7179"/>
            </a:avLst>
          </a:prstGeom>
          <a:solidFill>
            <a:srgbClr val="F6F5F8"/>
          </a:solidFill>
          <a:ln/>
        </p:spPr>
      </p:sp>
      <p:sp>
        <p:nvSpPr>
          <p:cNvPr id="26" name="Text 23"/>
          <p:cNvSpPr/>
          <p:nvPr/>
        </p:nvSpPr>
        <p:spPr>
          <a:xfrm>
            <a:off x="960120" y="3730752"/>
            <a:ext cx="3657600" cy="201168"/>
          </a:xfrm>
          <a:prstGeom prst="rect">
            <a:avLst/>
          </a:prstGeom>
          <a:noFill/>
          <a:ln/>
        </p:spPr>
        <p:txBody>
          <a:bodyPr wrap="square" lIns="0" tIns="0" rIns="0" bIns="0" rtlCol="0" anchor="ctr"/>
          <a:lstStyle/>
          <a:p>
            <a:pPr indent="0" marL="0">
              <a:buNone/>
            </a:pPr>
            <a:r>
              <a:rPr lang="en-US" sz="950" b="1" spc="150" kern="0" dirty="0">
                <a:solidFill>
                  <a:srgbClr val="9400FF"/>
                </a:solidFill>
                <a:latin typeface="Aptos" pitchFamily="34" charset="0"/>
                <a:ea typeface="Aptos" pitchFamily="34" charset="-122"/>
                <a:cs typeface="Aptos" pitchFamily="34" charset="-120"/>
              </a:rPr>
              <a:t>MVP SUCCESS TARGETS</a:t>
            </a:r>
            <a:endParaRPr lang="en-US" sz="950" dirty="0"/>
          </a:p>
        </p:txBody>
      </p:sp>
      <p:sp>
        <p:nvSpPr>
          <p:cNvPr id="27" name="Text 24"/>
          <p:cNvSpPr/>
          <p:nvPr/>
        </p:nvSpPr>
        <p:spPr>
          <a:xfrm>
            <a:off x="7573975" y="3730752"/>
            <a:ext cx="3657600" cy="201168"/>
          </a:xfrm>
          <a:prstGeom prst="rect">
            <a:avLst/>
          </a:prstGeom>
          <a:noFill/>
          <a:ln/>
        </p:spPr>
        <p:txBody>
          <a:bodyPr wrap="square" lIns="0" tIns="0" rIns="0" bIns="0" rtlCol="0" anchor="ctr"/>
          <a:lstStyle/>
          <a:p>
            <a:pPr algn="r" indent="0" marL="0">
              <a:buNone/>
            </a:pPr>
            <a:r>
              <a:rPr lang="en-US" sz="950" i="1" dirty="0">
                <a:solidFill>
                  <a:srgbClr val="8A8A93"/>
                </a:solidFill>
                <a:latin typeface="Aptos" pitchFamily="34" charset="0"/>
                <a:ea typeface="Aptos" pitchFamily="34" charset="-122"/>
                <a:cs typeface="Aptos" pitchFamily="34" charset="-120"/>
              </a:rPr>
              <a:t>Targets for the MVP — not claimed results</a:t>
            </a:r>
            <a:endParaRPr lang="en-US" sz="950" dirty="0"/>
          </a:p>
        </p:txBody>
      </p:sp>
      <p:sp>
        <p:nvSpPr>
          <p:cNvPr id="28" name="Text 25"/>
          <p:cNvSpPr/>
          <p:nvPr/>
        </p:nvSpPr>
        <p:spPr>
          <a:xfrm>
            <a:off x="960120" y="4023360"/>
            <a:ext cx="2377440" cy="658368"/>
          </a:xfrm>
          <a:prstGeom prst="rect">
            <a:avLst/>
          </a:prstGeom>
          <a:noFill/>
          <a:ln/>
        </p:spPr>
        <p:txBody>
          <a:bodyPr wrap="square" lIns="0" tIns="0" rIns="0" bIns="0" rtlCol="0" anchor="ctr"/>
          <a:lstStyle/>
          <a:p>
            <a:pPr indent="0" marL="0">
              <a:buNone/>
            </a:pPr>
            <a:r>
              <a:rPr lang="en-US" sz="4400" b="1" dirty="0">
                <a:solidFill>
                  <a:srgbClr val="7A00D2"/>
                </a:solidFill>
                <a:latin typeface="Aptos Display" pitchFamily="34" charset="0"/>
                <a:ea typeface="Aptos Display" pitchFamily="34" charset="-122"/>
                <a:cs typeface="Aptos Display" pitchFamily="34" charset="-120"/>
              </a:rPr>
              <a:t>≥95%</a:t>
            </a:r>
            <a:endParaRPr lang="en-US" sz="4400" dirty="0"/>
          </a:p>
        </p:txBody>
      </p:sp>
      <p:sp>
        <p:nvSpPr>
          <p:cNvPr id="29" name="Text 26"/>
          <p:cNvSpPr/>
          <p:nvPr/>
        </p:nvSpPr>
        <p:spPr>
          <a:xfrm>
            <a:off x="960120" y="4700016"/>
            <a:ext cx="2194560" cy="457200"/>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Migration success rate</a:t>
            </a:r>
            <a:endParaRPr lang="en-US" sz="1200" dirty="0"/>
          </a:p>
        </p:txBody>
      </p:sp>
      <p:sp>
        <p:nvSpPr>
          <p:cNvPr id="30" name="Shape 27"/>
          <p:cNvSpPr/>
          <p:nvPr/>
        </p:nvSpPr>
        <p:spPr>
          <a:xfrm>
            <a:off x="3410712" y="4114800"/>
            <a:ext cx="0" cy="914400"/>
          </a:xfrm>
          <a:prstGeom prst="line">
            <a:avLst/>
          </a:prstGeom>
          <a:noFill/>
          <a:ln w="9525">
            <a:solidFill>
              <a:srgbClr val="DDD9E4"/>
            </a:solidFill>
            <a:prstDash val="solid"/>
          </a:ln>
        </p:spPr>
      </p:sp>
      <p:sp>
        <p:nvSpPr>
          <p:cNvPr id="31" name="Text 28"/>
          <p:cNvSpPr/>
          <p:nvPr/>
        </p:nvSpPr>
        <p:spPr>
          <a:xfrm>
            <a:off x="3639312" y="4023360"/>
            <a:ext cx="2377440" cy="658368"/>
          </a:xfrm>
          <a:prstGeom prst="rect">
            <a:avLst/>
          </a:prstGeom>
          <a:noFill/>
          <a:ln/>
        </p:spPr>
        <p:txBody>
          <a:bodyPr wrap="square" lIns="0" tIns="0" rIns="0" bIns="0" rtlCol="0" anchor="ctr"/>
          <a:lstStyle/>
          <a:p>
            <a:pPr indent="0" marL="0">
              <a:buNone/>
            </a:pPr>
            <a:r>
              <a:rPr lang="en-US" sz="4400" b="1" dirty="0">
                <a:solidFill>
                  <a:srgbClr val="7A00D2"/>
                </a:solidFill>
                <a:latin typeface="Aptos Display" pitchFamily="34" charset="0"/>
                <a:ea typeface="Aptos Display" pitchFamily="34" charset="-122"/>
                <a:cs typeface="Aptos Display" pitchFamily="34" charset="-120"/>
              </a:rPr>
              <a:t>≥80%</a:t>
            </a:r>
            <a:endParaRPr lang="en-US" sz="4400" dirty="0"/>
          </a:p>
        </p:txBody>
      </p:sp>
      <p:sp>
        <p:nvSpPr>
          <p:cNvPr id="32" name="Text 29"/>
          <p:cNvSpPr/>
          <p:nvPr/>
        </p:nvSpPr>
        <p:spPr>
          <a:xfrm>
            <a:off x="3639312" y="4700016"/>
            <a:ext cx="2194560" cy="457200"/>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Recoverable failures</a:t>
            </a:r>
            <a:endParaRPr lang="en-US" sz="1200" dirty="0"/>
          </a:p>
          <a:p>
            <a:pPr indent="0" marL="0">
              <a:buNone/>
            </a:pPr>
            <a:r>
              <a:rPr lang="en-US" sz="1200" dirty="0">
                <a:solidFill>
                  <a:srgbClr val="5F5F66"/>
                </a:solidFill>
                <a:latin typeface="Aptos" pitchFamily="34" charset="0"/>
                <a:ea typeface="Aptos" pitchFamily="34" charset="-122"/>
                <a:cs typeface="Aptos" pitchFamily="34" charset="-120"/>
              </a:rPr>
              <a:t>auto-remediated</a:t>
            </a:r>
            <a:endParaRPr lang="en-US" sz="1200" dirty="0"/>
          </a:p>
        </p:txBody>
      </p:sp>
      <p:sp>
        <p:nvSpPr>
          <p:cNvPr id="33" name="Shape 30"/>
          <p:cNvSpPr/>
          <p:nvPr/>
        </p:nvSpPr>
        <p:spPr>
          <a:xfrm>
            <a:off x="6089904" y="4114800"/>
            <a:ext cx="0" cy="914400"/>
          </a:xfrm>
          <a:prstGeom prst="line">
            <a:avLst/>
          </a:prstGeom>
          <a:noFill/>
          <a:ln w="9525">
            <a:solidFill>
              <a:srgbClr val="DDD9E4"/>
            </a:solidFill>
            <a:prstDash val="solid"/>
          </a:ln>
        </p:spPr>
      </p:sp>
      <p:sp>
        <p:nvSpPr>
          <p:cNvPr id="34" name="Text 31"/>
          <p:cNvSpPr/>
          <p:nvPr/>
        </p:nvSpPr>
        <p:spPr>
          <a:xfrm>
            <a:off x="6318504" y="4023360"/>
            <a:ext cx="2377440" cy="658368"/>
          </a:xfrm>
          <a:prstGeom prst="rect">
            <a:avLst/>
          </a:prstGeom>
          <a:noFill/>
          <a:ln/>
        </p:spPr>
        <p:txBody>
          <a:bodyPr wrap="square" lIns="0" tIns="0" rIns="0" bIns="0" rtlCol="0" anchor="ctr"/>
          <a:lstStyle/>
          <a:p>
            <a:pPr indent="0" marL="0">
              <a:buNone/>
            </a:pPr>
            <a:r>
              <a:rPr lang="en-US" sz="4400" b="1" dirty="0">
                <a:solidFill>
                  <a:srgbClr val="7A00D2"/>
                </a:solidFill>
                <a:latin typeface="Aptos Display" pitchFamily="34" charset="0"/>
                <a:ea typeface="Aptos Display" pitchFamily="34" charset="-122"/>
                <a:cs typeface="Aptos Display" pitchFamily="34" charset="-120"/>
              </a:rPr>
              <a:t>&lt;10%</a:t>
            </a:r>
            <a:endParaRPr lang="en-US" sz="4400" dirty="0"/>
          </a:p>
        </p:txBody>
      </p:sp>
      <p:sp>
        <p:nvSpPr>
          <p:cNvPr id="35" name="Text 32"/>
          <p:cNvSpPr/>
          <p:nvPr/>
        </p:nvSpPr>
        <p:spPr>
          <a:xfrm>
            <a:off x="6318504" y="4700016"/>
            <a:ext cx="2194560" cy="457200"/>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Records needing</a:t>
            </a:r>
            <a:endParaRPr lang="en-US" sz="1200" dirty="0"/>
          </a:p>
          <a:p>
            <a:pPr indent="0" marL="0">
              <a:buNone/>
            </a:pPr>
            <a:r>
              <a:rPr lang="en-US" sz="1200" dirty="0">
                <a:solidFill>
                  <a:srgbClr val="5F5F66"/>
                </a:solidFill>
                <a:latin typeface="Aptos" pitchFamily="34" charset="0"/>
                <a:ea typeface="Aptos" pitchFamily="34" charset="-122"/>
                <a:cs typeface="Aptos" pitchFamily="34" charset="-120"/>
              </a:rPr>
              <a:t>human intervention</a:t>
            </a:r>
            <a:endParaRPr lang="en-US" sz="1200" dirty="0"/>
          </a:p>
        </p:txBody>
      </p:sp>
      <p:sp>
        <p:nvSpPr>
          <p:cNvPr id="36" name="Shape 33"/>
          <p:cNvSpPr/>
          <p:nvPr/>
        </p:nvSpPr>
        <p:spPr>
          <a:xfrm>
            <a:off x="8769096" y="4114800"/>
            <a:ext cx="0" cy="914400"/>
          </a:xfrm>
          <a:prstGeom prst="line">
            <a:avLst/>
          </a:prstGeom>
          <a:noFill/>
          <a:ln w="9525">
            <a:solidFill>
              <a:srgbClr val="DDD9E4"/>
            </a:solidFill>
            <a:prstDash val="solid"/>
          </a:ln>
        </p:spPr>
      </p:sp>
      <p:sp>
        <p:nvSpPr>
          <p:cNvPr id="37" name="Text 34"/>
          <p:cNvSpPr/>
          <p:nvPr/>
        </p:nvSpPr>
        <p:spPr>
          <a:xfrm>
            <a:off x="8997696" y="4023360"/>
            <a:ext cx="2377440" cy="658368"/>
          </a:xfrm>
          <a:prstGeom prst="rect">
            <a:avLst/>
          </a:prstGeom>
          <a:noFill/>
          <a:ln/>
        </p:spPr>
        <p:txBody>
          <a:bodyPr wrap="square" lIns="0" tIns="0" rIns="0" bIns="0" rtlCol="0" anchor="ctr"/>
          <a:lstStyle/>
          <a:p>
            <a:pPr indent="0" marL="0">
              <a:buNone/>
            </a:pPr>
            <a:r>
              <a:rPr lang="en-US" sz="4400" b="1" dirty="0">
                <a:solidFill>
                  <a:srgbClr val="7A00D2"/>
                </a:solidFill>
                <a:latin typeface="Aptos Display" pitchFamily="34" charset="0"/>
                <a:ea typeface="Aptos Display" pitchFamily="34" charset="-122"/>
                <a:cs typeface="Aptos Display" pitchFamily="34" charset="-120"/>
              </a:rPr>
              <a:t>0</a:t>
            </a:r>
            <a:endParaRPr lang="en-US" sz="4400" dirty="0"/>
          </a:p>
        </p:txBody>
      </p:sp>
      <p:sp>
        <p:nvSpPr>
          <p:cNvPr id="38" name="Text 35"/>
          <p:cNvSpPr/>
          <p:nvPr/>
        </p:nvSpPr>
        <p:spPr>
          <a:xfrm>
            <a:off x="8997696" y="4700016"/>
            <a:ext cx="2194560" cy="457200"/>
          </a:xfrm>
          <a:prstGeom prst="rect">
            <a:avLst/>
          </a:prstGeom>
          <a:noFill/>
          <a:ln/>
        </p:spPr>
        <p:txBody>
          <a:bodyPr wrap="square" lIns="0" tIns="0" rIns="0" bIns="0" rtlCol="0" anchor="t"/>
          <a:lstStyle/>
          <a:p>
            <a:pPr indent="0" marL="0">
              <a:buNone/>
            </a:pPr>
            <a:r>
              <a:rPr lang="en-US" sz="1200" dirty="0">
                <a:solidFill>
                  <a:srgbClr val="5F5F66"/>
                </a:solidFill>
                <a:latin typeface="Aptos" pitchFamily="34" charset="0"/>
                <a:ea typeface="Aptos" pitchFamily="34" charset="-122"/>
                <a:cs typeface="Aptos" pitchFamily="34" charset="-120"/>
              </a:rPr>
              <a:t>Duplicate records</a:t>
            </a:r>
            <a:endParaRPr lang="en-US" sz="1200" dirty="0"/>
          </a:p>
        </p:txBody>
      </p:sp>
      <p:sp>
        <p:nvSpPr>
          <p:cNvPr id="39" name="Text 36"/>
          <p:cNvSpPr/>
          <p:nvPr/>
        </p:nvSpPr>
        <p:spPr>
          <a:xfrm>
            <a:off x="640080" y="5559552"/>
            <a:ext cx="5486400" cy="201168"/>
          </a:xfrm>
          <a:prstGeom prst="rect">
            <a:avLst/>
          </a:prstGeom>
          <a:noFill/>
          <a:ln/>
        </p:spPr>
        <p:txBody>
          <a:bodyPr wrap="square" lIns="0" tIns="0" rIns="0" bIns="0" rtlCol="0" anchor="ctr"/>
          <a:lstStyle/>
          <a:p>
            <a:pPr indent="0" marL="0">
              <a:buNone/>
            </a:pPr>
            <a:r>
              <a:rPr lang="en-US" sz="950" b="1" spc="150" kern="0" dirty="0">
                <a:solidFill>
                  <a:srgbClr val="8A8A93"/>
                </a:solidFill>
                <a:latin typeface="Aptos" pitchFamily="34" charset="0"/>
                <a:ea typeface="Aptos" pitchFamily="34" charset="-122"/>
                <a:cs typeface="Aptos" pitchFamily="34" charset="-120"/>
              </a:rPr>
              <a:t>BUILT FOR ENTERPRISES ADOPTING FRESHSERVICE</a:t>
            </a:r>
            <a:endParaRPr lang="en-US" sz="950" dirty="0"/>
          </a:p>
        </p:txBody>
      </p:sp>
      <p:sp>
        <p:nvSpPr>
          <p:cNvPr id="40" name="Text 37"/>
          <p:cNvSpPr/>
          <p:nvPr/>
        </p:nvSpPr>
        <p:spPr>
          <a:xfrm>
            <a:off x="640080" y="5833872"/>
            <a:ext cx="1600200" cy="365760"/>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150" dirty="0">
                <a:solidFill>
                  <a:srgbClr val="111111"/>
                </a:solidFill>
                <a:latin typeface="Aptos" pitchFamily="34" charset="0"/>
                <a:ea typeface="Aptos" pitchFamily="34" charset="-122"/>
                <a:cs typeface="Aptos" pitchFamily="34" charset="-120"/>
              </a:rPr>
              <a:t>IT administrators</a:t>
            </a:r>
            <a:endParaRPr lang="en-US" sz="1150" dirty="0"/>
          </a:p>
        </p:txBody>
      </p:sp>
      <p:sp>
        <p:nvSpPr>
          <p:cNvPr id="41" name="Text 38"/>
          <p:cNvSpPr/>
          <p:nvPr/>
        </p:nvSpPr>
        <p:spPr>
          <a:xfrm>
            <a:off x="2377440" y="5833872"/>
            <a:ext cx="2286000" cy="365760"/>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150" dirty="0">
                <a:solidFill>
                  <a:srgbClr val="111111"/>
                </a:solidFill>
                <a:latin typeface="Aptos" pitchFamily="34" charset="0"/>
                <a:ea typeface="Aptos" pitchFamily="34" charset="-122"/>
                <a:cs typeface="Aptos" pitchFamily="34" charset="-120"/>
              </a:rPr>
              <a:t>Customer onboarding teams</a:t>
            </a:r>
            <a:endParaRPr lang="en-US" sz="1150" dirty="0"/>
          </a:p>
        </p:txBody>
      </p:sp>
      <p:sp>
        <p:nvSpPr>
          <p:cNvPr id="42" name="Text 39"/>
          <p:cNvSpPr/>
          <p:nvPr/>
        </p:nvSpPr>
        <p:spPr>
          <a:xfrm>
            <a:off x="4800600" y="5833872"/>
            <a:ext cx="1920240" cy="365760"/>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150" dirty="0">
                <a:solidFill>
                  <a:srgbClr val="111111"/>
                </a:solidFill>
                <a:latin typeface="Aptos" pitchFamily="34" charset="0"/>
                <a:ea typeface="Aptos" pitchFamily="34" charset="-122"/>
                <a:cs typeface="Aptos" pitchFamily="34" charset="-120"/>
              </a:rPr>
              <a:t>Professional Services</a:t>
            </a:r>
            <a:endParaRPr lang="en-US" sz="1150" dirty="0"/>
          </a:p>
        </p:txBody>
      </p:sp>
      <p:sp>
        <p:nvSpPr>
          <p:cNvPr id="43" name="Text 40"/>
          <p:cNvSpPr/>
          <p:nvPr/>
        </p:nvSpPr>
        <p:spPr>
          <a:xfrm>
            <a:off x="6858000" y="5833872"/>
            <a:ext cx="1463040" cy="365760"/>
          </a:xfrm>
          <a:prstGeom prst="roundRect">
            <a:avLst>
              <a:gd name="adj" fmla="val 50000"/>
            </a:avLst>
          </a:prstGeom>
          <a:solidFill>
            <a:srgbClr val="FFFFFF"/>
          </a:solidFill>
          <a:ln w="9525">
            <a:solidFill>
              <a:srgbClr val="DDD9E4"/>
            </a:solidFill>
          </a:ln>
        </p:spPr>
        <p:txBody>
          <a:bodyPr wrap="square" lIns="0" tIns="0" rIns="0" bIns="0" rtlCol="0" anchor="ctr"/>
          <a:lstStyle/>
          <a:p>
            <a:pPr algn="ctr" indent="0" marL="0">
              <a:buNone/>
            </a:pPr>
            <a:r>
              <a:rPr lang="en-US" sz="1150" dirty="0">
                <a:solidFill>
                  <a:srgbClr val="111111"/>
                </a:solidFill>
                <a:latin typeface="Aptos" pitchFamily="34" charset="0"/>
                <a:ea typeface="Aptos" pitchFamily="34" charset="-122"/>
                <a:cs typeface="Aptos" pitchFamily="34" charset="-120"/>
              </a:rPr>
              <a:t>Migration teams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B12"/>
        </a:solidFill>
      </p:bgPr>
    </p:bg>
    <p:spTree>
      <p:nvGrpSpPr>
        <p:cNvPr id="1" name=""/>
        <p:cNvGrpSpPr/>
        <p:nvPr/>
      </p:nvGrpSpPr>
      <p:grpSpPr>
        <a:xfrm>
          <a:off x="0" y="0"/>
          <a:ext cx="0" cy="0"/>
          <a:chOff x="0" y="0"/>
          <a:chExt cx="0" cy="0"/>
        </a:xfrm>
      </p:grpSpPr>
      <p:sp>
        <p:nvSpPr>
          <p:cNvPr id="2" name="Text 0"/>
          <p:cNvSpPr/>
          <p:nvPr/>
        </p:nvSpPr>
        <p:spPr>
          <a:xfrm>
            <a:off x="640080" y="6473952"/>
            <a:ext cx="5486400" cy="164592"/>
          </a:xfrm>
          <a:prstGeom prst="rect">
            <a:avLst/>
          </a:prstGeom>
          <a:noFill/>
          <a:ln/>
        </p:spPr>
        <p:txBody>
          <a:bodyPr wrap="square" lIns="0" tIns="0" rIns="0" bIns="0" rtlCol="0" anchor="ctr"/>
          <a:lstStyle/>
          <a:p>
            <a:pPr indent="0" marL="0">
              <a:buNone/>
            </a:pPr>
            <a:r>
              <a:rPr lang="en-US" sz="800" spc="100" kern="0" dirty="0">
                <a:solidFill>
                  <a:srgbClr val="A39DB0"/>
                </a:solidFill>
                <a:latin typeface="Aptos" pitchFamily="34" charset="0"/>
                <a:ea typeface="Aptos" pitchFamily="34" charset="-122"/>
                <a:cs typeface="Aptos" pitchFamily="34" charset="-120"/>
              </a:rPr>
              <a:t>ZEN  ·  AUTONOMOUS ENTERPRISE MIGRATION AGENT</a:t>
            </a:r>
            <a:endParaRPr lang="en-US" sz="800" dirty="0"/>
          </a:p>
        </p:txBody>
      </p:sp>
      <p:sp>
        <p:nvSpPr>
          <p:cNvPr id="3" name="Text 1"/>
          <p:cNvSpPr/>
          <p:nvPr/>
        </p:nvSpPr>
        <p:spPr>
          <a:xfrm>
            <a:off x="11002975" y="6473952"/>
            <a:ext cx="548640" cy="164592"/>
          </a:xfrm>
          <a:prstGeom prst="rect">
            <a:avLst/>
          </a:prstGeom>
          <a:noFill/>
          <a:ln/>
        </p:spPr>
        <p:txBody>
          <a:bodyPr wrap="square" lIns="0" tIns="0" rIns="0" bIns="0" rtlCol="0" anchor="ctr"/>
          <a:lstStyle/>
          <a:p>
            <a:pPr algn="r" indent="0" marL="0">
              <a:buNone/>
            </a:pPr>
            <a:r>
              <a:rPr lang="en-US" sz="800" dirty="0">
                <a:solidFill>
                  <a:srgbClr val="A39DB0"/>
                </a:solidFill>
                <a:latin typeface="Aptos" pitchFamily="34" charset="0"/>
                <a:ea typeface="Aptos" pitchFamily="34" charset="-122"/>
                <a:cs typeface="Aptos" pitchFamily="34" charset="-120"/>
              </a:rPr>
              <a:t>09</a:t>
            </a:r>
            <a:endParaRPr lang="en-US" sz="800" dirty="0"/>
          </a:p>
        </p:txBody>
      </p:sp>
      <p:sp>
        <p:nvSpPr>
          <p:cNvPr id="5" name="Text 2"/>
          <p:cNvSpPr/>
          <p:nvPr/>
        </p:nvSpPr>
        <p:spPr>
          <a:xfrm>
            <a:off x="640080" y="502920"/>
            <a:ext cx="3657600" cy="201168"/>
          </a:xfrm>
          <a:prstGeom prst="rect">
            <a:avLst/>
          </a:prstGeom>
          <a:noFill/>
          <a:ln/>
        </p:spPr>
        <p:txBody>
          <a:bodyPr wrap="square" lIns="0" tIns="0" rIns="0" bIns="0" rtlCol="0" anchor="ctr"/>
          <a:lstStyle/>
          <a:p>
            <a:pPr indent="0" marL="0">
              <a:buNone/>
            </a:pPr>
            <a:r>
              <a:rPr lang="en-US" sz="1050" b="1" spc="200" kern="0" dirty="0">
                <a:solidFill>
                  <a:srgbClr val="C9A2FF"/>
                </a:solidFill>
                <a:latin typeface="Aptos" pitchFamily="34" charset="0"/>
                <a:ea typeface="Aptos" pitchFamily="34" charset="-122"/>
                <a:cs typeface="Aptos" pitchFamily="34" charset="-120"/>
              </a:rPr>
              <a:t>THE VISION</a:t>
            </a:r>
            <a:endParaRPr lang="en-US" sz="1050" dirty="0"/>
          </a:p>
        </p:txBody>
      </p:sp>
      <p:sp>
        <p:nvSpPr>
          <p:cNvPr id="6" name="Text 3"/>
          <p:cNvSpPr/>
          <p:nvPr/>
        </p:nvSpPr>
        <p:spPr>
          <a:xfrm>
            <a:off x="640080" y="786384"/>
            <a:ext cx="10911535" cy="640080"/>
          </a:xfrm>
          <a:prstGeom prst="rect">
            <a:avLst/>
          </a:prstGeom>
          <a:noFill/>
          <a:ln/>
        </p:spPr>
        <p:txBody>
          <a:bodyPr wrap="square" lIns="0" tIns="0" rIns="0" bIns="0" rtlCol="0" anchor="ctr"/>
          <a:lstStyle/>
          <a:p>
            <a:pPr indent="0" marL="0">
              <a:buNone/>
            </a:pPr>
            <a:r>
              <a:rPr lang="en-US" sz="4000" b="1" dirty="0">
                <a:solidFill>
                  <a:srgbClr val="A39DB0"/>
                </a:solidFill>
                <a:latin typeface="Aptos Display" pitchFamily="34" charset="0"/>
                <a:ea typeface="Aptos Display" pitchFamily="34" charset="-122"/>
                <a:cs typeface="Aptos Display" pitchFamily="34" charset="-120"/>
              </a:rPr>
              <a:t>From migration project</a:t>
            </a:r>
            <a:endParaRPr lang="en-US" sz="4000" dirty="0"/>
          </a:p>
        </p:txBody>
      </p:sp>
      <p:sp>
        <p:nvSpPr>
          <p:cNvPr id="7" name="Text 4"/>
          <p:cNvSpPr/>
          <p:nvPr/>
        </p:nvSpPr>
        <p:spPr>
          <a:xfrm>
            <a:off x="640080" y="1389888"/>
            <a:ext cx="10911535" cy="640080"/>
          </a:xfrm>
          <a:prstGeom prst="rect">
            <a:avLst/>
          </a:prstGeom>
          <a:noFill/>
          <a:ln/>
        </p:spPr>
        <p:txBody>
          <a:bodyPr wrap="square" lIns="0" tIns="0" rIns="0" bIns="0" rtlCol="0" anchor="ct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to migration agent</a:t>
            </a:r>
            <a:endParaRPr lang="en-US" sz="4000" dirty="0"/>
          </a:p>
        </p:txBody>
      </p:sp>
      <p:sp>
        <p:nvSpPr>
          <p:cNvPr id="8" name="Text 5"/>
          <p:cNvSpPr/>
          <p:nvPr/>
        </p:nvSpPr>
        <p:spPr>
          <a:xfrm>
            <a:off x="640080" y="2560320"/>
            <a:ext cx="1645920" cy="201168"/>
          </a:xfrm>
          <a:prstGeom prst="rect">
            <a:avLst/>
          </a:prstGeom>
          <a:noFill/>
          <a:ln/>
        </p:spPr>
        <p:txBody>
          <a:bodyPr wrap="square" lIns="0" tIns="0" rIns="0" bIns="0" rtlCol="0" anchor="ctr"/>
          <a:lstStyle/>
          <a:p>
            <a:pPr indent="0" marL="0">
              <a:buNone/>
            </a:pPr>
            <a:r>
              <a:rPr lang="en-US" sz="1000" b="1" spc="150" kern="0" dirty="0">
                <a:solidFill>
                  <a:srgbClr val="A39DB0"/>
                </a:solidFill>
                <a:latin typeface="Aptos" pitchFamily="34" charset="0"/>
                <a:ea typeface="Aptos" pitchFamily="34" charset="-122"/>
                <a:cs typeface="Aptos" pitchFamily="34" charset="-120"/>
              </a:rPr>
              <a:t>TODAY</a:t>
            </a:r>
            <a:endParaRPr lang="en-US" sz="1000" dirty="0"/>
          </a:p>
        </p:txBody>
      </p:sp>
      <p:sp>
        <p:nvSpPr>
          <p:cNvPr id="9" name="Text 6"/>
          <p:cNvSpPr/>
          <p:nvPr/>
        </p:nvSpPr>
        <p:spPr>
          <a:xfrm>
            <a:off x="640080" y="2798064"/>
            <a:ext cx="1645920" cy="566928"/>
          </a:xfrm>
          <a:prstGeom prst="rect">
            <a:avLst/>
          </a:prstGeom>
          <a:noFill/>
          <a:ln/>
        </p:spPr>
        <p:txBody>
          <a:bodyPr wrap="square" lIns="0" tIns="0" rIns="0" bIns="0" rtlCol="0" anchor="t"/>
          <a:lstStyle/>
          <a:p>
            <a:pPr indent="0" marL="0">
              <a:buNone/>
            </a:pPr>
            <a:r>
              <a:rPr lang="en-US" sz="1400" b="1" dirty="0">
                <a:solidFill>
                  <a:srgbClr val="A39DB0"/>
                </a:solidFill>
                <a:latin typeface="Aptos" pitchFamily="34" charset="0"/>
                <a:ea typeface="Aptos" pitchFamily="34" charset="-122"/>
                <a:cs typeface="Aptos" pitchFamily="34" charset="-120"/>
              </a:rPr>
              <a:t>People run</a:t>
            </a:r>
            <a:endParaRPr lang="en-US" sz="1400" dirty="0"/>
          </a:p>
          <a:p>
            <a:pPr indent="0" marL="0">
              <a:buNone/>
            </a:pPr>
            <a:r>
              <a:rPr lang="en-US" sz="1400" b="1" dirty="0">
                <a:solidFill>
                  <a:srgbClr val="A39DB0"/>
                </a:solidFill>
                <a:latin typeface="Aptos" pitchFamily="34" charset="0"/>
                <a:ea typeface="Aptos" pitchFamily="34" charset="-122"/>
                <a:cs typeface="Aptos" pitchFamily="34" charset="-120"/>
              </a:rPr>
              <a:t>every step</a:t>
            </a:r>
            <a:endParaRPr lang="en-US" sz="1400" dirty="0"/>
          </a:p>
        </p:txBody>
      </p:sp>
      <p:sp>
        <p:nvSpPr>
          <p:cNvPr id="10" name="Shape 7"/>
          <p:cNvSpPr/>
          <p:nvPr/>
        </p:nvSpPr>
        <p:spPr>
          <a:xfrm>
            <a:off x="3040380" y="3346704"/>
            <a:ext cx="7848295" cy="0"/>
          </a:xfrm>
          <a:prstGeom prst="line">
            <a:avLst/>
          </a:prstGeom>
          <a:noFill/>
          <a:ln w="12700">
            <a:solidFill>
              <a:srgbClr val="2F2A3A"/>
            </a:solidFill>
            <a:prstDash val="solid"/>
          </a:ln>
        </p:spPr>
      </p:sp>
      <p:sp>
        <p:nvSpPr>
          <p:cNvPr id="11" name="Shape 8"/>
          <p:cNvSpPr/>
          <p:nvPr/>
        </p:nvSpPr>
        <p:spPr>
          <a:xfrm>
            <a:off x="2981858" y="2670048"/>
            <a:ext cx="117043" cy="117043"/>
          </a:xfrm>
          <a:prstGeom prst="ellipse">
            <a:avLst/>
          </a:prstGeom>
          <a:solidFill>
            <a:srgbClr val="6B6479"/>
          </a:solidFill>
          <a:ln/>
        </p:spPr>
      </p:sp>
      <p:sp>
        <p:nvSpPr>
          <p:cNvPr id="12" name="Shape 9"/>
          <p:cNvSpPr/>
          <p:nvPr/>
        </p:nvSpPr>
        <p:spPr>
          <a:xfrm>
            <a:off x="2923337" y="2807574"/>
            <a:ext cx="234086" cy="234086"/>
          </a:xfrm>
          <a:prstGeom prst="pie">
            <a:avLst>
              <a:gd name="adj1" fmla="val 10800000"/>
              <a:gd name="adj2" fmla="val 0"/>
            </a:avLst>
          </a:prstGeom>
          <a:solidFill>
            <a:srgbClr val="6B6479"/>
          </a:solidFill>
          <a:ln/>
        </p:spPr>
      </p:sp>
      <p:sp>
        <p:nvSpPr>
          <p:cNvPr id="13" name="Text 10"/>
          <p:cNvSpPr/>
          <p:nvPr/>
        </p:nvSpPr>
        <p:spPr>
          <a:xfrm>
            <a:off x="2468880" y="3136392"/>
            <a:ext cx="1143000" cy="420624"/>
          </a:xfrm>
          <a:prstGeom prst="roundRect">
            <a:avLst>
              <a:gd name="adj" fmla="val 50000"/>
            </a:avLst>
          </a:prstGeom>
          <a:solidFill>
            <a:srgbClr val="17141F"/>
          </a:solidFill>
          <a:ln w="9525">
            <a:solidFill>
              <a:srgbClr val="2F2A3A"/>
            </a:solidFill>
          </a:ln>
        </p:spPr>
        <p:txBody>
          <a:bodyPr wrap="square" lIns="0" tIns="0" rIns="0" bIns="0" rtlCol="0" anchor="ctr"/>
          <a:lstStyle/>
          <a:p>
            <a:pPr algn="ctr" indent="0" marL="0">
              <a:buNone/>
            </a:pPr>
            <a:r>
              <a:rPr lang="en-US" sz="1150" dirty="0">
                <a:solidFill>
                  <a:srgbClr val="A39DB0"/>
                </a:solidFill>
                <a:latin typeface="Aptos" pitchFamily="34" charset="0"/>
                <a:ea typeface="Aptos" pitchFamily="34" charset="-122"/>
                <a:cs typeface="Aptos" pitchFamily="34" charset="-120"/>
              </a:rPr>
              <a:t>Configure</a:t>
            </a:r>
            <a:endParaRPr lang="en-US" sz="1150" dirty="0"/>
          </a:p>
        </p:txBody>
      </p:sp>
      <p:sp>
        <p:nvSpPr>
          <p:cNvPr id="14" name="Shape 11"/>
          <p:cNvSpPr/>
          <p:nvPr/>
        </p:nvSpPr>
        <p:spPr>
          <a:xfrm>
            <a:off x="4289908" y="2670048"/>
            <a:ext cx="117043" cy="117043"/>
          </a:xfrm>
          <a:prstGeom prst="ellipse">
            <a:avLst/>
          </a:prstGeom>
          <a:solidFill>
            <a:srgbClr val="6B6479"/>
          </a:solidFill>
          <a:ln/>
        </p:spPr>
      </p:sp>
      <p:sp>
        <p:nvSpPr>
          <p:cNvPr id="15" name="Shape 12"/>
          <p:cNvSpPr/>
          <p:nvPr/>
        </p:nvSpPr>
        <p:spPr>
          <a:xfrm>
            <a:off x="4231386" y="2807574"/>
            <a:ext cx="234086" cy="234086"/>
          </a:xfrm>
          <a:prstGeom prst="pie">
            <a:avLst>
              <a:gd name="adj1" fmla="val 10800000"/>
              <a:gd name="adj2" fmla="val 0"/>
            </a:avLst>
          </a:prstGeom>
          <a:solidFill>
            <a:srgbClr val="6B6479"/>
          </a:solidFill>
          <a:ln/>
        </p:spPr>
      </p:sp>
      <p:sp>
        <p:nvSpPr>
          <p:cNvPr id="16" name="Text 13"/>
          <p:cNvSpPr/>
          <p:nvPr/>
        </p:nvSpPr>
        <p:spPr>
          <a:xfrm>
            <a:off x="3776929" y="3136392"/>
            <a:ext cx="1143000" cy="420624"/>
          </a:xfrm>
          <a:prstGeom prst="roundRect">
            <a:avLst>
              <a:gd name="adj" fmla="val 50000"/>
            </a:avLst>
          </a:prstGeom>
          <a:solidFill>
            <a:srgbClr val="17141F"/>
          </a:solidFill>
          <a:ln w="9525">
            <a:solidFill>
              <a:srgbClr val="2F2A3A"/>
            </a:solidFill>
          </a:ln>
        </p:spPr>
        <p:txBody>
          <a:bodyPr wrap="square" lIns="0" tIns="0" rIns="0" bIns="0" rtlCol="0" anchor="ctr"/>
          <a:lstStyle/>
          <a:p>
            <a:pPr algn="ctr" indent="0" marL="0">
              <a:buNone/>
            </a:pPr>
            <a:r>
              <a:rPr lang="en-US" sz="1150" dirty="0">
                <a:solidFill>
                  <a:srgbClr val="A39DB0"/>
                </a:solidFill>
                <a:latin typeface="Aptos" pitchFamily="34" charset="0"/>
                <a:ea typeface="Aptos" pitchFamily="34" charset="-122"/>
                <a:cs typeface="Aptos" pitchFamily="34" charset="-120"/>
              </a:rPr>
              <a:t>Map</a:t>
            </a:r>
            <a:endParaRPr lang="en-US" sz="1150" dirty="0"/>
          </a:p>
        </p:txBody>
      </p:sp>
      <p:sp>
        <p:nvSpPr>
          <p:cNvPr id="17" name="Shape 14"/>
          <p:cNvSpPr/>
          <p:nvPr/>
        </p:nvSpPr>
        <p:spPr>
          <a:xfrm>
            <a:off x="5597957" y="2670048"/>
            <a:ext cx="117043" cy="117043"/>
          </a:xfrm>
          <a:prstGeom prst="ellipse">
            <a:avLst/>
          </a:prstGeom>
          <a:solidFill>
            <a:srgbClr val="6B6479"/>
          </a:solidFill>
          <a:ln/>
        </p:spPr>
      </p:sp>
      <p:sp>
        <p:nvSpPr>
          <p:cNvPr id="18" name="Shape 15"/>
          <p:cNvSpPr/>
          <p:nvPr/>
        </p:nvSpPr>
        <p:spPr>
          <a:xfrm>
            <a:off x="5539435" y="2807574"/>
            <a:ext cx="234086" cy="234086"/>
          </a:xfrm>
          <a:prstGeom prst="pie">
            <a:avLst>
              <a:gd name="adj1" fmla="val 10800000"/>
              <a:gd name="adj2" fmla="val 0"/>
            </a:avLst>
          </a:prstGeom>
          <a:solidFill>
            <a:srgbClr val="6B6479"/>
          </a:solidFill>
          <a:ln/>
        </p:spPr>
      </p:sp>
      <p:sp>
        <p:nvSpPr>
          <p:cNvPr id="19" name="Text 16"/>
          <p:cNvSpPr/>
          <p:nvPr/>
        </p:nvSpPr>
        <p:spPr>
          <a:xfrm>
            <a:off x="5084978" y="3136392"/>
            <a:ext cx="1143000" cy="420624"/>
          </a:xfrm>
          <a:prstGeom prst="roundRect">
            <a:avLst>
              <a:gd name="adj" fmla="val 50000"/>
            </a:avLst>
          </a:prstGeom>
          <a:solidFill>
            <a:srgbClr val="17141F"/>
          </a:solidFill>
          <a:ln w="9525">
            <a:solidFill>
              <a:srgbClr val="2F2A3A"/>
            </a:solidFill>
          </a:ln>
        </p:spPr>
        <p:txBody>
          <a:bodyPr wrap="square" lIns="0" tIns="0" rIns="0" bIns="0" rtlCol="0" anchor="ctr"/>
          <a:lstStyle/>
          <a:p>
            <a:pPr algn="ctr" indent="0" marL="0">
              <a:buNone/>
            </a:pPr>
            <a:r>
              <a:rPr lang="en-US" sz="1150" dirty="0">
                <a:solidFill>
                  <a:srgbClr val="A39DB0"/>
                </a:solidFill>
                <a:latin typeface="Aptos" pitchFamily="34" charset="0"/>
                <a:ea typeface="Aptos" pitchFamily="34" charset="-122"/>
                <a:cs typeface="Aptos" pitchFamily="34" charset="-120"/>
              </a:rPr>
              <a:t>Script</a:t>
            </a:r>
            <a:endParaRPr lang="en-US" sz="1150" dirty="0"/>
          </a:p>
        </p:txBody>
      </p:sp>
      <p:sp>
        <p:nvSpPr>
          <p:cNvPr id="20" name="Shape 17"/>
          <p:cNvSpPr/>
          <p:nvPr/>
        </p:nvSpPr>
        <p:spPr>
          <a:xfrm>
            <a:off x="6906006" y="2670048"/>
            <a:ext cx="117043" cy="117043"/>
          </a:xfrm>
          <a:prstGeom prst="ellipse">
            <a:avLst/>
          </a:prstGeom>
          <a:solidFill>
            <a:srgbClr val="6B6479"/>
          </a:solidFill>
          <a:ln/>
        </p:spPr>
      </p:sp>
      <p:sp>
        <p:nvSpPr>
          <p:cNvPr id="21" name="Shape 18"/>
          <p:cNvSpPr/>
          <p:nvPr/>
        </p:nvSpPr>
        <p:spPr>
          <a:xfrm>
            <a:off x="6847484" y="2807574"/>
            <a:ext cx="234086" cy="234086"/>
          </a:xfrm>
          <a:prstGeom prst="pie">
            <a:avLst>
              <a:gd name="adj1" fmla="val 10800000"/>
              <a:gd name="adj2" fmla="val 0"/>
            </a:avLst>
          </a:prstGeom>
          <a:solidFill>
            <a:srgbClr val="6B6479"/>
          </a:solidFill>
          <a:ln/>
        </p:spPr>
      </p:sp>
      <p:sp>
        <p:nvSpPr>
          <p:cNvPr id="22" name="Text 19"/>
          <p:cNvSpPr/>
          <p:nvPr/>
        </p:nvSpPr>
        <p:spPr>
          <a:xfrm>
            <a:off x="6393028" y="3136392"/>
            <a:ext cx="1143000" cy="420624"/>
          </a:xfrm>
          <a:prstGeom prst="roundRect">
            <a:avLst>
              <a:gd name="adj" fmla="val 50000"/>
            </a:avLst>
          </a:prstGeom>
          <a:solidFill>
            <a:srgbClr val="17141F"/>
          </a:solidFill>
          <a:ln w="9525">
            <a:solidFill>
              <a:srgbClr val="2F2A3A"/>
            </a:solidFill>
          </a:ln>
        </p:spPr>
        <p:txBody>
          <a:bodyPr wrap="square" lIns="0" tIns="0" rIns="0" bIns="0" rtlCol="0" anchor="ctr"/>
          <a:lstStyle/>
          <a:p>
            <a:pPr algn="ctr" indent="0" marL="0">
              <a:buNone/>
            </a:pPr>
            <a:r>
              <a:rPr lang="en-US" sz="1150" dirty="0">
                <a:solidFill>
                  <a:srgbClr val="A39DB0"/>
                </a:solidFill>
                <a:latin typeface="Aptos" pitchFamily="34" charset="0"/>
                <a:ea typeface="Aptos" pitchFamily="34" charset="-122"/>
                <a:cs typeface="Aptos" pitchFamily="34" charset="-120"/>
              </a:rPr>
              <a:t>Test</a:t>
            </a:r>
            <a:endParaRPr lang="en-US" sz="1150" dirty="0"/>
          </a:p>
        </p:txBody>
      </p:sp>
      <p:sp>
        <p:nvSpPr>
          <p:cNvPr id="23" name="Shape 20"/>
          <p:cNvSpPr/>
          <p:nvPr/>
        </p:nvSpPr>
        <p:spPr>
          <a:xfrm>
            <a:off x="8214055" y="2670048"/>
            <a:ext cx="117043" cy="117043"/>
          </a:xfrm>
          <a:prstGeom prst="ellipse">
            <a:avLst/>
          </a:prstGeom>
          <a:solidFill>
            <a:srgbClr val="6B6479"/>
          </a:solidFill>
          <a:ln/>
        </p:spPr>
      </p:sp>
      <p:sp>
        <p:nvSpPr>
          <p:cNvPr id="24" name="Shape 21"/>
          <p:cNvSpPr/>
          <p:nvPr/>
        </p:nvSpPr>
        <p:spPr>
          <a:xfrm>
            <a:off x="8155534" y="2807574"/>
            <a:ext cx="234086" cy="234086"/>
          </a:xfrm>
          <a:prstGeom prst="pie">
            <a:avLst>
              <a:gd name="adj1" fmla="val 10800000"/>
              <a:gd name="adj2" fmla="val 0"/>
            </a:avLst>
          </a:prstGeom>
          <a:solidFill>
            <a:srgbClr val="6B6479"/>
          </a:solidFill>
          <a:ln/>
        </p:spPr>
      </p:sp>
      <p:sp>
        <p:nvSpPr>
          <p:cNvPr id="25" name="Text 22"/>
          <p:cNvSpPr/>
          <p:nvPr/>
        </p:nvSpPr>
        <p:spPr>
          <a:xfrm>
            <a:off x="7701077" y="3136392"/>
            <a:ext cx="1143000" cy="420624"/>
          </a:xfrm>
          <a:prstGeom prst="roundRect">
            <a:avLst>
              <a:gd name="adj" fmla="val 50000"/>
            </a:avLst>
          </a:prstGeom>
          <a:solidFill>
            <a:srgbClr val="17141F"/>
          </a:solidFill>
          <a:ln w="9525">
            <a:solidFill>
              <a:srgbClr val="2F2A3A"/>
            </a:solidFill>
          </a:ln>
        </p:spPr>
        <p:txBody>
          <a:bodyPr wrap="square" lIns="0" tIns="0" rIns="0" bIns="0" rtlCol="0" anchor="ctr"/>
          <a:lstStyle/>
          <a:p>
            <a:pPr algn="ctr" indent="0" marL="0">
              <a:buNone/>
            </a:pPr>
            <a:r>
              <a:rPr lang="en-US" sz="1150" dirty="0">
                <a:solidFill>
                  <a:srgbClr val="A39DB0"/>
                </a:solidFill>
                <a:latin typeface="Aptos" pitchFamily="34" charset="0"/>
                <a:ea typeface="Aptos" pitchFamily="34" charset="-122"/>
                <a:cs typeface="Aptos" pitchFamily="34" charset="-120"/>
              </a:rPr>
              <a:t>Migrate</a:t>
            </a:r>
            <a:endParaRPr lang="en-US" sz="1150" dirty="0"/>
          </a:p>
        </p:txBody>
      </p:sp>
      <p:sp>
        <p:nvSpPr>
          <p:cNvPr id="26" name="Shape 23"/>
          <p:cNvSpPr/>
          <p:nvPr/>
        </p:nvSpPr>
        <p:spPr>
          <a:xfrm>
            <a:off x="9522104" y="2670048"/>
            <a:ext cx="117043" cy="117043"/>
          </a:xfrm>
          <a:prstGeom prst="ellipse">
            <a:avLst/>
          </a:prstGeom>
          <a:solidFill>
            <a:srgbClr val="6B6479"/>
          </a:solidFill>
          <a:ln/>
        </p:spPr>
      </p:sp>
      <p:sp>
        <p:nvSpPr>
          <p:cNvPr id="27" name="Shape 24"/>
          <p:cNvSpPr/>
          <p:nvPr/>
        </p:nvSpPr>
        <p:spPr>
          <a:xfrm>
            <a:off x="9463583" y="2807574"/>
            <a:ext cx="234086" cy="234086"/>
          </a:xfrm>
          <a:prstGeom prst="pie">
            <a:avLst>
              <a:gd name="adj1" fmla="val 10800000"/>
              <a:gd name="adj2" fmla="val 0"/>
            </a:avLst>
          </a:prstGeom>
          <a:solidFill>
            <a:srgbClr val="6B6479"/>
          </a:solidFill>
          <a:ln/>
        </p:spPr>
      </p:sp>
      <p:sp>
        <p:nvSpPr>
          <p:cNvPr id="28" name="Text 25"/>
          <p:cNvSpPr/>
          <p:nvPr/>
        </p:nvSpPr>
        <p:spPr>
          <a:xfrm>
            <a:off x="9009126" y="3136392"/>
            <a:ext cx="1143000" cy="420624"/>
          </a:xfrm>
          <a:prstGeom prst="roundRect">
            <a:avLst>
              <a:gd name="adj" fmla="val 50000"/>
            </a:avLst>
          </a:prstGeom>
          <a:solidFill>
            <a:srgbClr val="17141F"/>
          </a:solidFill>
          <a:ln w="9525">
            <a:solidFill>
              <a:srgbClr val="2F2A3A"/>
            </a:solidFill>
          </a:ln>
        </p:spPr>
        <p:txBody>
          <a:bodyPr wrap="square" lIns="0" tIns="0" rIns="0" bIns="0" rtlCol="0" anchor="ctr"/>
          <a:lstStyle/>
          <a:p>
            <a:pPr algn="ctr" indent="0" marL="0">
              <a:buNone/>
            </a:pPr>
            <a:r>
              <a:rPr lang="en-US" sz="1150" dirty="0">
                <a:solidFill>
                  <a:srgbClr val="A39DB0"/>
                </a:solidFill>
                <a:latin typeface="Aptos" pitchFamily="34" charset="0"/>
                <a:ea typeface="Aptos" pitchFamily="34" charset="-122"/>
                <a:cs typeface="Aptos" pitchFamily="34" charset="-120"/>
              </a:rPr>
              <a:t>Troubleshoot</a:t>
            </a:r>
            <a:endParaRPr lang="en-US" sz="1150" dirty="0"/>
          </a:p>
        </p:txBody>
      </p:sp>
      <p:sp>
        <p:nvSpPr>
          <p:cNvPr id="29" name="Shape 26"/>
          <p:cNvSpPr/>
          <p:nvPr/>
        </p:nvSpPr>
        <p:spPr>
          <a:xfrm>
            <a:off x="10830154" y="2670048"/>
            <a:ext cx="117043" cy="117043"/>
          </a:xfrm>
          <a:prstGeom prst="ellipse">
            <a:avLst/>
          </a:prstGeom>
          <a:solidFill>
            <a:srgbClr val="6B6479"/>
          </a:solidFill>
          <a:ln/>
        </p:spPr>
      </p:sp>
      <p:sp>
        <p:nvSpPr>
          <p:cNvPr id="30" name="Shape 27"/>
          <p:cNvSpPr/>
          <p:nvPr/>
        </p:nvSpPr>
        <p:spPr>
          <a:xfrm>
            <a:off x="10771632" y="2807574"/>
            <a:ext cx="234086" cy="234086"/>
          </a:xfrm>
          <a:prstGeom prst="pie">
            <a:avLst>
              <a:gd name="adj1" fmla="val 10800000"/>
              <a:gd name="adj2" fmla="val 0"/>
            </a:avLst>
          </a:prstGeom>
          <a:solidFill>
            <a:srgbClr val="6B6479"/>
          </a:solidFill>
          <a:ln/>
        </p:spPr>
      </p:sp>
      <p:sp>
        <p:nvSpPr>
          <p:cNvPr id="31" name="Text 28"/>
          <p:cNvSpPr/>
          <p:nvPr/>
        </p:nvSpPr>
        <p:spPr>
          <a:xfrm>
            <a:off x="10317175" y="3136392"/>
            <a:ext cx="1143000" cy="420624"/>
          </a:xfrm>
          <a:prstGeom prst="roundRect">
            <a:avLst>
              <a:gd name="adj" fmla="val 50000"/>
            </a:avLst>
          </a:prstGeom>
          <a:solidFill>
            <a:srgbClr val="17141F"/>
          </a:solidFill>
          <a:ln w="9525">
            <a:solidFill>
              <a:srgbClr val="2F2A3A"/>
            </a:solidFill>
          </a:ln>
        </p:spPr>
        <p:txBody>
          <a:bodyPr wrap="square" lIns="0" tIns="0" rIns="0" bIns="0" rtlCol="0" anchor="ctr"/>
          <a:lstStyle/>
          <a:p>
            <a:pPr algn="ctr" indent="0" marL="0">
              <a:buNone/>
            </a:pPr>
            <a:r>
              <a:rPr lang="en-US" sz="1150" dirty="0">
                <a:solidFill>
                  <a:srgbClr val="A39DB0"/>
                </a:solidFill>
                <a:latin typeface="Aptos" pitchFamily="34" charset="0"/>
                <a:ea typeface="Aptos" pitchFamily="34" charset="-122"/>
                <a:cs typeface="Aptos" pitchFamily="34" charset="-120"/>
              </a:rPr>
              <a:t>Validate</a:t>
            </a:r>
            <a:endParaRPr lang="en-US" sz="1150" dirty="0"/>
          </a:p>
        </p:txBody>
      </p:sp>
      <p:sp>
        <p:nvSpPr>
          <p:cNvPr id="32" name="Text 29"/>
          <p:cNvSpPr/>
          <p:nvPr/>
        </p:nvSpPr>
        <p:spPr>
          <a:xfrm>
            <a:off x="640080" y="4224528"/>
            <a:ext cx="1645920" cy="201168"/>
          </a:xfrm>
          <a:prstGeom prst="rect">
            <a:avLst/>
          </a:prstGeom>
          <a:noFill/>
          <a:ln/>
        </p:spPr>
        <p:txBody>
          <a:bodyPr wrap="square" lIns="0" tIns="0" rIns="0" bIns="0" rtlCol="0" anchor="ctr"/>
          <a:lstStyle/>
          <a:p>
            <a:pPr indent="0" marL="0">
              <a:buNone/>
            </a:pPr>
            <a:r>
              <a:rPr lang="en-US" sz="1000" b="1" spc="150" kern="0" dirty="0">
                <a:solidFill>
                  <a:srgbClr val="5EE6A8"/>
                </a:solidFill>
                <a:latin typeface="Aptos" pitchFamily="34" charset="0"/>
                <a:ea typeface="Aptos" pitchFamily="34" charset="-122"/>
                <a:cs typeface="Aptos" pitchFamily="34" charset="-120"/>
              </a:rPr>
              <a:t>WITH ZEN</a:t>
            </a:r>
            <a:endParaRPr lang="en-US" sz="1000" dirty="0"/>
          </a:p>
        </p:txBody>
      </p:sp>
      <p:sp>
        <p:nvSpPr>
          <p:cNvPr id="33" name="Text 30"/>
          <p:cNvSpPr/>
          <p:nvPr/>
        </p:nvSpPr>
        <p:spPr>
          <a:xfrm>
            <a:off x="640080" y="4462272"/>
            <a:ext cx="1645920" cy="566928"/>
          </a:xfrm>
          <a:prstGeom prst="rect">
            <a:avLst/>
          </a:prstGeom>
          <a:noFill/>
          <a:ln/>
        </p:spPr>
        <p:txBody>
          <a:bodyPr wrap="square" lIns="0" tIns="0" rIns="0" bIns="0" rtlCol="0" anchor="t"/>
          <a:lstStyle/>
          <a:p>
            <a:pPr indent="0" marL="0">
              <a:buNone/>
            </a:pPr>
            <a:r>
              <a:rPr lang="en-US" sz="1400" b="1" dirty="0">
                <a:solidFill>
                  <a:srgbClr val="FFFFFF"/>
                </a:solidFill>
                <a:latin typeface="Aptos" pitchFamily="34" charset="0"/>
                <a:ea typeface="Aptos" pitchFamily="34" charset="-122"/>
                <a:cs typeface="Aptos" pitchFamily="34" charset="-120"/>
              </a:rPr>
              <a:t>People set</a:t>
            </a:r>
            <a:endParaRPr lang="en-US" sz="1400" dirty="0"/>
          </a:p>
          <a:p>
            <a:pPr indent="0" marL="0">
              <a:buNone/>
            </a:pPr>
            <a:r>
              <a:rPr lang="en-US" sz="1400" b="1" dirty="0">
                <a:solidFill>
                  <a:srgbClr val="FFFFFF"/>
                </a:solidFill>
                <a:latin typeface="Aptos" pitchFamily="34" charset="0"/>
                <a:ea typeface="Aptos" pitchFamily="34" charset="-122"/>
                <a:cs typeface="Aptos" pitchFamily="34" charset="-120"/>
              </a:rPr>
              <a:t>the goal</a:t>
            </a:r>
            <a:endParaRPr lang="en-US" sz="1400" dirty="0"/>
          </a:p>
        </p:txBody>
      </p:sp>
      <p:sp>
        <p:nvSpPr>
          <p:cNvPr id="34" name="Text 31"/>
          <p:cNvSpPr/>
          <p:nvPr/>
        </p:nvSpPr>
        <p:spPr>
          <a:xfrm>
            <a:off x="2240280" y="3931920"/>
            <a:ext cx="2514600" cy="402336"/>
          </a:xfrm>
          <a:prstGeom prst="roundRect">
            <a:avLst>
              <a:gd name="adj" fmla="val 50000"/>
            </a:avLst>
          </a:prstGeom>
          <a:solidFill>
            <a:srgbClr val="9400FF"/>
          </a:solid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“Move JSM → Freshservice”</a:t>
            </a:r>
            <a:endParaRPr lang="en-US" sz="1200" dirty="0"/>
          </a:p>
        </p:txBody>
      </p:sp>
      <p:sp>
        <p:nvSpPr>
          <p:cNvPr id="35" name="Shape 32"/>
          <p:cNvSpPr/>
          <p:nvPr/>
        </p:nvSpPr>
        <p:spPr>
          <a:xfrm flipV="1">
            <a:off x="2560320" y="4325112"/>
            <a:ext cx="182880" cy="109728"/>
          </a:xfrm>
          <a:prstGeom prst="triangle">
            <a:avLst/>
          </a:prstGeom>
          <a:solidFill>
            <a:srgbClr val="9400FF"/>
          </a:solidFill>
          <a:ln/>
        </p:spPr>
      </p:sp>
      <p:sp>
        <p:nvSpPr>
          <p:cNvPr id="36" name="Shape 33"/>
          <p:cNvSpPr/>
          <p:nvPr/>
        </p:nvSpPr>
        <p:spPr>
          <a:xfrm>
            <a:off x="2571293" y="4553712"/>
            <a:ext cx="160934" cy="160934"/>
          </a:xfrm>
          <a:prstGeom prst="ellipse">
            <a:avLst/>
          </a:prstGeom>
          <a:solidFill>
            <a:srgbClr val="FFFFFF"/>
          </a:solidFill>
          <a:ln/>
        </p:spPr>
      </p:sp>
      <p:sp>
        <p:nvSpPr>
          <p:cNvPr id="37" name="Shape 34"/>
          <p:cNvSpPr/>
          <p:nvPr/>
        </p:nvSpPr>
        <p:spPr>
          <a:xfrm>
            <a:off x="2490826" y="4742810"/>
            <a:ext cx="321869" cy="321869"/>
          </a:xfrm>
          <a:prstGeom prst="pie">
            <a:avLst>
              <a:gd name="adj1" fmla="val 10800000"/>
              <a:gd name="adj2" fmla="val 0"/>
            </a:avLst>
          </a:prstGeom>
          <a:solidFill>
            <a:srgbClr val="FFFFFF"/>
          </a:solidFill>
          <a:ln/>
        </p:spPr>
      </p:sp>
      <p:sp>
        <p:nvSpPr>
          <p:cNvPr id="38" name="Shape 35"/>
          <p:cNvSpPr/>
          <p:nvPr/>
        </p:nvSpPr>
        <p:spPr>
          <a:xfrm>
            <a:off x="2926080" y="4754880"/>
            <a:ext cx="274320" cy="0"/>
          </a:xfrm>
          <a:prstGeom prst="line">
            <a:avLst/>
          </a:prstGeom>
          <a:noFill/>
          <a:ln w="15875">
            <a:solidFill>
              <a:srgbClr val="C9A2FF"/>
            </a:solidFill>
            <a:prstDash val="solid"/>
            <a:tailEnd type="triangle"/>
          </a:ln>
        </p:spPr>
      </p:sp>
      <p:sp>
        <p:nvSpPr>
          <p:cNvPr id="39" name="Shape 36"/>
          <p:cNvSpPr/>
          <p:nvPr/>
        </p:nvSpPr>
        <p:spPr>
          <a:xfrm>
            <a:off x="3246120" y="4434840"/>
            <a:ext cx="7589520" cy="640080"/>
          </a:xfrm>
          <a:prstGeom prst="roundRect">
            <a:avLst>
              <a:gd name="adj" fmla="val 17143"/>
            </a:avLst>
          </a:prstGeom>
          <a:solidFill>
            <a:srgbClr val="15121C"/>
          </a:solidFill>
          <a:ln w="12700">
            <a:solidFill>
              <a:srgbClr val="9400FF"/>
            </a:solidFill>
            <a:prstDash val="solid"/>
          </a:ln>
        </p:spPr>
      </p:sp>
      <p:sp>
        <p:nvSpPr>
          <p:cNvPr id="40" name="Text 37"/>
          <p:cNvSpPr/>
          <p:nvPr/>
        </p:nvSpPr>
        <p:spPr>
          <a:xfrm>
            <a:off x="3337560" y="4544568"/>
            <a:ext cx="685800" cy="420624"/>
          </a:xfrm>
          <a:prstGeom prst="roundRect">
            <a:avLst>
              <a:gd name="adj" fmla="val 17391"/>
            </a:avLst>
          </a:prstGeom>
          <a:solidFill>
            <a:srgbClr val="9400FF"/>
          </a:solidFill>
          <a:ln/>
        </p:spPr>
        <p:txBody>
          <a:bodyPr wrap="square" lIns="0" tIns="0" rIns="0" bIns="0" rtlCol="0" anchor="ctr"/>
          <a:lstStyle/>
          <a:p>
            <a:pPr algn="ctr" indent="0" marL="0">
              <a:buNone/>
            </a:pPr>
            <a:r>
              <a:rPr lang="en-US" sz="1200" b="1" spc="200" kern="0" dirty="0">
                <a:solidFill>
                  <a:srgbClr val="FFFFFF"/>
                </a:solidFill>
                <a:latin typeface="Aptos" pitchFamily="34" charset="0"/>
                <a:ea typeface="Aptos" pitchFamily="34" charset="-122"/>
                <a:cs typeface="Aptos" pitchFamily="34" charset="-120"/>
              </a:rPr>
              <a:t>ZEN</a:t>
            </a:r>
            <a:endParaRPr lang="en-US" sz="1200" dirty="0"/>
          </a:p>
        </p:txBody>
      </p:sp>
      <p:sp>
        <p:nvSpPr>
          <p:cNvPr id="41" name="Text 38"/>
          <p:cNvSpPr/>
          <p:nvPr/>
        </p:nvSpPr>
        <p:spPr>
          <a:xfrm>
            <a:off x="4114800" y="4544568"/>
            <a:ext cx="892193" cy="420624"/>
          </a:xfrm>
          <a:prstGeom prst="roundRect">
            <a:avLst>
              <a:gd name="adj" fmla="val 17391"/>
            </a:avLst>
          </a:prstGeom>
          <a:solidFill>
            <a:srgbClr val="2A1F3D"/>
          </a:solidFill>
          <a:ln/>
        </p:spPr>
        <p:txBody>
          <a:bodyPr wrap="square" lIns="0" tIns="0" rIns="0" bIns="0" rtlCol="0" anchor="ctr"/>
          <a:lstStyle/>
          <a:p>
            <a:pPr algn="ctr" indent="0" marL="0">
              <a:buNone/>
            </a:pPr>
            <a:r>
              <a:rPr lang="en-US" sz="1100" dirty="0">
                <a:solidFill>
                  <a:srgbClr val="FFFFFF"/>
                </a:solidFill>
                <a:latin typeface="Aptos" pitchFamily="34" charset="0"/>
                <a:ea typeface="Aptos" pitchFamily="34" charset="-122"/>
                <a:cs typeface="Aptos" pitchFamily="34" charset="-120"/>
              </a:rPr>
              <a:t>Discover</a:t>
            </a:r>
            <a:endParaRPr lang="en-US" sz="1100" dirty="0"/>
          </a:p>
        </p:txBody>
      </p:sp>
      <p:sp>
        <p:nvSpPr>
          <p:cNvPr id="42" name="Text 39"/>
          <p:cNvSpPr/>
          <p:nvPr/>
        </p:nvSpPr>
        <p:spPr>
          <a:xfrm>
            <a:off x="5071001" y="4544568"/>
            <a:ext cx="892193" cy="420624"/>
          </a:xfrm>
          <a:prstGeom prst="roundRect">
            <a:avLst>
              <a:gd name="adj" fmla="val 17391"/>
            </a:avLst>
          </a:prstGeom>
          <a:solidFill>
            <a:srgbClr val="2A1F3D"/>
          </a:solidFill>
          <a:ln/>
        </p:spPr>
        <p:txBody>
          <a:bodyPr wrap="square" lIns="0" tIns="0" rIns="0" bIns="0" rtlCol="0" anchor="ctr"/>
          <a:lstStyle/>
          <a:p>
            <a:pPr algn="ctr" indent="0" marL="0">
              <a:buNone/>
            </a:pPr>
            <a:r>
              <a:rPr lang="en-US" sz="1100" dirty="0">
                <a:solidFill>
                  <a:srgbClr val="FFFFFF"/>
                </a:solidFill>
                <a:latin typeface="Aptos" pitchFamily="34" charset="0"/>
                <a:ea typeface="Aptos" pitchFamily="34" charset="-122"/>
                <a:cs typeface="Aptos" pitchFamily="34" charset="-120"/>
              </a:rPr>
              <a:t>Map</a:t>
            </a:r>
            <a:endParaRPr lang="en-US" sz="1100" dirty="0"/>
          </a:p>
        </p:txBody>
      </p:sp>
      <p:sp>
        <p:nvSpPr>
          <p:cNvPr id="43" name="Text 40"/>
          <p:cNvSpPr/>
          <p:nvPr/>
        </p:nvSpPr>
        <p:spPr>
          <a:xfrm>
            <a:off x="6027202" y="4544568"/>
            <a:ext cx="892193" cy="420624"/>
          </a:xfrm>
          <a:prstGeom prst="roundRect">
            <a:avLst>
              <a:gd name="adj" fmla="val 17391"/>
            </a:avLst>
          </a:prstGeom>
          <a:solidFill>
            <a:srgbClr val="2A1F3D"/>
          </a:solidFill>
          <a:ln/>
        </p:spPr>
        <p:txBody>
          <a:bodyPr wrap="square" lIns="0" tIns="0" rIns="0" bIns="0" rtlCol="0" anchor="ctr"/>
          <a:lstStyle/>
          <a:p>
            <a:pPr algn="ctr" indent="0" marL="0">
              <a:buNone/>
            </a:pPr>
            <a:r>
              <a:rPr lang="en-US" sz="1100" dirty="0">
                <a:solidFill>
                  <a:srgbClr val="FFFFFF"/>
                </a:solidFill>
                <a:latin typeface="Aptos" pitchFamily="34" charset="0"/>
                <a:ea typeface="Aptos" pitchFamily="34" charset="-122"/>
                <a:cs typeface="Aptos" pitchFamily="34" charset="-120"/>
              </a:rPr>
              <a:t>Test</a:t>
            </a:r>
            <a:endParaRPr lang="en-US" sz="1100" dirty="0"/>
          </a:p>
        </p:txBody>
      </p:sp>
      <p:sp>
        <p:nvSpPr>
          <p:cNvPr id="44" name="Text 41"/>
          <p:cNvSpPr/>
          <p:nvPr/>
        </p:nvSpPr>
        <p:spPr>
          <a:xfrm>
            <a:off x="6983403" y="4544568"/>
            <a:ext cx="892193" cy="420624"/>
          </a:xfrm>
          <a:prstGeom prst="roundRect">
            <a:avLst>
              <a:gd name="adj" fmla="val 17391"/>
            </a:avLst>
          </a:prstGeom>
          <a:solidFill>
            <a:srgbClr val="2A1F3D"/>
          </a:solidFill>
          <a:ln/>
        </p:spPr>
        <p:txBody>
          <a:bodyPr wrap="square" lIns="0" tIns="0" rIns="0" bIns="0" rtlCol="0" anchor="ctr"/>
          <a:lstStyle/>
          <a:p>
            <a:pPr algn="ctr" indent="0" marL="0">
              <a:buNone/>
            </a:pPr>
            <a:r>
              <a:rPr lang="en-US" sz="1100" dirty="0">
                <a:solidFill>
                  <a:srgbClr val="FFFFFF"/>
                </a:solidFill>
                <a:latin typeface="Aptos" pitchFamily="34" charset="0"/>
                <a:ea typeface="Aptos" pitchFamily="34" charset="-122"/>
                <a:cs typeface="Aptos" pitchFamily="34" charset="-120"/>
              </a:rPr>
              <a:t>Execute</a:t>
            </a:r>
            <a:endParaRPr lang="en-US" sz="1100" dirty="0"/>
          </a:p>
        </p:txBody>
      </p:sp>
      <p:sp>
        <p:nvSpPr>
          <p:cNvPr id="45" name="Text 42"/>
          <p:cNvSpPr/>
          <p:nvPr/>
        </p:nvSpPr>
        <p:spPr>
          <a:xfrm>
            <a:off x="7939605" y="4544568"/>
            <a:ext cx="892193" cy="420624"/>
          </a:xfrm>
          <a:prstGeom prst="roundRect">
            <a:avLst>
              <a:gd name="adj" fmla="val 17391"/>
            </a:avLst>
          </a:prstGeom>
          <a:solidFill>
            <a:srgbClr val="2A1F3D"/>
          </a:solidFill>
          <a:ln/>
        </p:spPr>
        <p:txBody>
          <a:bodyPr wrap="square" lIns="0" tIns="0" rIns="0" bIns="0" rtlCol="0" anchor="ctr"/>
          <a:lstStyle/>
          <a:p>
            <a:pPr algn="ctr" indent="0" marL="0">
              <a:buNone/>
            </a:pPr>
            <a:r>
              <a:rPr lang="en-US" sz="1100" dirty="0">
                <a:solidFill>
                  <a:srgbClr val="FFFFFF"/>
                </a:solidFill>
                <a:latin typeface="Aptos" pitchFamily="34" charset="0"/>
                <a:ea typeface="Aptos" pitchFamily="34" charset="-122"/>
                <a:cs typeface="Aptos" pitchFamily="34" charset="-120"/>
              </a:rPr>
              <a:t>Remediate</a:t>
            </a:r>
            <a:endParaRPr lang="en-US" sz="1100" dirty="0"/>
          </a:p>
        </p:txBody>
      </p:sp>
      <p:sp>
        <p:nvSpPr>
          <p:cNvPr id="46" name="Text 43"/>
          <p:cNvSpPr/>
          <p:nvPr/>
        </p:nvSpPr>
        <p:spPr>
          <a:xfrm>
            <a:off x="8895806" y="4544568"/>
            <a:ext cx="892193" cy="420624"/>
          </a:xfrm>
          <a:prstGeom prst="roundRect">
            <a:avLst>
              <a:gd name="adj" fmla="val 17391"/>
            </a:avLst>
          </a:prstGeom>
          <a:solidFill>
            <a:srgbClr val="2A1F3D"/>
          </a:solidFill>
          <a:ln/>
        </p:spPr>
        <p:txBody>
          <a:bodyPr wrap="square" lIns="0" tIns="0" rIns="0" bIns="0" rtlCol="0" anchor="ctr"/>
          <a:lstStyle/>
          <a:p>
            <a:pPr algn="ctr" indent="0" marL="0">
              <a:buNone/>
            </a:pPr>
            <a:r>
              <a:rPr lang="en-US" sz="1100" dirty="0">
                <a:solidFill>
                  <a:srgbClr val="FFFFFF"/>
                </a:solidFill>
                <a:latin typeface="Aptos" pitchFamily="34" charset="0"/>
                <a:ea typeface="Aptos" pitchFamily="34" charset="-122"/>
                <a:cs typeface="Aptos" pitchFamily="34" charset="-120"/>
              </a:rPr>
              <a:t>Reconcile</a:t>
            </a:r>
            <a:endParaRPr lang="en-US" sz="1100" dirty="0"/>
          </a:p>
        </p:txBody>
      </p:sp>
      <p:sp>
        <p:nvSpPr>
          <p:cNvPr id="47" name="Text 44"/>
          <p:cNvSpPr/>
          <p:nvPr/>
        </p:nvSpPr>
        <p:spPr>
          <a:xfrm>
            <a:off x="9852007" y="4544568"/>
            <a:ext cx="892193" cy="420624"/>
          </a:xfrm>
          <a:prstGeom prst="roundRect">
            <a:avLst>
              <a:gd name="adj" fmla="val 17391"/>
            </a:avLst>
          </a:prstGeom>
          <a:solidFill>
            <a:srgbClr val="2A1F3D"/>
          </a:solidFill>
          <a:ln/>
        </p:spPr>
        <p:txBody>
          <a:bodyPr wrap="square" lIns="0" tIns="0" rIns="0" bIns="0" rtlCol="0" anchor="ctr"/>
          <a:lstStyle/>
          <a:p>
            <a:pPr algn="ctr" indent="0" marL="0">
              <a:buNone/>
            </a:pPr>
            <a:r>
              <a:rPr lang="en-US" sz="1100" dirty="0">
                <a:solidFill>
                  <a:srgbClr val="FFFFFF"/>
                </a:solidFill>
                <a:latin typeface="Aptos" pitchFamily="34" charset="0"/>
                <a:ea typeface="Aptos" pitchFamily="34" charset="-122"/>
                <a:cs typeface="Aptos" pitchFamily="34" charset="-120"/>
              </a:rPr>
              <a:t>Explain</a:t>
            </a:r>
            <a:endParaRPr lang="en-US" sz="1100" dirty="0"/>
          </a:p>
        </p:txBody>
      </p:sp>
      <p:sp>
        <p:nvSpPr>
          <p:cNvPr id="48" name="Text 45"/>
          <p:cNvSpPr/>
          <p:nvPr/>
        </p:nvSpPr>
        <p:spPr>
          <a:xfrm>
            <a:off x="7315200" y="4133088"/>
            <a:ext cx="3520440" cy="201168"/>
          </a:xfrm>
          <a:prstGeom prst="rect">
            <a:avLst/>
          </a:prstGeom>
          <a:noFill/>
          <a:ln/>
        </p:spPr>
        <p:txBody>
          <a:bodyPr wrap="square" lIns="0" tIns="0" rIns="0" bIns="0" rtlCol="0" anchor="ctr"/>
          <a:lstStyle/>
          <a:p>
            <a:pPr algn="r" indent="0" marL="0">
              <a:buNone/>
            </a:pPr>
            <a:r>
              <a:rPr lang="en-US" sz="900" b="1" spc="150" kern="0" dirty="0">
                <a:solidFill>
                  <a:srgbClr val="5EE6A8"/>
                </a:solidFill>
                <a:latin typeface="Aptos" pitchFamily="34" charset="0"/>
                <a:ea typeface="Aptos" pitchFamily="34" charset="-122"/>
                <a:cs typeface="Aptos" pitchFamily="34" charset="-120"/>
              </a:rPr>
              <a:t>ZEN OWNS THE MIGRATION</a:t>
            </a:r>
            <a:endParaRPr lang="en-US" sz="900" dirty="0"/>
          </a:p>
        </p:txBody>
      </p:sp>
      <p:sp>
        <p:nvSpPr>
          <p:cNvPr id="49" name="Shape 46"/>
          <p:cNvSpPr/>
          <p:nvPr/>
        </p:nvSpPr>
        <p:spPr>
          <a:xfrm>
            <a:off x="10881360" y="4754880"/>
            <a:ext cx="228600" cy="0"/>
          </a:xfrm>
          <a:prstGeom prst="line">
            <a:avLst/>
          </a:prstGeom>
          <a:noFill/>
          <a:ln w="15875">
            <a:solidFill>
              <a:srgbClr val="C9A2FF"/>
            </a:solidFill>
            <a:prstDash val="solid"/>
            <a:tailEnd type="triangle"/>
          </a:ln>
        </p:spPr>
      </p:sp>
      <p:sp>
        <p:nvSpPr>
          <p:cNvPr id="50" name="Shape 47"/>
          <p:cNvSpPr/>
          <p:nvPr/>
        </p:nvSpPr>
        <p:spPr>
          <a:xfrm>
            <a:off x="11258093" y="4553712"/>
            <a:ext cx="160934" cy="160934"/>
          </a:xfrm>
          <a:prstGeom prst="ellipse">
            <a:avLst/>
          </a:prstGeom>
          <a:solidFill>
            <a:srgbClr val="6B6479"/>
          </a:solidFill>
          <a:ln/>
        </p:spPr>
      </p:sp>
      <p:sp>
        <p:nvSpPr>
          <p:cNvPr id="51" name="Shape 48"/>
          <p:cNvSpPr/>
          <p:nvPr/>
        </p:nvSpPr>
        <p:spPr>
          <a:xfrm>
            <a:off x="11177626" y="4742810"/>
            <a:ext cx="321869" cy="321869"/>
          </a:xfrm>
          <a:prstGeom prst="pie">
            <a:avLst>
              <a:gd name="adj1" fmla="val 10800000"/>
              <a:gd name="adj2" fmla="val 0"/>
            </a:avLst>
          </a:prstGeom>
          <a:solidFill>
            <a:srgbClr val="6B6479"/>
          </a:solidFill>
          <a:ln/>
        </p:spPr>
      </p:sp>
      <p:sp>
        <p:nvSpPr>
          <p:cNvPr id="52" name="Text 49"/>
          <p:cNvSpPr/>
          <p:nvPr/>
        </p:nvSpPr>
        <p:spPr>
          <a:xfrm>
            <a:off x="10332720" y="5138928"/>
            <a:ext cx="1218895" cy="182880"/>
          </a:xfrm>
          <a:prstGeom prst="rect">
            <a:avLst/>
          </a:prstGeom>
          <a:noFill/>
          <a:ln/>
        </p:spPr>
        <p:txBody>
          <a:bodyPr wrap="square" lIns="0" tIns="0" rIns="0" bIns="0" rtlCol="0" anchor="ctr"/>
          <a:lstStyle/>
          <a:p>
            <a:pPr algn="r" indent="0" marL="0">
              <a:buNone/>
            </a:pPr>
            <a:r>
              <a:rPr lang="en-US" sz="900" b="1" dirty="0">
                <a:solidFill>
                  <a:srgbClr val="5EE6A8"/>
                </a:solidFill>
                <a:latin typeface="Aptos" pitchFamily="34" charset="0"/>
                <a:ea typeface="Aptos" pitchFamily="34" charset="-122"/>
                <a:cs typeface="Aptos" pitchFamily="34" charset="-120"/>
              </a:rPr>
              <a:t>Only when needed</a:t>
            </a:r>
            <a:endParaRPr lang="en-US" sz="900" dirty="0"/>
          </a:p>
        </p:txBody>
      </p:sp>
      <p:sp>
        <p:nvSpPr>
          <p:cNvPr id="53" name="Text 50"/>
          <p:cNvSpPr/>
          <p:nvPr/>
        </p:nvSpPr>
        <p:spPr>
          <a:xfrm>
            <a:off x="640080" y="5687568"/>
            <a:ext cx="10911535" cy="512064"/>
          </a:xfrm>
          <a:prstGeom prst="rect">
            <a:avLst/>
          </a:prstGeom>
          <a:noFill/>
          <a:ln/>
        </p:spPr>
        <p:txBody>
          <a:bodyPr wrap="square" lIns="0" tIns="0" rIns="0" bIns="0" rtlCol="0" anchor="ctr"/>
          <a:lstStyle/>
          <a:p>
            <a:pPr indent="0" marL="0">
              <a:buNone/>
            </a:pPr>
            <a:r>
              <a:rPr lang="en-US" sz="2600" b="1" dirty="0">
                <a:solidFill>
                  <a:srgbClr val="FFFFFF"/>
                </a:solidFill>
                <a:latin typeface="Aptos Display" pitchFamily="34" charset="0"/>
                <a:ea typeface="Aptos Display" pitchFamily="34" charset="-122"/>
                <a:cs typeface="Aptos Display" pitchFamily="34" charset="-120"/>
              </a:rPr>
              <a:t>Give Zen the goal. </a:t>
            </a:r>
            <a:pPr indent="0" marL="0">
              <a:buNone/>
            </a:pPr>
            <a:r>
              <a:rPr lang="en-US" sz="2600" b="1" dirty="0">
                <a:solidFill>
                  <a:srgbClr val="C9A2FF"/>
                </a:solidFill>
                <a:latin typeface="Aptos Display" pitchFamily="34" charset="0"/>
                <a:ea typeface="Aptos Display" pitchFamily="34" charset="-122"/>
                <a:cs typeface="Aptos Display" pitchFamily="34" charset="-120"/>
              </a:rPr>
              <a:t>Let Zen own the migration.</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Zen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 | The Autonomous Enterprise Migration Agent</dc:title>
  <dc:subject>Goal-driven enterprise migration from Jira Service Management to Freshservice</dc:subject>
  <dc:creator>Zen</dc:creator>
  <cp:lastModifiedBy>Zen</cp:lastModifiedBy>
  <cp:revision>1</cp:revision>
  <dcterms:created xsi:type="dcterms:W3CDTF">2026-09-26T03:08:32Z</dcterms:created>
  <dcterms:modified xsi:type="dcterms:W3CDTF">2026-09-26T03:08:32Z</dcterms:modified>
</cp:coreProperties>
</file>