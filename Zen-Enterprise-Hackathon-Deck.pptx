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547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EN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292608"/>
            <a:ext cx="11338560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914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20" dirty="0">
                <a:solidFill>
                  <a:srgbClr val="9400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78992" y="91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CUSTOMER ONBOARDING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0012680" y="9144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20" dirty="0">
                <a:solidFill>
                  <a:srgbClr val="8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PROTOTYPE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8912" y="65653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9C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  / 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200000">
            <a:off x="594360" y="658368"/>
            <a:ext cx="457200" cy="457200"/>
          </a:xfrm>
          <a:prstGeom prst="arc">
            <a:avLst/>
          </a:prstGeom>
          <a:solidFill>
            <a:srgbClr val="151218">
              <a:alpha val="0"/>
            </a:srgbClr>
          </a:solidFill>
          <a:ln w="63500">
            <a:solidFill>
              <a:srgbClr val="9400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43000" y="74980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40" dirty="0">
                <a:solidFill>
                  <a:srgbClr val="FFFFFF"/>
                </a:solidFill>
              </a:rPr>
              <a:t>ZEN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1627632"/>
            <a:ext cx="3703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Every customer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to value.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Without another call.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4041648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8D4DC"/>
                </a:solidFill>
              </a:rPr>
              <a:t>AI-guided customer onboarding that understands, sees, guides and escalates.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010912"/>
            <a:ext cx="1536192" cy="256032"/>
          </a:xfrm>
          <a:prstGeom prst="roundRect">
            <a:avLst>
              <a:gd name="adj" fmla="val 50000"/>
            </a:avLst>
          </a:prstGeom>
          <a:solidFill>
            <a:srgbClr val="2F2934"/>
          </a:solidFill>
          <a:ln w="12700">
            <a:solidFill>
              <a:srgbClr val="2F29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13232" y="5061204"/>
            <a:ext cx="1389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D6B5F4"/>
                </a:solidFill>
              </a:rPr>
              <a:t>HACKATHON PROTOTYPE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55961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39F"/>
                </a:solidFill>
              </a:rPr>
              <a:t>Enterprise product vision  • 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47488" y="685800"/>
            <a:ext cx="6638544" cy="4443984"/>
          </a:xfrm>
          <a:prstGeom prst="roundRect">
            <a:avLst>
              <a:gd name="adj" fmla="val 1440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blurRad="25400" dist="50800" dir="2700000" algn="bl" rotWithShape="0">
              <a:srgbClr val="C9C4CE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Image 0" descr="Q:\personal\hackathon\devpost\01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713232"/>
            <a:ext cx="6583680" cy="43891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729984" y="4663440"/>
            <a:ext cx="416052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  <a:effectLst>
            <a:outerShdw blurRad="25400" dist="50800" dir="2700000" algn="bl" rotWithShape="0">
              <a:srgbClr val="B8B1BF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995160" y="490118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9400FF"/>
                </a:solidFill>
              </a:rPr>
              <a:t>THE PROMISE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995160" y="517550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51218"/>
                </a:solidFill>
              </a:rPr>
              <a:t>High-touch onboarding at software scale.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9400FF"/>
                </a:solidFill>
              </a:rPr>
              <a:t>THE ENTERPRISE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51218"/>
                </a:solidFill>
              </a:rPr>
              <a:t>Onboarding still scales with headcount.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16B"/>
                </a:solidFill>
              </a:rPr>
              <a:t>Every new customer adds coordination, repetition and avoidable delay.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58952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Scheduling drag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8952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is ready Monday.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16B"/>
                </a:solidFill>
              </a:rPr>
              <a:t>The next specialist slot is Friday.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9400FF"/>
                </a:solidFill>
              </a:rPr>
              <a:t>5 days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764792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16B"/>
                </a:solidFill>
              </a:rPr>
              <a:t>lost momentum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34256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62856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62856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1218"/>
                </a:solidFill>
              </a:rPr>
              <a:t>Repetitive work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62856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16B"/>
                </a:solidFill>
              </a:rPr>
              <a:t>Your strongest CSM repeats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16B"/>
                </a:solidFill>
              </a:rPr>
              <a:t>the same setup for the 40th time.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62856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9400FF"/>
                </a:solidFill>
              </a:rPr>
              <a:t>40×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5568696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16B"/>
                </a:solidFill>
              </a:rPr>
              <a:t>same walkthrough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3438144" cy="3200400"/>
          </a:xfrm>
          <a:prstGeom prst="roundRect">
            <a:avLst>
              <a:gd name="adj" fmla="val 2286"/>
            </a:avLst>
          </a:prstGeom>
          <a:solidFill>
            <a:srgbClr val="FFF9F9"/>
          </a:solidFill>
          <a:ln w="10160">
            <a:solidFill>
              <a:srgbClr val="F2CA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366760" y="24140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00FF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66760" y="27889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1218"/>
                </a:solidFill>
              </a:rPr>
              <a:t>Silent drop-off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327355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16B"/>
                </a:solidFill>
              </a:rPr>
              <a:t>One confusing integration step.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16B"/>
                </a:solidFill>
              </a:rPr>
              <a:t>Customer leaves and never returns.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422452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64545"/>
                </a:solidFill>
              </a:rPr>
              <a:t>1 step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372600" y="435254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6616B"/>
                </a:solidFill>
              </a:rPr>
              <a:t>can stop activation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5806440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40" dirty="0">
                <a:solidFill>
                  <a:srgbClr val="151218"/>
                </a:solidFill>
              </a:rPr>
              <a:t>THE BOTTLENECK IS NOT KNOWLEDGE. IT IS CONTEXT, TIMING AND AVAILABILITY.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9400FF"/>
                </a:solidFill>
              </a:rPr>
              <a:t>INITIAL MARKET WEDGE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51218"/>
                </a:solidFill>
              </a:rPr>
              <a:t>Healthcare operations SaaS.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16B"/>
                </a:solidFill>
              </a:rPr>
              <a:t>Start where onboarding is complex, regulated and repeated across many locations.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01952"/>
            <a:ext cx="3703320" cy="4251960"/>
          </a:xfrm>
          <a:prstGeom prst="roundRect">
            <a:avLst>
              <a:gd name="adj" fmla="val 1975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212848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302A34"/>
          </a:solidFill>
          <a:ln w="12700">
            <a:solidFill>
              <a:srgbClr val="302A3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96112" y="2263140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D6B5F4"/>
                </a:solidFill>
              </a:rPr>
              <a:t>IDEAL CUSTOMER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Vertical SaaS platforms serving multi-site clinics.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2CDD5"/>
                </a:solidFill>
              </a:rPr>
              <a:t>Practice management  •  Billing  •  Patient engagement  •  Workforce operations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96519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CDA0F3"/>
                </a:solidFill>
              </a:rPr>
              <a:t>WHY THIS WEDGE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532180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 configuration + thin CS capacity + costly setup errors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45152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5" dirty="0">
                <a:solidFill>
                  <a:srgbClr val="9400FF"/>
                </a:solidFill>
              </a:rPr>
              <a:t>ONE CUSTOMER, A CUSTOM PLAYBOOK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48716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255574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66360" y="2496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51218"/>
                </a:solidFill>
              </a:rPr>
              <a:t>Import practitioners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78040" y="25054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16B"/>
                </a:solidFill>
              </a:rPr>
              <a:t>Validate roles, locations and provider IDs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37176" y="2852928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3319272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63440" y="338785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66360" y="33284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51218"/>
                </a:solidFill>
              </a:rPr>
              <a:t>Connect systems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78040" y="33375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16B"/>
                </a:solidFill>
              </a:rPr>
              <a:t>Calendar, accounting, payments and messaging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37176" y="3685032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663440" y="4151376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63440" y="42199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66360" y="41605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51218"/>
                </a:solidFill>
              </a:rPr>
              <a:t>Apply clinic policy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41696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16B"/>
                </a:solidFill>
              </a:rPr>
              <a:t>Tax rules, permissions and approved workflows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37176" y="4517136"/>
            <a:ext cx="0" cy="457200"/>
          </a:xfrm>
          <a:prstGeom prst="line">
            <a:avLst/>
          </a:prstGeom>
          <a:noFill/>
          <a:ln w="13970">
            <a:solidFill>
              <a:srgbClr val="D4CF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63440" y="4983480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63440" y="50520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66360" y="4992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51218"/>
                </a:solidFill>
              </a:rPr>
              <a:t>Train each role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78040" y="50017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16B"/>
                </a:solidFill>
              </a:rPr>
              <a:t>Front desk, clinicians and administrators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45152" y="5797296"/>
            <a:ext cx="6903720" cy="411480"/>
          </a:xfrm>
          <a:prstGeom prst="roundRect">
            <a:avLst>
              <a:gd name="adj" fmla="val 17778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92040" y="5916168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B00D4"/>
                </a:solidFill>
              </a:rPr>
              <a:t>CUSTOMIZATION LAYER  →  customer policies + role-based flows + approved terminology</a:t>
            </a:r>
            <a:endParaRPr lang="en-US" sz="9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9400FF"/>
                </a:solidFill>
              </a:rPr>
              <a:t>THE ZEN LOOP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An agent that works with the customer.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16B"/>
                </a:solidFill>
              </a:rPr>
              <a:t>Not another help-center bot. Zen observes progress and acts in the moment.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1615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9400FF"/>
                </a:solidFill>
              </a:rPr>
              <a:t>UNDERSTANDS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1218"/>
                </a:solidFill>
              </a:rPr>
              <a:t>Goal + setup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16B"/>
                </a:solidFill>
              </a:rPr>
              <a:t>“Connect accounting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616B"/>
                </a:solidFill>
              </a:rPr>
              <a:t>for 12 clinics.”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8152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6499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56616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6616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5079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9400FF"/>
                </a:solidFill>
              </a:rPr>
              <a:t>SEES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6616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1218"/>
                </a:solidFill>
              </a:rPr>
              <a:t>Live context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16B"/>
                </a:solidFill>
              </a:rPr>
              <a:t>Customer is on the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616B"/>
                </a:solidFill>
              </a:rPr>
              <a:t>Integrations screen.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1616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9963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88543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9400FF"/>
                </a:solidFill>
              </a:rPr>
              <a:t>GUIDES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1218"/>
                </a:solidFill>
              </a:rPr>
              <a:t>Next best action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16B"/>
                </a:solidFill>
              </a:rPr>
              <a:t>Highlights QuickBooks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616B"/>
                </a:solidFill>
              </a:rPr>
              <a:t>and waits.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50808" y="3163824"/>
            <a:ext cx="219456" cy="420624"/>
          </a:xfrm>
          <a:prstGeom prst="chevron">
            <a:avLst/>
          </a:prstGeom>
          <a:solidFill>
            <a:srgbClr val="D6D1DA"/>
          </a:solidFill>
          <a:ln w="12700">
            <a:solidFill>
              <a:srgbClr val="D6D1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9034272" y="2148840"/>
            <a:ext cx="2487168" cy="25146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235440" y="2395728"/>
            <a:ext cx="347472" cy="347472"/>
          </a:xfrm>
          <a:prstGeom prst="ellipse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235440" y="24643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720072" y="2487168"/>
            <a:ext cx="15179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9400FF"/>
                </a:solidFill>
              </a:rPr>
              <a:t>ESCALATES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235440" y="297180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1218"/>
                </a:solidFill>
              </a:rPr>
              <a:t>Human judgment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235440" y="35478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16B"/>
                </a:solidFill>
              </a:rPr>
              <a:t>Pricing or edge case,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6616B"/>
                </a:solidFill>
              </a:rPr>
              <a:t>with context attached.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221992" y="5138928"/>
            <a:ext cx="7726680" cy="612648"/>
          </a:xfrm>
          <a:prstGeom prst="roundRect">
            <a:avLst>
              <a:gd name="adj" fmla="val 44776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542032" y="5330952"/>
            <a:ext cx="7086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One session  →  one customer outcome  →  one structured learning signal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9400FF"/>
                </a:solidFill>
              </a:rPr>
              <a:t>EXAMPLE 01 — LIVE GUIDANCE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points. The customer acts.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16B"/>
                </a:solidFill>
              </a:rPr>
              <a:t>The instruction appears exactly where work is happening—not in another tab.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2726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blurRad="25400" dist="50800" dir="2700000" algn="bl" rotWithShape="0">
              <a:srgbClr val="C9C4CE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Q:\personal\hackathon\devpost\04-live-session-spot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74520"/>
            <a:ext cx="777240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68512" y="1993392"/>
            <a:ext cx="1261872" cy="256032"/>
          </a:xfrm>
          <a:prstGeom prst="roundRect">
            <a:avLst>
              <a:gd name="adj" fmla="val 50000"/>
            </a:avLst>
          </a:prstGeom>
          <a:solidFill>
            <a:srgbClr val="F5ECFF"/>
          </a:solidFill>
          <a:ln w="12700">
            <a:solidFill>
              <a:srgbClr val="F5EC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741664" y="204368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9400FF"/>
                </a:solidFill>
              </a:rPr>
              <a:t>IN THE MOMENT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668512" y="25054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16B"/>
                </a:solidFill>
              </a:rPr>
              <a:t>Customer goal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68512" y="2816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51218"/>
                </a:solidFill>
              </a:rPr>
              <a:t>Connect the accounting system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68512" y="35478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16B"/>
                </a:solidFill>
              </a:rPr>
              <a:t>Zen identifies the right integration, spotlights the real button and waits for completion.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68512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9400FF"/>
                </a:solidFill>
              </a:rPr>
              <a:t>1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668512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16B"/>
                </a:solidFill>
              </a:rPr>
              <a:t>clear next step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104120" y="47731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9400FF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0104120" y="5248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6616B"/>
                </a:solidFill>
              </a:rPr>
              <a:t>tab switching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68512" y="57424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00FF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668512" y="5998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1218"/>
                </a:solidFill>
              </a:rPr>
              <a:t>Context turns documentation into 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9400FF"/>
                </a:solidFill>
              </a:rPr>
              <a:t>EXAMPLE 03 — RISK PREVENTION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51218"/>
                </a:solidFill>
              </a:rPr>
              <a:t>Zen catches the costly “small” mistake.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16B"/>
                </a:solidFill>
              </a:rPr>
              <a:t>The difference between answering a question and understanding the setup.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7872984" cy="4645152"/>
          </a:xfrm>
          <a:prstGeom prst="roundRect">
            <a:avLst>
              <a:gd name="adj" fmla="val 1378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blurRad="25400" dist="50800" dir="2700000" algn="bl" rotWithShape="0">
              <a:srgbClr val="C9C4CE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Q:\personal\hackathon\devpost\06-mapping-g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74520"/>
            <a:ext cx="7818120" cy="45902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0" y="1993392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FFF6F6"/>
          </a:solidFill>
          <a:ln w="12700">
            <a:solidFill>
              <a:srgbClr val="F1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961120" y="22585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D64545"/>
                </a:solidFill>
              </a:rPr>
              <a:t>WRONG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961120" y="257860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D64545"/>
                </a:solidFill>
              </a:rPr>
              <a:t>GST 10%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8961120" y="29992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16B"/>
                </a:solidFill>
              </a:rPr>
              <a:t>Generic default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802368" y="3584448"/>
            <a:ext cx="384048" cy="548640"/>
          </a:xfrm>
          <a:prstGeom prst="downArrow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8686800" y="4343400"/>
            <a:ext cx="2788920" cy="1389888"/>
          </a:xfrm>
          <a:prstGeom prst="roundRect">
            <a:avLst>
              <a:gd name="adj" fmla="val 5263"/>
            </a:avLst>
          </a:prstGeom>
          <a:solidFill>
            <a:srgbClr val="EAF8F0"/>
          </a:solidFill>
          <a:ln w="12700">
            <a:solidFill>
              <a:srgbClr val="B9E3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961120" y="46085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138A4A"/>
                </a:solidFill>
              </a:rPr>
              <a:t>RIGHT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961120" y="49286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38A4A"/>
                </a:solidFill>
              </a:rPr>
              <a:t>GST-FREE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961120" y="5349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16B"/>
                </a:solidFill>
              </a:rPr>
              <a:t>Health-provider context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86800" y="608990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70" dirty="0">
                <a:solidFill>
                  <a:srgbClr val="151218"/>
                </a:solidFill>
              </a:rPr>
              <a:t>PREVENT REWORK  •  PROTECT TRUST  •  ACCELERATE GO-LIVE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9400FF"/>
                </a:solidFill>
              </a:rPr>
              <a:t>THE 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Automation without losing visibility.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16B"/>
                </a:solidFill>
              </a:rPr>
              <a:t>Zen runs the sessions. Customer Success keeps control of the portfolio.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19656"/>
            <a:ext cx="7296912" cy="4736592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blurRad="25400" dist="50800" dir="2700000" algn="bl" rotWithShape="0">
              <a:srgbClr val="C9C4CE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Q:\personal\hackathon\devpost\08-admin-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47088"/>
            <a:ext cx="7242048" cy="4681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92024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5ECFF"/>
          </a:solidFill>
          <a:ln w="10160">
            <a:solidFill>
              <a:srgbClr val="DAB8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366760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9400FF"/>
                </a:solidFill>
              </a:rPr>
              <a:t>91%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509760" y="2148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51218"/>
                </a:solidFill>
              </a:rPr>
              <a:t>self-serve rate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509760" y="24871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138160" y="324612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366760" y="34290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9400FF"/>
                </a:solidFill>
              </a:rPr>
              <a:t>2.4 days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9509760" y="3474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51218"/>
                </a:solidFill>
              </a:rPr>
              <a:t>time to value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509760" y="38130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616B"/>
                </a:solidFill>
              </a:rPr>
              <a:t>Illustrative demo metric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38160" y="457200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366760" y="47548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9400FF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509760" y="48006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51218"/>
                </a:solidFill>
              </a:rPr>
              <a:t>human escalations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9509760" y="513892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616B"/>
                </a:solidFill>
              </a:rPr>
              <a:t>Only where judgment matters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49640" y="5989320"/>
            <a:ext cx="242316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622792" y="6039612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</a:rPr>
              <a:t>PORTFOLIO INTELLIGENCE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9400FF"/>
                </a:solidFill>
              </a:rPr>
              <a:t>FITS THE EXISTING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51218"/>
                </a:solidFill>
              </a:rPr>
              <a:t>Embed once. Connect what enterprises already use.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16B"/>
                </a:solidFill>
              </a:rPr>
              <a:t>Zen acts as an orchestration layer—not a replacement for systems of record.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1947672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30" dirty="0">
                <a:solidFill>
                  <a:srgbClr val="66616B"/>
                </a:solidFill>
              </a:rPr>
              <a:t>YOUR PRODUCT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32688" y="2743200"/>
            <a:ext cx="202996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591056" y="2962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9400FF"/>
                </a:solidFill>
              </a:rPr>
              <a:t>&lt;/&gt;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24712" y="34015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218"/>
                </a:solidFill>
              </a:rPr>
              <a:t>Web app / mobile app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4279392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70432" y="4329684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</a:rPr>
              <a:t>1-LINE JS SDK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41248" y="47823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616B"/>
                </a:solidFill>
              </a:rPr>
              <a:t>or native SDK / secure session link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75304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251960" y="1947672"/>
            <a:ext cx="2880360" cy="3566160"/>
          </a:xfrm>
          <a:prstGeom prst="roundRect">
            <a:avLst>
              <a:gd name="adj" fmla="val 2540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07992" y="226771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30" dirty="0">
                <a:solidFill>
                  <a:srgbClr val="9400FF"/>
                </a:solidFill>
              </a:rPr>
              <a:t>ZEN ORCHESTRATION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99432" y="2724912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36592" y="2834640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1218"/>
                </a:solidFill>
              </a:rPr>
              <a:t>Session + screen context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9432" y="3291840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36592" y="3401568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1218"/>
                </a:solidFill>
              </a:rPr>
              <a:t>Customer-specific playbook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99432" y="3858768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36592" y="3968496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1218"/>
                </a:solidFill>
              </a:rPr>
              <a:t>Tool calls + policy checks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99432" y="4425696"/>
            <a:ext cx="2176272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36592" y="4535424"/>
            <a:ext cx="19019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1218"/>
                </a:solidFill>
              </a:rPr>
              <a:t>Human escalation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53712" y="5056632"/>
            <a:ext cx="2286000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26864" y="5106924"/>
            <a:ext cx="2139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</a:rPr>
              <a:t>REST + WEBHOOKS + EVENTS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60920" y="3255264"/>
            <a:ext cx="457200" cy="69494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028432" y="1947672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275320" y="2267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10" dirty="0">
                <a:solidFill>
                  <a:srgbClr val="66616B"/>
                </a:solidFill>
              </a:rPr>
              <a:t>SYSTEMS ALREADY IN PLACE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02752" y="270662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9400FF"/>
                </a:solidFill>
              </a:rPr>
              <a:t>IDENTITY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9034272" y="267919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51218"/>
                </a:solidFill>
              </a:rPr>
              <a:t>Okta  •  Entra ID  •  WorkOS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302752" y="298094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302752" y="320954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9400FF"/>
                </a:solidFill>
              </a:rPr>
              <a:t>KNOWLEDGE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034272" y="318211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51218"/>
                </a:solidFill>
              </a:rPr>
              <a:t>SharePoint  •  Confluence  •  Zendesk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02752" y="348386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302752" y="371246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9400FF"/>
                </a:solidFill>
              </a:rPr>
              <a:t>CUSTOMER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9034272" y="368503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51218"/>
                </a:solidFill>
              </a:rPr>
              <a:t>Salesforce  •  HubSpot  •  Gainsight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302752" y="398678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302752" y="421538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9400FF"/>
                </a:solidFill>
              </a:rPr>
              <a:t>WORK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034272" y="418795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51218"/>
                </a:solidFill>
              </a:rPr>
              <a:t>Teams  •  Slack  •  Jira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302752" y="4489704"/>
            <a:ext cx="2907792" cy="0"/>
          </a:xfrm>
          <a:prstGeom prst="line">
            <a:avLst/>
          </a:prstGeom>
          <a:noFill/>
          <a:ln w="889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8302752" y="4718304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9400FF"/>
                </a:solidFill>
              </a:rPr>
              <a:t>DATA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034272" y="469087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51218"/>
                </a:solidFill>
              </a:rPr>
              <a:t>Segment  •  Snowflake  •  Power BI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58368" y="5934456"/>
            <a:ext cx="10881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51218"/>
                </a:solidFill>
              </a:rPr>
              <a:t>Example: Salesforce opens the session → Zen guides QuickBooks setup → unresolved issue creates a Zendesk ticket with transcript → outcome flows to Gainsight.</a:t>
            </a:r>
            <a:endParaRPr lang="en-US" sz="113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9400FF"/>
                </a:solidFill>
              </a:rPr>
              <a:t>DESIGNED FOR ENTERPRISE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51218"/>
                </a:solidFill>
              </a:rPr>
              <a:t>A control plane around the agent.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16B"/>
                </a:solidFill>
              </a:rPr>
              <a:t>Production architecture: observable, governable and integration-ready.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2148840" cy="3273552"/>
          </a:xfrm>
          <a:prstGeom prst="roundRect">
            <a:avLst>
              <a:gd name="adj" fmla="val 3404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22860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5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2743200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77824" y="2880360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51218"/>
                </a:solidFill>
              </a:rPr>
              <a:t>Embedded widget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3401568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77824" y="3538728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51218"/>
                </a:solidFill>
              </a:rPr>
              <a:t>Voice / text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9808" y="4059936"/>
            <a:ext cx="17830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77824" y="4197096"/>
            <a:ext cx="1527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51218"/>
                </a:solidFill>
              </a:rPr>
              <a:t>Screen share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169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072384" y="1993392"/>
            <a:ext cx="2377440" cy="3273552"/>
          </a:xfrm>
          <a:prstGeom prst="roundRect">
            <a:avLst>
              <a:gd name="adj" fmla="val 3077"/>
            </a:avLst>
          </a:prstGeom>
          <a:solidFill>
            <a:srgbClr val="F5ECFF"/>
          </a:solidFill>
          <a:ln w="10160">
            <a:solidFill>
              <a:srgbClr val="D9B1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55264" y="2286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5" dirty="0">
                <a:solidFill>
                  <a:srgbClr val="9400FF"/>
                </a:solidFill>
              </a:rPr>
              <a:t>ZEN AGENT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55264" y="2743200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83280" y="288036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218"/>
                </a:solidFill>
              </a:rPr>
              <a:t>Goal planner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55264" y="3401568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383280" y="3538728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218"/>
                </a:solidFill>
              </a:rPr>
              <a:t>Screen context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55264" y="4059936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B1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83280" y="419709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1218"/>
                </a:solidFill>
              </a:rPr>
              <a:t>Policy guardrails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50992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806440" y="1993392"/>
            <a:ext cx="2395728" cy="3273552"/>
          </a:xfrm>
          <a:prstGeom prst="roundRect">
            <a:avLst>
              <a:gd name="adj" fmla="val 3053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89320" y="2286000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5" dirty="0">
                <a:solidFill>
                  <a:srgbClr val="66616B"/>
                </a:solidFill>
              </a:rPr>
              <a:t>KNOWLEDGE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89320" y="2743200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17336" y="2880360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51218"/>
                </a:solidFill>
              </a:rPr>
              <a:t>Product docs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89320" y="3401568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17336" y="3538728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51218"/>
                </a:solidFill>
              </a:rPr>
              <a:t>Approved answers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4059936"/>
            <a:ext cx="202996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17336" y="4197096"/>
            <a:ext cx="1773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51218"/>
                </a:solidFill>
              </a:rPr>
              <a:t>Session memory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403336" y="3364992"/>
            <a:ext cx="310896" cy="512064"/>
          </a:xfrm>
          <a:prstGeom prst="chevron">
            <a:avLst/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558784" y="1993392"/>
            <a:ext cx="2971800" cy="3273552"/>
          </a:xfrm>
          <a:prstGeom prst="roundRect">
            <a:avLst>
              <a:gd name="adj" fmla="val 2462"/>
            </a:avLst>
          </a:prstGeom>
          <a:solidFill>
            <a:srgbClr val="F7F6F8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741664" y="228600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5" dirty="0">
                <a:solidFill>
                  <a:srgbClr val="66616B"/>
                </a:solidFill>
              </a:rPr>
              <a:t>ENTERPRISE SYSTEMS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741664" y="2743200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869680" y="2880360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51218"/>
                </a:solidFill>
              </a:rPr>
              <a:t>CRM + Support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741664" y="3401568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869680" y="3538728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51218"/>
                </a:solidFill>
              </a:rPr>
              <a:t>Slack / Teams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741664" y="4059936"/>
            <a:ext cx="26060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869680" y="4197096"/>
            <a:ext cx="2350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51218"/>
                </a:solidFill>
              </a:rPr>
              <a:t>Analytics + Data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" y="55961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9400FF"/>
                </a:solidFill>
              </a:rPr>
              <a:t>CONTROL LAYER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664208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737360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</a:rPr>
              <a:t>IDENTITY &amp; RBAC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511296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584448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</a:rPr>
              <a:t>AUDIT TRAIL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358384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431536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</a:rPr>
              <a:t>DATA BOUNDARIES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205472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9400FF"/>
          </a:solidFill>
          <a:ln w="127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278624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</a:rPr>
              <a:t>HUMAN APPROVAL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9052560" y="5532120"/>
            <a:ext cx="1609344" cy="256032"/>
          </a:xfrm>
          <a:prstGeom prst="roundRect">
            <a:avLst>
              <a:gd name="adj" fmla="val 50000"/>
            </a:avLst>
          </a:prstGeom>
          <a:solidFill>
            <a:srgbClr val="151218"/>
          </a:solidFill>
          <a:ln w="12700">
            <a:solidFill>
              <a:srgbClr val="1512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9125712" y="558241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FFFFFF"/>
                </a:solidFill>
              </a:rPr>
              <a:t>EVALUATION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66928" y="6236208"/>
            <a:ext cx="10881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16B"/>
                </a:solidFill>
              </a:rPr>
              <a:t>Architecture is the proposed production target; the submitted hackathon experience is a frontend prototype.</a:t>
            </a:r>
            <a:endParaRPr lang="en-US" sz="85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76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80" dirty="0">
                <a:solidFill>
                  <a:srgbClr val="9400FF"/>
                </a:solidFill>
              </a:rPr>
              <a:t>ENTERPRISE VALUE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8595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51218"/>
                </a:solidFill>
              </a:rPr>
              <a:t>Turn onboarding from a queue into a system.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616B"/>
                </a:solidFill>
              </a:rPr>
              <a:t>Four stakeholder wins from one shared customer journey.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3035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9400FF"/>
                </a:solidFill>
              </a:rPr>
              <a:t>⏱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4980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66616B"/>
                </a:solidFill>
              </a:rPr>
              <a:t>CUSTOMER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Start now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16B"/>
                </a:solidFill>
              </a:rPr>
              <a:t>No calendar delay.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16B"/>
                </a:solidFill>
              </a:rPr>
              <a:t>Guidance in context.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8444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9400FF"/>
                </a:solidFill>
              </a:rPr>
              <a:t>◎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8444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66616B"/>
                </a:solidFill>
              </a:rPr>
              <a:t>CUSTOMER SUCCESS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8444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51218"/>
                </a:solidFill>
              </a:rPr>
              <a:t>Focus humans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8444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16B"/>
                </a:solidFill>
              </a:rPr>
              <a:t>Escalate judgment.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16B"/>
                </a:solidFill>
              </a:rPr>
              <a:t>Automate repetition.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9963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E8E5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1908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9400FF"/>
                </a:solidFill>
              </a:rPr>
              <a:t>↗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1908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66616B"/>
                </a:solidFill>
              </a:rPr>
              <a:t>PRODUCT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51218"/>
                </a:solidFill>
              </a:rPr>
              <a:t>See friction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1908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616B"/>
                </a:solidFill>
              </a:rPr>
              <a:t>Every struggle becomes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6616B"/>
                </a:solidFill>
              </a:rPr>
              <a:t>a roadmap signal.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34272" y="2011680"/>
            <a:ext cx="2514600" cy="3401568"/>
          </a:xfrm>
          <a:prstGeom prst="roundRect">
            <a:avLst>
              <a:gd name="adj" fmla="val 2909"/>
            </a:avLst>
          </a:prstGeom>
          <a:solidFill>
            <a:srgbClr val="151218"/>
          </a:solidFill>
          <a:ln w="10160">
            <a:solidFill>
              <a:srgbClr val="1512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25372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CDA0F3"/>
                </a:solidFill>
              </a:rPr>
              <a:t>∞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53728" y="30723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CDA0F3"/>
                </a:solidFill>
              </a:rPr>
              <a:t>LEADERSHIP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253728" y="35295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Scale coverage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53728" y="42062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D4CFD8"/>
                </a:solidFill>
              </a:rPr>
              <a:t>More customers without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4CFD8"/>
                </a:solidFill>
              </a:rPr>
              <a:t>linear headcount.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93592" y="58978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9400FF"/>
                </a:solidFill>
              </a:rPr>
              <a:t>NORTH STAR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17720" y="583387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1218"/>
                </a:solidFill>
              </a:rPr>
              <a:t>Time from signed contract → first customer value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676656" y="676656"/>
            <a:ext cx="566928" cy="566928"/>
          </a:xfrm>
          <a:prstGeom prst="arc">
            <a:avLst/>
          </a:prstGeom>
          <a:solidFill>
            <a:srgbClr val="151218">
              <a:alpha val="0"/>
            </a:srgbClr>
          </a:solidFill>
          <a:ln w="76200">
            <a:solidFill>
              <a:srgbClr val="940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371600" y="822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40" dirty="0">
                <a:solidFill>
                  <a:srgbClr val="FFFFFF"/>
                </a:solidFill>
              </a:rPr>
              <a:t>ZEN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4944" y="1847088"/>
            <a:ext cx="6766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High-touch onboarding.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Every customer.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No extra headcount.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45720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DA0F3"/>
                </a:solidFill>
              </a:rPr>
              <a:t>Let’s see it live.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5166360"/>
            <a:ext cx="6080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9B4BD"/>
                </a:solidFill>
              </a:rPr>
              <a:t>Interactive prototype  →  Landing page  →  Guided session  →  Admin Hub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70648" y="1207008"/>
            <a:ext cx="4096512" cy="2752344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1430">
            <a:solidFill>
              <a:srgbClr val="E8E5EB"/>
            </a:solidFill>
            <a:prstDash val="solid"/>
          </a:ln>
          <a:effectLst>
            <a:outerShdw blurRad="25400" dist="50800" dir="2700000" algn="bl" rotWithShape="0">
              <a:srgbClr val="C9C4CE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Q:\personal\hackathon\devpost\07-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234440"/>
            <a:ext cx="4041648" cy="2697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0" y="4315968"/>
            <a:ext cx="4041648" cy="1069848"/>
          </a:xfrm>
          <a:prstGeom prst="roundRect">
            <a:avLst>
              <a:gd name="adj" fmla="val 6838"/>
            </a:avLst>
          </a:prstGeom>
          <a:solidFill>
            <a:srgbClr val="25212A"/>
          </a:solidFill>
          <a:ln w="12700">
            <a:solidFill>
              <a:srgbClr val="3A34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818120" y="45537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/ 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714232" y="46451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4BD"/>
                </a:solidFill>
              </a:rPr>
              <a:t>steps completed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0" y="455371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DA0F3"/>
                </a:solidFill>
              </a:rPr>
              <a:t>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424160" y="464515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B9B4BD"/>
                </a:solidFill>
              </a:rPr>
              <a:t>human handoffs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5742432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7885"/>
                </a:solidFill>
              </a:rPr>
              <a:t>Prototype metrics shown are illustrative.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A09C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820</Words>
  <Application>Microsoft Office PowerPoint</Application>
  <PresentationFormat>Widescreen</PresentationFormat>
  <Paragraphs>223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Zen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 — Enterprise Customer Onboarding, Reimagined</dc:title>
  <dc:subject>Enterprise AI onboarding agent hackathon pitch</dc:subject>
  <dc:creator>Zen</dc:creator>
  <cp:lastModifiedBy>Mayank Aggarwal</cp:lastModifiedBy>
  <cp:revision>2</cp:revision>
  <dcterms:created xsi:type="dcterms:W3CDTF">2026-08-30T12:41:15Z</dcterms:created>
  <dcterms:modified xsi:type="dcterms:W3CDTF">2026-08-30T13:16:39Z</dcterms:modified>
</cp:coreProperties>
</file>