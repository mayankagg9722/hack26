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EN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0624" y="292608"/>
            <a:ext cx="11338560" cy="0"/>
          </a:xfrm>
          <a:prstGeom prst="line">
            <a:avLst/>
          </a:prstGeom>
          <a:noFill/>
          <a:ln w="8890">
            <a:solidFill>
              <a:srgbClr val="E8E5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91440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20" kern="0" dirty="0">
                <a:solidFill>
                  <a:srgbClr val="940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ZEN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078992" y="9144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20" kern="0" dirty="0">
                <a:solidFill>
                  <a:srgbClr val="8B87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CUSTOMER ONBOARDING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0012680" y="91440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spc="120" kern="0" dirty="0">
                <a:solidFill>
                  <a:srgbClr val="8B87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HACKATHON PROTOTYPE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38912" y="6565392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09C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ZEN  /  2026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A09CA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A09CA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29216" y="-1143000"/>
            <a:ext cx="3840480" cy="3840480"/>
          </a:xfrm>
          <a:prstGeom prst="ellipse">
            <a:avLst/>
          </a:prstGeom>
          <a:solidFill>
            <a:srgbClr val="F3E7FC">
              <a:alpha val="78000"/>
            </a:srgbClr>
          </a:solidFill>
          <a:ln w="12700">
            <a:solidFill>
              <a:srgbClr val="F3E7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200000">
            <a:off x="603504" y="512064"/>
            <a:ext cx="438912" cy="438912"/>
          </a:xfrm>
          <a:prstGeom prst="arc">
            <a:avLst/>
          </a:prstGeom>
          <a:solidFill>
            <a:srgbClr val="FBFAFC">
              <a:alpha val="0"/>
            </a:srgbClr>
          </a:solidFill>
          <a:ln w="57150">
            <a:solidFill>
              <a:srgbClr val="9400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43000" y="63093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50" kern="0" dirty="0">
                <a:solidFill>
                  <a:srgbClr val="151218"/>
                </a:solidFill>
              </a:rPr>
              <a:t>ZEN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12648" y="1298448"/>
            <a:ext cx="4526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5" kern="0" dirty="0">
                <a:solidFill>
                  <a:srgbClr val="9400FF"/>
                </a:solidFill>
              </a:rPr>
              <a:t>ZEN  |  AI-NATIVE ENTERPRISE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12648" y="1728216"/>
            <a:ext cx="48920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500" b="1" dirty="0">
                <a:solidFill>
                  <a:srgbClr val="151218"/>
                </a:solidFill>
              </a:rPr>
              <a:t>Your customer is stuck.</a:t>
            </a:r>
            <a:endParaRPr lang="en-US" sz="3500" dirty="0"/>
          </a:p>
          <a:p>
            <a:pPr indent="0" marL="0">
              <a:buNone/>
            </a:pPr>
            <a:r>
              <a:rPr lang="en-US" sz="3500" b="1" dirty="0">
                <a:solidFill>
                  <a:srgbClr val="151218"/>
                </a:solidFill>
              </a:rPr>
              <a:t>Zen can see why.</a:t>
            </a:r>
            <a:endParaRPr lang="en-US" sz="3500" dirty="0"/>
          </a:p>
        </p:txBody>
      </p:sp>
      <p:sp>
        <p:nvSpPr>
          <p:cNvPr id="7" name="Text 5"/>
          <p:cNvSpPr/>
          <p:nvPr/>
        </p:nvSpPr>
        <p:spPr>
          <a:xfrm>
            <a:off x="630936" y="3493008"/>
            <a:ext cx="44988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66616B"/>
                </a:solidFill>
              </a:rPr>
              <a:t>An AI onboarding agent that sees the customer’s screen, guides every step, and brings in a human only when it matters.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650992" y="960120"/>
            <a:ext cx="6053328" cy="4343400"/>
          </a:xfrm>
          <a:prstGeom prst="roundRect">
            <a:avLst>
              <a:gd name="adj" fmla="val 2526"/>
            </a:avLst>
          </a:prstGeom>
          <a:solidFill>
            <a:srgbClr val="FFFFFF"/>
          </a:solidFill>
          <a:ln w="12700">
            <a:solidFill>
              <a:srgbClr val="E1DCE5"/>
            </a:solidFill>
            <a:prstDash val="solid"/>
          </a:ln>
          <a:effectLst>
            <a:outerShdw sx="100000" sy="100000" kx="0" ky="0" algn="bl" rotWithShape="0" blurRad="25400" dist="50800" dir="2700000">
              <a:srgbClr val="AFA7B5">
                <a:alpha val="25000"/>
              </a:srgbClr>
            </a:outerShdw>
          </a:effectLst>
        </p:spPr>
      </p:sp>
      <p:pic>
        <p:nvPicPr>
          <p:cNvPr id="9" name="Image 0" descr="Q:\personal\hackathon\devpost\04-live-session-spot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42432" y="1051560"/>
            <a:ext cx="5870448" cy="391363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821424" y="4517136"/>
            <a:ext cx="3127248" cy="566928"/>
          </a:xfrm>
          <a:prstGeom prst="roundRect">
            <a:avLst>
              <a:gd name="adj" fmla="val 12903"/>
            </a:avLst>
          </a:prstGeom>
          <a:solidFill>
            <a:srgbClr val="151218"/>
          </a:solidFill>
          <a:ln w="12700">
            <a:solidFill>
              <a:srgbClr val="151218"/>
            </a:solidFill>
            <a:prstDash val="solid"/>
          </a:ln>
          <a:effectLst>
            <a:outerShdw sx="100000" sy="100000" kx="0" ky="0" algn="bl" rotWithShape="0" blurRad="19050" dist="50800" dir="2700000">
              <a:srgbClr val="5A5160">
                <a:alpha val="2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7040880" y="4681728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Zen sees the active screen and points to the next action.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630936" y="5175504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spc="90" kern="0" dirty="0">
                <a:solidFill>
                  <a:srgbClr val="9400FF"/>
                </a:solidFill>
              </a:rPr>
              <a:t>SEE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1527048" y="5166360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A4AD"/>
                </a:solidFill>
              </a:rPr>
              <a:t>→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801368" y="5175504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spc="90" kern="0" dirty="0">
                <a:solidFill>
                  <a:srgbClr val="151218"/>
                </a:solidFill>
              </a:rPr>
              <a:t>UNDERSTAND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2697480" y="5166360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A4AD"/>
                </a:solidFill>
              </a:rPr>
              <a:t>→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2971800" y="5175504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spc="90" kern="0" dirty="0">
                <a:solidFill>
                  <a:srgbClr val="9400FF"/>
                </a:solidFill>
              </a:rPr>
              <a:t>GUIDE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3867912" y="5166360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A4AD"/>
                </a:solidFill>
              </a:rPr>
              <a:t>→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4142232" y="5175504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spc="90" kern="0" dirty="0">
                <a:solidFill>
                  <a:srgbClr val="151218"/>
                </a:solidFill>
              </a:rPr>
              <a:t>ESCALATE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630936" y="5532120"/>
            <a:ext cx="4389120" cy="0"/>
          </a:xfrm>
          <a:prstGeom prst="line">
            <a:avLst/>
          </a:prstGeom>
          <a:noFill/>
          <a:ln w="10160">
            <a:solidFill>
              <a:srgbClr val="DED9E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30936" y="5843016"/>
            <a:ext cx="2514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spc="120" kern="0" dirty="0">
                <a:solidFill>
                  <a:srgbClr val="8D8791"/>
                </a:solidFill>
              </a:rPr>
              <a:t>AI ONBOARDING FOR B2B SAAS</a:t>
            </a:r>
            <a:endParaRPr lang="en-US" sz="8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57607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80" kern="0" dirty="0">
                <a:solidFill>
                  <a:srgbClr val="9400FF"/>
                </a:solidFill>
              </a:rPr>
              <a:t>THE ENTERPRISE PROBLEM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85953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51218"/>
                </a:solidFill>
              </a:rPr>
              <a:t>Onboarding still scales with headcount.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536192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616B"/>
                </a:solidFill>
              </a:rPr>
              <a:t>Every new customer adds coordination, repetition and avoidable delay.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30352" y="2148840"/>
            <a:ext cx="3438144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0160">
            <a:solidFill>
              <a:srgbClr val="E8E5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241401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00FF"/>
                </a:solidFill>
              </a:rPr>
              <a:t>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58952" y="278892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1218"/>
                </a:solidFill>
              </a:rPr>
              <a:t>Scheduling drag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758952" y="3273552"/>
            <a:ext cx="2834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616B"/>
                </a:solidFill>
              </a:rPr>
              <a:t>Customer is ready Monday.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6616B"/>
                </a:solidFill>
              </a:rPr>
              <a:t>The next specialist slot is Friday.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58952" y="4224528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9400FF"/>
                </a:solidFill>
              </a:rPr>
              <a:t>5 days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1764792" y="4352544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6616B"/>
                </a:solidFill>
              </a:rPr>
              <a:t>lost momentum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34256" y="2148840"/>
            <a:ext cx="3438144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0160">
            <a:solidFill>
              <a:srgbClr val="E8E5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62856" y="241401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00FF"/>
                </a:solidFill>
              </a:rPr>
              <a:t>02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62856" y="278892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1218"/>
                </a:solidFill>
              </a:rPr>
              <a:t>Repetitive work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4562856" y="3273552"/>
            <a:ext cx="2834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616B"/>
                </a:solidFill>
              </a:rPr>
              <a:t>Your strongest CSM repeats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6616B"/>
                </a:solidFill>
              </a:rPr>
              <a:t>the same setup for the 40th time.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62856" y="4224528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9400FF"/>
                </a:solidFill>
              </a:rPr>
              <a:t>40×</a:t>
            </a:r>
            <a:endParaRPr lang="en-US" sz="2500" dirty="0"/>
          </a:p>
        </p:txBody>
      </p:sp>
      <p:sp>
        <p:nvSpPr>
          <p:cNvPr id="16" name="Text 14"/>
          <p:cNvSpPr/>
          <p:nvPr/>
        </p:nvSpPr>
        <p:spPr>
          <a:xfrm>
            <a:off x="5568696" y="4352544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6616B"/>
                </a:solidFill>
              </a:rPr>
              <a:t>same walkthrough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138160" y="2148840"/>
            <a:ext cx="3438144" cy="3200400"/>
          </a:xfrm>
          <a:prstGeom prst="roundRect">
            <a:avLst>
              <a:gd name="adj" fmla="val 2286"/>
            </a:avLst>
          </a:prstGeom>
          <a:solidFill>
            <a:srgbClr val="FFF9F9"/>
          </a:solidFill>
          <a:ln w="10160">
            <a:solidFill>
              <a:srgbClr val="F2CAC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66760" y="241401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00FF"/>
                </a:solidFill>
              </a:rPr>
              <a:t>03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366760" y="278892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1218"/>
                </a:solidFill>
              </a:rPr>
              <a:t>Silent drop-off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8366760" y="3273552"/>
            <a:ext cx="2834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616B"/>
                </a:solidFill>
              </a:rPr>
              <a:t>One confusing integration step.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6616B"/>
                </a:solidFill>
              </a:rPr>
              <a:t>Customer leaves and never returns.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366760" y="4224528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D64545"/>
                </a:solidFill>
              </a:rPr>
              <a:t>1 step</a:t>
            </a:r>
            <a:endParaRPr lang="en-US" sz="2500" dirty="0"/>
          </a:p>
        </p:txBody>
      </p:sp>
      <p:sp>
        <p:nvSpPr>
          <p:cNvPr id="22" name="Text 20"/>
          <p:cNvSpPr/>
          <p:nvPr/>
        </p:nvSpPr>
        <p:spPr>
          <a:xfrm>
            <a:off x="9372600" y="4352544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6616B"/>
                </a:solidFill>
              </a:rPr>
              <a:t>can stop activation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30352" y="580644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40" kern="0" dirty="0">
                <a:solidFill>
                  <a:srgbClr val="151218"/>
                </a:solidFill>
              </a:rPr>
              <a:t>THE BOTTLENECK IS NOT KNOWLEDGE. IT IS CONTEXT, TIMING AND AVAILABILITY.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A09CA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57607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80" kern="0" dirty="0">
                <a:solidFill>
                  <a:srgbClr val="9400FF"/>
                </a:solidFill>
              </a:rPr>
              <a:t>INITIAL MARKET WEDGE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85953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51218"/>
                </a:solidFill>
              </a:rPr>
              <a:t>Healthcare operations SaaS.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536192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616B"/>
                </a:solidFill>
              </a:rPr>
              <a:t>Start where onboarding is complex, regulated and repeated across many locations.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30352" y="1901952"/>
            <a:ext cx="3703320" cy="4251960"/>
          </a:xfrm>
          <a:prstGeom prst="roundRect">
            <a:avLst>
              <a:gd name="adj" fmla="val 1975"/>
            </a:avLst>
          </a:prstGeom>
          <a:solidFill>
            <a:srgbClr val="151218"/>
          </a:solidFill>
          <a:ln w="10160">
            <a:solidFill>
              <a:srgbClr val="15121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212848"/>
            <a:ext cx="1261872" cy="256032"/>
          </a:xfrm>
          <a:prstGeom prst="roundRect">
            <a:avLst>
              <a:gd name="adj" fmla="val 50000"/>
            </a:avLst>
          </a:prstGeom>
          <a:solidFill>
            <a:srgbClr val="302A34"/>
          </a:solidFill>
          <a:ln w="12700">
            <a:solidFill>
              <a:srgbClr val="302A3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2263140"/>
            <a:ext cx="11155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spc="80" kern="0" dirty="0">
                <a:solidFill>
                  <a:srgbClr val="D6B5F4"/>
                </a:solidFill>
              </a:rPr>
              <a:t>IDEAL CUSTOMER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22960" y="2770632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</a:rPr>
              <a:t>Vertical SaaS platforms serving multi-site clinics.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822960" y="3886200"/>
            <a:ext cx="2944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D2CDD5"/>
                </a:solidFill>
              </a:rPr>
              <a:t>Practice management  •  Billing  •  Patient engagement  •  Workforce operations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22960" y="4965192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30" kern="0" dirty="0">
                <a:solidFill>
                  <a:srgbClr val="CDA0F3"/>
                </a:solidFill>
              </a:rPr>
              <a:t>WHY THIS WEDGE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822960" y="5321808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High configuration + thin CS capacity + costly setup errors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645152" y="20116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5" kern="0" dirty="0">
                <a:solidFill>
                  <a:srgbClr val="9400FF"/>
                </a:solidFill>
              </a:rPr>
              <a:t>ONE CUSTOMER, A CUSTOM PLAYBOOK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663440" y="2487168"/>
            <a:ext cx="347472" cy="347472"/>
          </a:xfrm>
          <a:prstGeom prst="ellipse">
            <a:avLst/>
          </a:prstGeom>
          <a:solidFill>
            <a:srgbClr val="9400FF"/>
          </a:solidFill>
          <a:ln w="12700">
            <a:solidFill>
              <a:srgbClr val="9400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2555748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01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166360" y="249631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51218"/>
                </a:solidFill>
              </a:rPr>
              <a:t>Import practitioners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178040" y="2505456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616B"/>
                </a:solidFill>
              </a:rPr>
              <a:t>Validate roles, locations and provider IDs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837176" y="2852928"/>
            <a:ext cx="0" cy="457200"/>
          </a:xfrm>
          <a:prstGeom prst="line">
            <a:avLst/>
          </a:prstGeom>
          <a:noFill/>
          <a:ln w="13970">
            <a:solidFill>
              <a:srgbClr val="D4CFD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63440" y="3319272"/>
            <a:ext cx="347472" cy="347472"/>
          </a:xfrm>
          <a:prstGeom prst="ellipse">
            <a:avLst/>
          </a:prstGeom>
          <a:solidFill>
            <a:srgbClr val="9400FF"/>
          </a:solidFill>
          <a:ln w="12700">
            <a:solidFill>
              <a:srgbClr val="9400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3440" y="3387852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02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166360" y="332841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51218"/>
                </a:solidFill>
              </a:rPr>
              <a:t>Connect systems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178040" y="3337560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616B"/>
                </a:solidFill>
              </a:rPr>
              <a:t>Calendar, accounting, payments and messaging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837176" y="3685032"/>
            <a:ext cx="0" cy="457200"/>
          </a:xfrm>
          <a:prstGeom prst="line">
            <a:avLst/>
          </a:prstGeom>
          <a:noFill/>
          <a:ln w="13970">
            <a:solidFill>
              <a:srgbClr val="D4CFD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63440" y="4151376"/>
            <a:ext cx="347472" cy="347472"/>
          </a:xfrm>
          <a:prstGeom prst="ellipse">
            <a:avLst/>
          </a:prstGeom>
          <a:solidFill>
            <a:srgbClr val="9400FF"/>
          </a:solidFill>
          <a:ln w="12700">
            <a:solidFill>
              <a:srgbClr val="9400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63440" y="4219956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03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166360" y="41605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51218"/>
                </a:solidFill>
              </a:rPr>
              <a:t>Apply clinic policy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178040" y="4169664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616B"/>
                </a:solidFill>
              </a:rPr>
              <a:t>Tax rules, permissions and approved workflows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837176" y="4517136"/>
            <a:ext cx="0" cy="457200"/>
          </a:xfrm>
          <a:prstGeom prst="line">
            <a:avLst/>
          </a:prstGeom>
          <a:noFill/>
          <a:ln w="13970">
            <a:solidFill>
              <a:srgbClr val="D4CFD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63440" y="4983480"/>
            <a:ext cx="347472" cy="347472"/>
          </a:xfrm>
          <a:prstGeom prst="ellipse">
            <a:avLst/>
          </a:prstGeom>
          <a:solidFill>
            <a:srgbClr val="9400FF"/>
          </a:solidFill>
          <a:ln w="12700">
            <a:solidFill>
              <a:srgbClr val="9400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63440" y="5052060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04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5166360" y="499262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51218"/>
                </a:solidFill>
              </a:rPr>
              <a:t>Train each role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178040" y="5001768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616B"/>
                </a:solidFill>
              </a:rPr>
              <a:t>Front desk, clinicians and administrators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645152" y="5797296"/>
            <a:ext cx="6903720" cy="411480"/>
          </a:xfrm>
          <a:prstGeom prst="roundRect">
            <a:avLst>
              <a:gd name="adj" fmla="val 17778"/>
            </a:avLst>
          </a:prstGeom>
          <a:solidFill>
            <a:srgbClr val="F5ECFF"/>
          </a:solidFill>
          <a:ln w="10160">
            <a:solidFill>
              <a:srgbClr val="D9B1F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92040" y="5916168"/>
            <a:ext cx="6400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B00D4"/>
                </a:solidFill>
              </a:rPr>
              <a:t>CUSTOMIZATION LAYER  →  customer policies + role-based flows + approved terminology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A09CA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57607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80" kern="0" dirty="0">
                <a:solidFill>
                  <a:srgbClr val="9400FF"/>
                </a:solidFill>
              </a:rPr>
              <a:t>THE ZEN LOOP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85953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51218"/>
                </a:solidFill>
              </a:rPr>
              <a:t>An agent that works with the customer.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536192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616B"/>
                </a:solidFill>
              </a:rPr>
              <a:t>Not another help-center bot. Zen observes progress and acts in the moment.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30352" y="2148840"/>
            <a:ext cx="2487168" cy="251460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0160">
            <a:solidFill>
              <a:srgbClr val="E8E5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2395728"/>
            <a:ext cx="347472" cy="347472"/>
          </a:xfrm>
          <a:prstGeom prst="ellipse">
            <a:avLst/>
          </a:prstGeom>
          <a:solidFill>
            <a:srgbClr val="9400FF"/>
          </a:solidFill>
          <a:ln w="12700">
            <a:solidFill>
              <a:srgbClr val="9400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464308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216152" y="2487168"/>
            <a:ext cx="15179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9400FF"/>
                </a:solidFill>
              </a:rPr>
              <a:t>UNDERSTANDS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31520" y="2971800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1218"/>
                </a:solidFill>
              </a:rPr>
              <a:t>Goal + setup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3547872"/>
            <a:ext cx="2057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616B"/>
                </a:solidFill>
              </a:rPr>
              <a:t>“Connect accounting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6616B"/>
                </a:solidFill>
              </a:rPr>
              <a:t>for 12 clinics.”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081528" y="3163824"/>
            <a:ext cx="219456" cy="420624"/>
          </a:xfrm>
          <a:prstGeom prst="chevron">
            <a:avLst/>
          </a:prstGeom>
          <a:solidFill>
            <a:srgbClr val="D6D1DA"/>
          </a:solidFill>
          <a:ln w="12700">
            <a:solidFill>
              <a:srgbClr val="D6D1D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64992" y="2148840"/>
            <a:ext cx="2487168" cy="251460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0160">
            <a:solidFill>
              <a:srgbClr val="E8E5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66160" y="2395728"/>
            <a:ext cx="347472" cy="347472"/>
          </a:xfrm>
          <a:prstGeom prst="ellipse">
            <a:avLst/>
          </a:prstGeom>
          <a:solidFill>
            <a:srgbClr val="9400FF"/>
          </a:solidFill>
          <a:ln w="12700">
            <a:solidFill>
              <a:srgbClr val="9400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66160" y="2464308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2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050792" y="2487168"/>
            <a:ext cx="15179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9400FF"/>
                </a:solidFill>
              </a:rPr>
              <a:t>SEES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566160" y="2971800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1218"/>
                </a:solidFill>
              </a:rPr>
              <a:t>Live context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566160" y="3547872"/>
            <a:ext cx="2057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616B"/>
                </a:solidFill>
              </a:rPr>
              <a:t>Customer is on the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6616B"/>
                </a:solidFill>
              </a:rPr>
              <a:t>Integrations screen.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916168" y="3163824"/>
            <a:ext cx="219456" cy="420624"/>
          </a:xfrm>
          <a:prstGeom prst="chevron">
            <a:avLst/>
          </a:prstGeom>
          <a:solidFill>
            <a:srgbClr val="D6D1DA"/>
          </a:solidFill>
          <a:ln w="12700">
            <a:solidFill>
              <a:srgbClr val="D6D1D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99632" y="2148840"/>
            <a:ext cx="2487168" cy="2514600"/>
          </a:xfrm>
          <a:prstGeom prst="roundRect">
            <a:avLst>
              <a:gd name="adj" fmla="val 2941"/>
            </a:avLst>
          </a:prstGeom>
          <a:solidFill>
            <a:srgbClr val="F5ECFF"/>
          </a:solidFill>
          <a:ln w="10160">
            <a:solidFill>
              <a:srgbClr val="D9B1F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0" y="2395728"/>
            <a:ext cx="347472" cy="347472"/>
          </a:xfrm>
          <a:prstGeom prst="ellipse">
            <a:avLst/>
          </a:prstGeom>
          <a:solidFill>
            <a:srgbClr val="9400FF"/>
          </a:solidFill>
          <a:ln w="12700">
            <a:solidFill>
              <a:srgbClr val="9400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0" y="2464308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3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885432" y="2487168"/>
            <a:ext cx="15179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9400FF"/>
                </a:solidFill>
              </a:rPr>
              <a:t>GUIDES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400800" y="2971800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1218"/>
                </a:solidFill>
              </a:rPr>
              <a:t>Next best action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400800" y="3547872"/>
            <a:ext cx="2057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616B"/>
                </a:solidFill>
              </a:rPr>
              <a:t>Highlights QuickBooks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6616B"/>
                </a:solidFill>
              </a:rPr>
              <a:t>and waits.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750808" y="3163824"/>
            <a:ext cx="219456" cy="420624"/>
          </a:xfrm>
          <a:prstGeom prst="chevron">
            <a:avLst/>
          </a:prstGeom>
          <a:solidFill>
            <a:srgbClr val="D6D1DA"/>
          </a:solidFill>
          <a:ln w="12700">
            <a:solidFill>
              <a:srgbClr val="D6D1D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034272" y="2148840"/>
            <a:ext cx="2487168" cy="251460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0160">
            <a:solidFill>
              <a:srgbClr val="E8E5E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235440" y="2395728"/>
            <a:ext cx="347472" cy="347472"/>
          </a:xfrm>
          <a:prstGeom prst="ellipse">
            <a:avLst/>
          </a:prstGeom>
          <a:solidFill>
            <a:srgbClr val="9400FF"/>
          </a:solidFill>
          <a:ln w="12700">
            <a:solidFill>
              <a:srgbClr val="9400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235440" y="2464308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4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9720072" y="2487168"/>
            <a:ext cx="15179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9400FF"/>
                </a:solidFill>
              </a:rPr>
              <a:t>ESCALATES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9235440" y="2971800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1218"/>
                </a:solidFill>
              </a:rPr>
              <a:t>Human judgment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9235440" y="3547872"/>
            <a:ext cx="2057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616B"/>
                </a:solidFill>
              </a:rPr>
              <a:t>Pricing or edge case,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6616B"/>
                </a:solidFill>
              </a:rPr>
              <a:t>with context attached.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2221992" y="5138928"/>
            <a:ext cx="7726680" cy="612648"/>
          </a:xfrm>
          <a:prstGeom prst="roundRect">
            <a:avLst>
              <a:gd name="adj" fmla="val 44776"/>
            </a:avLst>
          </a:prstGeom>
          <a:solidFill>
            <a:srgbClr val="151218"/>
          </a:solidFill>
          <a:ln w="12700">
            <a:solidFill>
              <a:srgbClr val="15121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542032" y="5330952"/>
            <a:ext cx="7086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One session  →  one customer outcome  →  one structured learning signal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A09CA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57607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80" kern="0" dirty="0">
                <a:solidFill>
                  <a:srgbClr val="9400FF"/>
                </a:solidFill>
              </a:rPr>
              <a:t>EXAMPLE 01 — LIVE GUIDANCE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85953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51218"/>
                </a:solidFill>
              </a:rPr>
              <a:t>Zen points. The customer acts.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536192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616B"/>
                </a:solidFill>
              </a:rPr>
              <a:t>The instruction appears exactly where work is happening—not in another tab.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847088"/>
            <a:ext cx="7827264" cy="4645152"/>
          </a:xfrm>
          <a:prstGeom prst="roundRect">
            <a:avLst>
              <a:gd name="adj" fmla="val 1378"/>
            </a:avLst>
          </a:prstGeom>
          <a:solidFill>
            <a:srgbClr val="FFFFFF"/>
          </a:solidFill>
          <a:ln w="11430">
            <a:solidFill>
              <a:srgbClr val="E8E5EB"/>
            </a:solidFill>
            <a:prstDash val="solid"/>
          </a:ln>
          <a:effectLst>
            <a:outerShdw sx="100000" sy="100000" kx="0" ky="0" algn="bl" rotWithShape="0" blurRad="25400" dist="50800" dir="2700000">
              <a:srgbClr val="C9C4CE">
                <a:alpha val="22000"/>
              </a:srgbClr>
            </a:outerShdw>
          </a:effectLst>
        </p:spPr>
      </p:sp>
      <p:pic>
        <p:nvPicPr>
          <p:cNvPr id="6" name="Image 0" descr="Q:\personal\hackathon\devpost\04-live-session-spot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874520"/>
            <a:ext cx="7772400" cy="459028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668512" y="1993392"/>
            <a:ext cx="1261872" cy="256032"/>
          </a:xfrm>
          <a:prstGeom prst="roundRect">
            <a:avLst>
              <a:gd name="adj" fmla="val 50000"/>
            </a:avLst>
          </a:prstGeom>
          <a:solidFill>
            <a:srgbClr val="F5ECFF"/>
          </a:solidFill>
          <a:ln w="12700">
            <a:solidFill>
              <a:srgbClr val="F5EC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741664" y="2043684"/>
            <a:ext cx="11155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spc="80" kern="0" dirty="0">
                <a:solidFill>
                  <a:srgbClr val="9400FF"/>
                </a:solidFill>
              </a:rPr>
              <a:t>IN THE MOMENT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8668512" y="2505456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6616B"/>
                </a:solidFill>
              </a:rPr>
              <a:t>Customer goal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668512" y="2816352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51218"/>
                </a:solidFill>
              </a:rPr>
              <a:t>Connect the accounting system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8668512" y="3547872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616B"/>
                </a:solidFill>
              </a:rPr>
              <a:t>Zen identifies the right integration, spotlights the real button and waits for completion.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8668512" y="477316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9400FF"/>
                </a:solidFill>
              </a:rPr>
              <a:t>1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8668512" y="524865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616B"/>
                </a:solidFill>
              </a:rPr>
              <a:t>clear next step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10104120" y="477316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9400FF"/>
                </a:solidFill>
              </a:rPr>
              <a:t>0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10104120" y="524865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616B"/>
                </a:solidFill>
              </a:rPr>
              <a:t>tab switching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8668512" y="5742432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00FF"/>
                </a:solidFill>
              </a:rPr>
              <a:t>Why it matters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8668512" y="599846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1218"/>
                </a:solidFill>
              </a:rPr>
              <a:t>Context turns documentation into action.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A09CA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57607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80" kern="0" dirty="0">
                <a:solidFill>
                  <a:srgbClr val="9400FF"/>
                </a:solidFill>
              </a:rPr>
              <a:t>EXAMPLE 03 — RISK PREVENTION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85953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51218"/>
                </a:solidFill>
              </a:rPr>
              <a:t>Zen catches the costly “small” mistake.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536192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616B"/>
                </a:solidFill>
              </a:rPr>
              <a:t>The difference between answering a question and understanding the setup.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847088"/>
            <a:ext cx="7872984" cy="4645152"/>
          </a:xfrm>
          <a:prstGeom prst="roundRect">
            <a:avLst>
              <a:gd name="adj" fmla="val 1378"/>
            </a:avLst>
          </a:prstGeom>
          <a:solidFill>
            <a:srgbClr val="FFFFFF"/>
          </a:solidFill>
          <a:ln w="11430">
            <a:solidFill>
              <a:srgbClr val="E8E5EB"/>
            </a:solidFill>
            <a:prstDash val="solid"/>
          </a:ln>
          <a:effectLst>
            <a:outerShdw sx="100000" sy="100000" kx="0" ky="0" algn="bl" rotWithShape="0" blurRad="25400" dist="50800" dir="2700000">
              <a:srgbClr val="C9C4CE">
                <a:alpha val="22000"/>
              </a:srgbClr>
            </a:outerShdw>
          </a:effectLst>
        </p:spPr>
      </p:sp>
      <p:pic>
        <p:nvPicPr>
          <p:cNvPr id="6" name="Image 0" descr="Q:\personal\hackathon\devpost\06-mapping-g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874520"/>
            <a:ext cx="7818120" cy="459028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686800" y="1993392"/>
            <a:ext cx="2788920" cy="1389888"/>
          </a:xfrm>
          <a:prstGeom prst="roundRect">
            <a:avLst>
              <a:gd name="adj" fmla="val 5263"/>
            </a:avLst>
          </a:prstGeom>
          <a:solidFill>
            <a:srgbClr val="FFF6F6"/>
          </a:solidFill>
          <a:ln w="12700">
            <a:solidFill>
              <a:srgbClr val="F1CCC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961120" y="2258568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D64545"/>
                </a:solidFill>
              </a:rPr>
              <a:t>WRONG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8961120" y="257860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D64545"/>
                </a:solidFill>
              </a:rPr>
              <a:t>GST 10%</a:t>
            </a:r>
            <a:endParaRPr lang="en-US" sz="2300" dirty="0"/>
          </a:p>
        </p:txBody>
      </p:sp>
      <p:sp>
        <p:nvSpPr>
          <p:cNvPr id="10" name="Text 7"/>
          <p:cNvSpPr/>
          <p:nvPr/>
        </p:nvSpPr>
        <p:spPr>
          <a:xfrm>
            <a:off x="8961120" y="299923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16B"/>
                </a:solidFill>
              </a:rPr>
              <a:t>Generic default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9802368" y="3584448"/>
            <a:ext cx="384048" cy="548640"/>
          </a:xfrm>
          <a:prstGeom prst="downArrow">
            <a:avLst/>
          </a:prstGeom>
          <a:solidFill>
            <a:srgbClr val="9400FF"/>
          </a:solidFill>
          <a:ln w="12700">
            <a:solidFill>
              <a:srgbClr val="9400F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686800" y="4343400"/>
            <a:ext cx="2788920" cy="1389888"/>
          </a:xfrm>
          <a:prstGeom prst="roundRect">
            <a:avLst>
              <a:gd name="adj" fmla="val 5263"/>
            </a:avLst>
          </a:prstGeom>
          <a:solidFill>
            <a:srgbClr val="EAF8F0"/>
          </a:solidFill>
          <a:ln w="12700">
            <a:solidFill>
              <a:srgbClr val="B9E3C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961120" y="4608576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138A4A"/>
                </a:solidFill>
              </a:rPr>
              <a:t>RIGHT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8961120" y="4928616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8A4A"/>
                </a:solidFill>
              </a:rPr>
              <a:t>GST-FREE</a:t>
            </a:r>
            <a:endParaRPr lang="en-US" sz="2300" dirty="0"/>
          </a:p>
        </p:txBody>
      </p:sp>
      <p:sp>
        <p:nvSpPr>
          <p:cNvPr id="15" name="Text 12"/>
          <p:cNvSpPr/>
          <p:nvPr/>
        </p:nvSpPr>
        <p:spPr>
          <a:xfrm>
            <a:off x="8961120" y="534924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16B"/>
                </a:solidFill>
              </a:rPr>
              <a:t>Health-provider context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8686800" y="6089904"/>
            <a:ext cx="2788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70" kern="0" dirty="0">
                <a:solidFill>
                  <a:srgbClr val="151218"/>
                </a:solidFill>
              </a:rPr>
              <a:t>PREVENT REWORK  •  PROTECT TRUST  •  ACCELERATE GO-LIVE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A09CA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57607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80" kern="0" dirty="0">
                <a:solidFill>
                  <a:srgbClr val="9400FF"/>
                </a:solidFill>
              </a:rPr>
              <a:t>THE OPERATING MODEL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85953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51218"/>
                </a:solidFill>
              </a:rPr>
              <a:t>Automation without losing visibility.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536192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616B"/>
                </a:solidFill>
              </a:rPr>
              <a:t>Zen runs the sessions. Customer Success keeps control of the portfolio.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819656"/>
            <a:ext cx="7296912" cy="4736592"/>
          </a:xfrm>
          <a:prstGeom prst="roundRect">
            <a:avLst>
              <a:gd name="adj" fmla="val 1351"/>
            </a:avLst>
          </a:prstGeom>
          <a:solidFill>
            <a:srgbClr val="FFFFFF"/>
          </a:solidFill>
          <a:ln w="11430">
            <a:solidFill>
              <a:srgbClr val="E8E5EB"/>
            </a:solidFill>
            <a:prstDash val="solid"/>
          </a:ln>
          <a:effectLst>
            <a:outerShdw sx="100000" sy="100000" kx="0" ky="0" algn="bl" rotWithShape="0" blurRad="25400" dist="50800" dir="2700000">
              <a:srgbClr val="C9C4CE">
                <a:alpha val="22000"/>
              </a:srgbClr>
            </a:outerShdw>
          </a:effectLst>
        </p:spPr>
      </p:sp>
      <p:pic>
        <p:nvPicPr>
          <p:cNvPr id="6" name="Image 0" descr="Q:\personal\hackathon\devpost\08-admin-hu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847088"/>
            <a:ext cx="7242048" cy="468172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138160" y="1920240"/>
            <a:ext cx="3474720" cy="1051560"/>
          </a:xfrm>
          <a:prstGeom prst="roundRect">
            <a:avLst>
              <a:gd name="adj" fmla="val 6957"/>
            </a:avLst>
          </a:prstGeom>
          <a:solidFill>
            <a:srgbClr val="F5ECFF"/>
          </a:solidFill>
          <a:ln w="10160">
            <a:solidFill>
              <a:srgbClr val="DAB8F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366760" y="210312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9400FF"/>
                </a:solidFill>
              </a:rPr>
              <a:t>91%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9509760" y="214884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51218"/>
                </a:solidFill>
              </a:rPr>
              <a:t>self-serve rate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9509760" y="2487168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6616B"/>
                </a:solidFill>
              </a:rPr>
              <a:t>Illustrative demo metric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8138160" y="3246120"/>
            <a:ext cx="34747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0160">
            <a:solidFill>
              <a:srgbClr val="E8E5E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366760" y="342900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9400FF"/>
                </a:solidFill>
              </a:rPr>
              <a:t>2.4 days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9509760" y="347472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51218"/>
                </a:solidFill>
              </a:rPr>
              <a:t>time to value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9509760" y="3813048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6616B"/>
                </a:solidFill>
              </a:rPr>
              <a:t>Illustrative demo metric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138160" y="4572000"/>
            <a:ext cx="34747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0160">
            <a:solidFill>
              <a:srgbClr val="E8E5E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366760" y="475488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9400FF"/>
                </a:solidFill>
              </a:rPr>
              <a:t>4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9509760" y="480060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51218"/>
                </a:solidFill>
              </a:rPr>
              <a:t>human escalations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9509760" y="5138928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6616B"/>
                </a:solidFill>
              </a:rPr>
              <a:t>Only where judgment matters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8549640" y="5989320"/>
            <a:ext cx="2423160" cy="256032"/>
          </a:xfrm>
          <a:prstGeom prst="roundRect">
            <a:avLst>
              <a:gd name="adj" fmla="val 50000"/>
            </a:avLst>
          </a:prstGeom>
          <a:solidFill>
            <a:srgbClr val="151218"/>
          </a:solidFill>
          <a:ln w="12700">
            <a:solidFill>
              <a:srgbClr val="15121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622792" y="6039612"/>
            <a:ext cx="22768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spc="80" kern="0" dirty="0">
                <a:solidFill>
                  <a:srgbClr val="FFFFFF"/>
                </a:solidFill>
              </a:rPr>
              <a:t>PORTFOLIO INTELLIGENCE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A09CA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57607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80" kern="0" dirty="0">
                <a:solidFill>
                  <a:srgbClr val="9400FF"/>
                </a:solidFill>
              </a:rPr>
              <a:t>FITS THE EXISTING STACK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85953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51218"/>
                </a:solidFill>
              </a:rPr>
              <a:t>Embed once. Connect what enterprises already use.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536192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616B"/>
                </a:solidFill>
              </a:rPr>
              <a:t>Zen acts as an orchestration layer—not a replacement for systems of record.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30352" y="1947672"/>
            <a:ext cx="2834640" cy="3566160"/>
          </a:xfrm>
          <a:prstGeom prst="roundRect">
            <a:avLst>
              <a:gd name="adj" fmla="val 2581"/>
            </a:avLst>
          </a:prstGeom>
          <a:solidFill>
            <a:srgbClr val="F7F6F8"/>
          </a:solidFill>
          <a:ln w="10160">
            <a:solidFill>
              <a:srgbClr val="E8E5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267712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30" kern="0" dirty="0">
                <a:solidFill>
                  <a:srgbClr val="66616B"/>
                </a:solidFill>
              </a:rPr>
              <a:t>YOUR PRODUCT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932688" y="2743200"/>
            <a:ext cx="2029968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8E5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91056" y="296265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9400FF"/>
                </a:solidFill>
              </a:rPr>
              <a:t>&lt;/&gt;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124712" y="3401568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51218"/>
                </a:solidFill>
              </a:rPr>
              <a:t>Web app / mobile app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097280" y="4279392"/>
            <a:ext cx="1691640" cy="256032"/>
          </a:xfrm>
          <a:prstGeom prst="roundRect">
            <a:avLst>
              <a:gd name="adj" fmla="val 50000"/>
            </a:avLst>
          </a:prstGeom>
          <a:solidFill>
            <a:srgbClr val="151218"/>
          </a:solidFill>
          <a:ln w="12700">
            <a:solidFill>
              <a:srgbClr val="15121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70432" y="4329684"/>
            <a:ext cx="15453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spc="80" kern="0" dirty="0">
                <a:solidFill>
                  <a:srgbClr val="FFFFFF"/>
                </a:solidFill>
              </a:rPr>
              <a:t>1-LINE JS SDK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841248" y="4782312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6616B"/>
                </a:solidFill>
              </a:rPr>
              <a:t>or native SDK / secure session link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575304" y="3255264"/>
            <a:ext cx="457200" cy="694944"/>
          </a:xfrm>
          <a:prstGeom prst="chevron">
            <a:avLst/>
          </a:prstGeom>
          <a:solidFill>
            <a:srgbClr val="9400FF"/>
          </a:solidFill>
          <a:ln w="12700">
            <a:solidFill>
              <a:srgbClr val="9400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51960" y="1947672"/>
            <a:ext cx="2880360" cy="3566160"/>
          </a:xfrm>
          <a:prstGeom prst="roundRect">
            <a:avLst>
              <a:gd name="adj" fmla="val 2540"/>
            </a:avLst>
          </a:prstGeom>
          <a:solidFill>
            <a:srgbClr val="F5ECFF"/>
          </a:solidFill>
          <a:ln w="10160">
            <a:solidFill>
              <a:srgbClr val="D9B1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07992" y="2267712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30" kern="0" dirty="0">
                <a:solidFill>
                  <a:srgbClr val="9400FF"/>
                </a:solidFill>
              </a:rPr>
              <a:t>ZEN ORCHESTRATION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99432" y="2724912"/>
            <a:ext cx="2176272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B1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36592" y="2834640"/>
            <a:ext cx="19019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51218"/>
                </a:solidFill>
              </a:rPr>
              <a:t>Session + screen context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99432" y="3291840"/>
            <a:ext cx="2176272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B1F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36592" y="3401568"/>
            <a:ext cx="19019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51218"/>
                </a:solidFill>
              </a:rPr>
              <a:t>Customer-specific playbook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99432" y="3858768"/>
            <a:ext cx="2176272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B1F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36592" y="3968496"/>
            <a:ext cx="19019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51218"/>
                </a:solidFill>
              </a:rPr>
              <a:t>Tool calls + policy checks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599432" y="4425696"/>
            <a:ext cx="2176272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B1F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36592" y="4535424"/>
            <a:ext cx="19019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51218"/>
                </a:solidFill>
              </a:rPr>
              <a:t>Human escalation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53712" y="5056632"/>
            <a:ext cx="2286000" cy="256032"/>
          </a:xfrm>
          <a:prstGeom prst="roundRect">
            <a:avLst>
              <a:gd name="adj" fmla="val 50000"/>
            </a:avLst>
          </a:prstGeom>
          <a:solidFill>
            <a:srgbClr val="9400FF"/>
          </a:solidFill>
          <a:ln w="12700">
            <a:solidFill>
              <a:srgbClr val="9400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26864" y="5106924"/>
            <a:ext cx="21396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spc="80" kern="0" dirty="0">
                <a:solidFill>
                  <a:srgbClr val="FFFFFF"/>
                </a:solidFill>
              </a:rPr>
              <a:t>REST + WEBHOOKS + EVENTS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7360920" y="3255264"/>
            <a:ext cx="457200" cy="694944"/>
          </a:xfrm>
          <a:prstGeom prst="chevron">
            <a:avLst/>
          </a:prstGeom>
          <a:solidFill>
            <a:srgbClr val="9400FF"/>
          </a:solidFill>
          <a:ln w="12700">
            <a:solidFill>
              <a:srgbClr val="9400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028432" y="1947672"/>
            <a:ext cx="361188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0160">
            <a:solidFill>
              <a:srgbClr val="E8E5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75320" y="2267712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10" kern="0" dirty="0">
                <a:solidFill>
                  <a:srgbClr val="66616B"/>
                </a:solidFill>
              </a:rPr>
              <a:t>SYSTEMS ALREADY IN PLACE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302752" y="2706624"/>
            <a:ext cx="6583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9400FF"/>
                </a:solidFill>
              </a:rPr>
              <a:t>IDENTITY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9034272" y="2679192"/>
            <a:ext cx="22677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51218"/>
                </a:solidFill>
              </a:rPr>
              <a:t>Okta  •  Entra ID  •  WorkOS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8302752" y="2980944"/>
            <a:ext cx="2907792" cy="0"/>
          </a:xfrm>
          <a:prstGeom prst="line">
            <a:avLst/>
          </a:prstGeom>
          <a:noFill/>
          <a:ln w="8890">
            <a:solidFill>
              <a:srgbClr val="E8E5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302752" y="3209544"/>
            <a:ext cx="6583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9400FF"/>
                </a:solidFill>
              </a:rPr>
              <a:t>KNOWLEDGE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9034272" y="3182112"/>
            <a:ext cx="22677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51218"/>
                </a:solidFill>
              </a:rPr>
              <a:t>SharePoint  •  Confluence  •  Zendesk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8302752" y="3483864"/>
            <a:ext cx="2907792" cy="0"/>
          </a:xfrm>
          <a:prstGeom prst="line">
            <a:avLst/>
          </a:prstGeom>
          <a:noFill/>
          <a:ln w="8890">
            <a:solidFill>
              <a:srgbClr val="E8E5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302752" y="3712464"/>
            <a:ext cx="6583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9400FF"/>
                </a:solidFill>
              </a:rPr>
              <a:t>CUSTOMER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9034272" y="3685032"/>
            <a:ext cx="22677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51218"/>
                </a:solidFill>
              </a:rPr>
              <a:t>Salesforce  •  HubSpot  •  Gainsight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8302752" y="3986784"/>
            <a:ext cx="2907792" cy="0"/>
          </a:xfrm>
          <a:prstGeom prst="line">
            <a:avLst/>
          </a:prstGeom>
          <a:noFill/>
          <a:ln w="8890">
            <a:solidFill>
              <a:srgbClr val="E8E5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302752" y="4215384"/>
            <a:ext cx="6583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9400FF"/>
                </a:solidFill>
              </a:rPr>
              <a:t>WORK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9034272" y="4187952"/>
            <a:ext cx="22677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51218"/>
                </a:solidFill>
              </a:rPr>
              <a:t>Teams  •  Slack  •  Jira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8302752" y="4489704"/>
            <a:ext cx="2907792" cy="0"/>
          </a:xfrm>
          <a:prstGeom prst="line">
            <a:avLst/>
          </a:prstGeom>
          <a:noFill/>
          <a:ln w="8890">
            <a:solidFill>
              <a:srgbClr val="E8E5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302752" y="4718304"/>
            <a:ext cx="6583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9400FF"/>
                </a:solidFill>
              </a:rPr>
              <a:t>DATA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9034272" y="4690872"/>
            <a:ext cx="22677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51218"/>
                </a:solidFill>
              </a:rPr>
              <a:t>Segment  •  Snowflake  •  Power BI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58368" y="5934456"/>
            <a:ext cx="10881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151218"/>
                </a:solidFill>
              </a:rPr>
              <a:t>Example: Salesforce opens the session → Zen guides QuickBooks setup → unresolved issue creates a Zendesk ticket with transcript → outcome flows to Gainsight.</a:t>
            </a:r>
            <a:endParaRPr lang="en-US" sz="11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A09CA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57607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80" kern="0" dirty="0">
                <a:solidFill>
                  <a:srgbClr val="9400FF"/>
                </a:solidFill>
              </a:rPr>
              <a:t>DESIGNED FOR ENTERPRISE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85953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51218"/>
                </a:solidFill>
              </a:rPr>
              <a:t>A control plane around the agent.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536192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616B"/>
                </a:solidFill>
              </a:rPr>
              <a:t>Production architecture: observable, governable and integration-ready.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66928" y="1993392"/>
            <a:ext cx="2148840" cy="3273552"/>
          </a:xfrm>
          <a:prstGeom prst="roundRect">
            <a:avLst>
              <a:gd name="adj" fmla="val 3404"/>
            </a:avLst>
          </a:prstGeom>
          <a:solidFill>
            <a:srgbClr val="F7F6F8"/>
          </a:solidFill>
          <a:ln w="10160">
            <a:solidFill>
              <a:srgbClr val="E8E5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2286000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25" kern="0" dirty="0">
                <a:solidFill>
                  <a:srgbClr val="66616B"/>
                </a:solidFill>
              </a:rPr>
              <a:t>CUSTOMER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49808" y="2743200"/>
            <a:ext cx="1783080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E8E5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77824" y="2880360"/>
            <a:ext cx="1527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51218"/>
                </a:solidFill>
              </a:rPr>
              <a:t>Embedded widget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49808" y="3401568"/>
            <a:ext cx="1783080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E8E5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77824" y="3538728"/>
            <a:ext cx="1527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51218"/>
                </a:solidFill>
              </a:rPr>
              <a:t>Voice / text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49808" y="4059936"/>
            <a:ext cx="1783080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E8E5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77824" y="4197096"/>
            <a:ext cx="1527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51218"/>
                </a:solidFill>
              </a:rPr>
              <a:t>Screen share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916936" y="3364992"/>
            <a:ext cx="310896" cy="512064"/>
          </a:xfrm>
          <a:prstGeom prst="chevron">
            <a:avLst/>
          </a:prstGeom>
          <a:solidFill>
            <a:srgbClr val="9400FF"/>
          </a:solidFill>
          <a:ln w="12700">
            <a:solidFill>
              <a:srgbClr val="9400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072384" y="1993392"/>
            <a:ext cx="2377440" cy="3273552"/>
          </a:xfrm>
          <a:prstGeom prst="roundRect">
            <a:avLst>
              <a:gd name="adj" fmla="val 3077"/>
            </a:avLst>
          </a:prstGeom>
          <a:solidFill>
            <a:srgbClr val="F5ECFF"/>
          </a:solidFill>
          <a:ln w="10160">
            <a:solidFill>
              <a:srgbClr val="D9B1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55264" y="228600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25" kern="0" dirty="0">
                <a:solidFill>
                  <a:srgbClr val="9400FF"/>
                </a:solidFill>
              </a:rPr>
              <a:t>ZEN AGENT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255264" y="2743200"/>
            <a:ext cx="2011680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D9B1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83280" y="2880360"/>
            <a:ext cx="17556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51218"/>
                </a:solidFill>
              </a:rPr>
              <a:t>Goal planner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55264" y="3401568"/>
            <a:ext cx="2011680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D9B1F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83280" y="3538728"/>
            <a:ext cx="17556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51218"/>
                </a:solidFill>
              </a:rPr>
              <a:t>Screen context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55264" y="4059936"/>
            <a:ext cx="2011680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D9B1F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83280" y="4197096"/>
            <a:ext cx="17556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51218"/>
                </a:solidFill>
              </a:rPr>
              <a:t>Policy guardrails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650992" y="3364992"/>
            <a:ext cx="310896" cy="512064"/>
          </a:xfrm>
          <a:prstGeom prst="chevron">
            <a:avLst/>
          </a:prstGeom>
          <a:solidFill>
            <a:srgbClr val="9400FF"/>
          </a:solidFill>
          <a:ln w="12700">
            <a:solidFill>
              <a:srgbClr val="9400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806440" y="1993392"/>
            <a:ext cx="2395728" cy="3273552"/>
          </a:xfrm>
          <a:prstGeom prst="roundRect">
            <a:avLst>
              <a:gd name="adj" fmla="val 3053"/>
            </a:avLst>
          </a:prstGeom>
          <a:solidFill>
            <a:srgbClr val="F7F6F8"/>
          </a:solidFill>
          <a:ln w="10160">
            <a:solidFill>
              <a:srgbClr val="E8E5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89320" y="2286000"/>
            <a:ext cx="2029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25" kern="0" dirty="0">
                <a:solidFill>
                  <a:srgbClr val="66616B"/>
                </a:solidFill>
              </a:rPr>
              <a:t>KNOWLEDGE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989320" y="2743200"/>
            <a:ext cx="2029968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E8E5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17336" y="2880360"/>
            <a:ext cx="17739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51218"/>
                </a:solidFill>
              </a:rPr>
              <a:t>Product docs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989320" y="3401568"/>
            <a:ext cx="2029968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E8E5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17336" y="3538728"/>
            <a:ext cx="17739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51218"/>
                </a:solidFill>
              </a:rPr>
              <a:t>Approved answers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989320" y="4059936"/>
            <a:ext cx="2029968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E8E5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17336" y="4197096"/>
            <a:ext cx="17739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51218"/>
                </a:solidFill>
              </a:rPr>
              <a:t>Session memory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403336" y="3364992"/>
            <a:ext cx="310896" cy="512064"/>
          </a:xfrm>
          <a:prstGeom prst="chevron">
            <a:avLst/>
          </a:prstGeom>
          <a:solidFill>
            <a:srgbClr val="9400FF"/>
          </a:solidFill>
          <a:ln w="12700">
            <a:solidFill>
              <a:srgbClr val="9400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558784" y="1993392"/>
            <a:ext cx="2971800" cy="3273552"/>
          </a:xfrm>
          <a:prstGeom prst="roundRect">
            <a:avLst>
              <a:gd name="adj" fmla="val 2462"/>
            </a:avLst>
          </a:prstGeom>
          <a:solidFill>
            <a:srgbClr val="F7F6F8"/>
          </a:solidFill>
          <a:ln w="10160">
            <a:solidFill>
              <a:srgbClr val="E8E5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741664" y="2286000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25" kern="0" dirty="0">
                <a:solidFill>
                  <a:srgbClr val="66616B"/>
                </a:solidFill>
              </a:rPr>
              <a:t>ENTERPRISE SYSTEMS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8741664" y="2743200"/>
            <a:ext cx="2606040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E8E5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869680" y="2880360"/>
            <a:ext cx="23500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51218"/>
                </a:solidFill>
              </a:rPr>
              <a:t>CRM + Support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8741664" y="3401568"/>
            <a:ext cx="2606040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E8E5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869680" y="3538728"/>
            <a:ext cx="23500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51218"/>
                </a:solidFill>
              </a:rPr>
              <a:t>Slack / Teams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8741664" y="4059936"/>
            <a:ext cx="2606040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E8E5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869680" y="4197096"/>
            <a:ext cx="23500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51218"/>
                </a:solidFill>
              </a:rPr>
              <a:t>Analytics + Data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66928" y="559612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9400FF"/>
                </a:solidFill>
              </a:rPr>
              <a:t>CONTROL LAYER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1664208" y="5532120"/>
            <a:ext cx="1609344" cy="256032"/>
          </a:xfrm>
          <a:prstGeom prst="roundRect">
            <a:avLst>
              <a:gd name="adj" fmla="val 50000"/>
            </a:avLst>
          </a:prstGeom>
          <a:solidFill>
            <a:srgbClr val="151218"/>
          </a:solidFill>
          <a:ln w="12700">
            <a:solidFill>
              <a:srgbClr val="15121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737360" y="5582412"/>
            <a:ext cx="1463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spc="80" kern="0" dirty="0">
                <a:solidFill>
                  <a:srgbClr val="FFFFFF"/>
                </a:solidFill>
              </a:rPr>
              <a:t>IDENTITY &amp; RBAC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3511296" y="5532120"/>
            <a:ext cx="1609344" cy="256032"/>
          </a:xfrm>
          <a:prstGeom prst="roundRect">
            <a:avLst>
              <a:gd name="adj" fmla="val 50000"/>
            </a:avLst>
          </a:prstGeom>
          <a:solidFill>
            <a:srgbClr val="151218"/>
          </a:solidFill>
          <a:ln w="12700">
            <a:solidFill>
              <a:srgbClr val="15121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584448" y="5582412"/>
            <a:ext cx="1463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spc="80" kern="0" dirty="0">
                <a:solidFill>
                  <a:srgbClr val="FFFFFF"/>
                </a:solidFill>
              </a:rPr>
              <a:t>AUDIT TRAIL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5358384" y="5532120"/>
            <a:ext cx="1609344" cy="256032"/>
          </a:xfrm>
          <a:prstGeom prst="roundRect">
            <a:avLst>
              <a:gd name="adj" fmla="val 50000"/>
            </a:avLst>
          </a:prstGeom>
          <a:solidFill>
            <a:srgbClr val="151218"/>
          </a:solidFill>
          <a:ln w="12700">
            <a:solidFill>
              <a:srgbClr val="15121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431536" y="5582412"/>
            <a:ext cx="1463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spc="80" kern="0" dirty="0">
                <a:solidFill>
                  <a:srgbClr val="FFFFFF"/>
                </a:solidFill>
              </a:rPr>
              <a:t>DATA BOUNDARIES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7205472" y="5532120"/>
            <a:ext cx="1609344" cy="256032"/>
          </a:xfrm>
          <a:prstGeom prst="roundRect">
            <a:avLst>
              <a:gd name="adj" fmla="val 50000"/>
            </a:avLst>
          </a:prstGeom>
          <a:solidFill>
            <a:srgbClr val="9400FF"/>
          </a:solidFill>
          <a:ln w="12700">
            <a:solidFill>
              <a:srgbClr val="9400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278624" y="5582412"/>
            <a:ext cx="1463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spc="80" kern="0" dirty="0">
                <a:solidFill>
                  <a:srgbClr val="FFFFFF"/>
                </a:solidFill>
              </a:rPr>
              <a:t>HUMAN APPROVAL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9052560" y="5532120"/>
            <a:ext cx="1609344" cy="256032"/>
          </a:xfrm>
          <a:prstGeom prst="roundRect">
            <a:avLst>
              <a:gd name="adj" fmla="val 50000"/>
            </a:avLst>
          </a:prstGeom>
          <a:solidFill>
            <a:srgbClr val="151218"/>
          </a:solidFill>
          <a:ln w="12700">
            <a:solidFill>
              <a:srgbClr val="15121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5582412"/>
            <a:ext cx="1463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spc="80" kern="0" dirty="0">
                <a:solidFill>
                  <a:srgbClr val="FFFFFF"/>
                </a:solidFill>
              </a:rPr>
              <a:t>EVALUATION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566928" y="6236208"/>
            <a:ext cx="10881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6616B"/>
                </a:solidFill>
              </a:rPr>
              <a:t>Architecture is the proposed production target; the submitted hackathon experience is a frontend prototype.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A09CA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57607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80" kern="0" dirty="0">
                <a:solidFill>
                  <a:srgbClr val="9400FF"/>
                </a:solidFill>
              </a:rPr>
              <a:t>ENTERPRISE VALUE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85953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51218"/>
                </a:solidFill>
              </a:rPr>
              <a:t>Turn onboarding from a queue into a system.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536192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616B"/>
                </a:solidFill>
              </a:rPr>
              <a:t>Four stakeholder wins from one shared customer journey.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30352" y="2011680"/>
            <a:ext cx="2514600" cy="3401568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0160">
            <a:solidFill>
              <a:srgbClr val="E8E5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2331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9400FF"/>
                </a:solidFill>
              </a:rPr>
              <a:t>⏱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749808" y="3072384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10" kern="0" dirty="0">
                <a:solidFill>
                  <a:srgbClr val="66616B"/>
                </a:solidFill>
              </a:rPr>
              <a:t>CUSTOMER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49808" y="3529584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51218"/>
                </a:solidFill>
              </a:rPr>
              <a:t>Start now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49808" y="420624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616B"/>
                </a:solidFill>
              </a:rPr>
              <a:t>No calendar delay.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6616B"/>
                </a:solidFill>
              </a:rPr>
              <a:t>Guidance in context.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64992" y="2011680"/>
            <a:ext cx="2514600" cy="3401568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0160">
            <a:solidFill>
              <a:srgbClr val="E8E5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84448" y="2331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9400FF"/>
                </a:solidFill>
              </a:rPr>
              <a:t>◎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3584448" y="3072384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10" kern="0" dirty="0">
                <a:solidFill>
                  <a:srgbClr val="66616B"/>
                </a:solidFill>
              </a:rPr>
              <a:t>CUSTOMER SUCCESS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584448" y="3529584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51218"/>
                </a:solidFill>
              </a:rPr>
              <a:t>Focus humans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584448" y="420624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616B"/>
                </a:solidFill>
              </a:rPr>
              <a:t>Escalate judgment.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6616B"/>
                </a:solidFill>
              </a:rPr>
              <a:t>Automate repetition.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99632" y="2011680"/>
            <a:ext cx="2514600" cy="3401568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0160">
            <a:solidFill>
              <a:srgbClr val="E8E5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19088" y="2331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9400FF"/>
                </a:solidFill>
              </a:rPr>
              <a:t>↗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6419088" y="3072384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10" kern="0" dirty="0">
                <a:solidFill>
                  <a:srgbClr val="66616B"/>
                </a:solidFill>
              </a:rPr>
              <a:t>PRODUCT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3529584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51218"/>
                </a:solidFill>
              </a:rPr>
              <a:t>See friction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419088" y="420624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616B"/>
                </a:solidFill>
              </a:rPr>
              <a:t>Every struggle becomes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6616B"/>
                </a:solidFill>
              </a:rPr>
              <a:t>a roadmap signal.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034272" y="2011680"/>
            <a:ext cx="2514600" cy="3401568"/>
          </a:xfrm>
          <a:prstGeom prst="roundRect">
            <a:avLst>
              <a:gd name="adj" fmla="val 2909"/>
            </a:avLst>
          </a:prstGeom>
          <a:solidFill>
            <a:srgbClr val="151218"/>
          </a:solidFill>
          <a:ln w="10160">
            <a:solidFill>
              <a:srgbClr val="15121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253728" y="2331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CDA0F3"/>
                </a:solidFill>
              </a:rPr>
              <a:t>∞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9253728" y="3072384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10" kern="0" dirty="0">
                <a:solidFill>
                  <a:srgbClr val="CDA0F3"/>
                </a:solidFill>
              </a:rPr>
              <a:t>LEADERSHIP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9253728" y="3529584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Scale coverage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9253728" y="420624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4CFD8"/>
                </a:solidFill>
              </a:rPr>
              <a:t>More customers without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4CFD8"/>
                </a:solidFill>
              </a:rPr>
              <a:t>linear headcount.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593592" y="5897880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9400FF"/>
                </a:solidFill>
              </a:rPr>
              <a:t>NORTH STAR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617720" y="5833872"/>
            <a:ext cx="4343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51218"/>
                </a:solidFill>
              </a:rPr>
              <a:t>Time from signed contract → first customer value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A09CA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512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200000">
            <a:off x="676656" y="676656"/>
            <a:ext cx="566928" cy="566928"/>
          </a:xfrm>
          <a:prstGeom prst="arc">
            <a:avLst/>
          </a:prstGeom>
          <a:solidFill>
            <a:srgbClr val="151218">
              <a:alpha val="0"/>
            </a:srgbClr>
          </a:solidFill>
          <a:ln w="76200">
            <a:solidFill>
              <a:srgbClr val="9400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0" y="82296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40" kern="0" dirty="0">
                <a:solidFill>
                  <a:srgbClr val="FFFFFF"/>
                </a:solidFill>
              </a:rPr>
              <a:t>ZEN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94944" y="1847088"/>
            <a:ext cx="67665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High-touch onboarding.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Every customer.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No extra headcount.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13232" y="4572000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DA0F3"/>
                </a:solidFill>
              </a:rPr>
              <a:t>Let’s see it live.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13232" y="5166360"/>
            <a:ext cx="6080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B9B4BD"/>
                </a:solidFill>
              </a:rPr>
              <a:t>Interactive prototype  →  Landing page  →  Guided session  →  Admin Hub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470648" y="1207008"/>
            <a:ext cx="4096512" cy="2752344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1430">
            <a:solidFill>
              <a:srgbClr val="E8E5EB"/>
            </a:solidFill>
            <a:prstDash val="solid"/>
          </a:ln>
          <a:effectLst>
            <a:outerShdw sx="100000" sy="100000" kx="0" ky="0" algn="bl" rotWithShape="0" blurRad="25400" dist="50800" dir="2700000">
              <a:srgbClr val="C9C4CE">
                <a:alpha val="22000"/>
              </a:srgbClr>
            </a:outerShdw>
          </a:effectLst>
        </p:spPr>
      </p:sp>
      <p:pic>
        <p:nvPicPr>
          <p:cNvPr id="8" name="Image 0" descr="Q:\personal\hackathon\devpost\07-comple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1234440"/>
            <a:ext cx="4041648" cy="26974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498080" y="4315968"/>
            <a:ext cx="4041648" cy="1069848"/>
          </a:xfrm>
          <a:prstGeom prst="roundRect">
            <a:avLst>
              <a:gd name="adj" fmla="val 6838"/>
            </a:avLst>
          </a:prstGeom>
          <a:solidFill>
            <a:srgbClr val="25212A"/>
          </a:solidFill>
          <a:ln w="12700">
            <a:solidFill>
              <a:srgbClr val="3A344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818120" y="455371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5 / 5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8714232" y="4645152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9B4BD"/>
                </a:solidFill>
              </a:rPr>
              <a:t>steps completed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0058400" y="455371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DA0F3"/>
                </a:solidFill>
              </a:rPr>
              <a:t>0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10424160" y="4645152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B9B4BD"/>
                </a:solidFill>
              </a:rPr>
              <a:t>human handoffs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498080" y="5742432"/>
            <a:ext cx="40416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F7885"/>
                </a:solidFill>
              </a:rPr>
              <a:t>Prototype metrics shown are illustrative.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A09CA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Zen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Zen — Enterprise Customer Onboarding, Reimagined</dc:title>
  <dc:subject>Enterprise AI onboarding agent hackathon pitch</dc:subject>
  <dc:creator>Zen</dc:creator>
  <cp:lastModifiedBy>Zen</cp:lastModifiedBy>
  <cp:revision>1</cp:revision>
  <dcterms:created xsi:type="dcterms:W3CDTF">2026-08-30T12:58:12Z</dcterms:created>
  <dcterms:modified xsi:type="dcterms:W3CDTF">2026-08-30T12:58:12Z</dcterms:modified>
</cp:coreProperties>
</file>