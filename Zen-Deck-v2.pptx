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Zen,OPEN: Give Zen a migration goal. Zen discovers, maps, tests, migrates, remediates and explains the outcome, involving people when confidence or judgment requires it. Introduce the migration story, not the older onboarding concept.,CONTENT SOURCE: deckv2.md. Full corresponding brief section is retained below. Research statements are supplied by the brief; no external source URLs were provided.,SLIDE 1 — ZEN
Zen
The Autonomous Enterprise Migration Agent
From manual migration projects → goal-driven, intelligent migration
Give Zen a migration goal. Zen discovers, maps, tests, migrates, remediates and explains the outcome — with humans only when needed.
What Zen does
DISCOVER
Understand source &amp; target data
MAP
AI-powered field &amp; entity mapping
TEST
Validate migration readiness before cutover
EXECUTE
Migrate records autonomously
REMEDIATE
Detect and fix recoverable failures
EXPLAIN
Generate migration insights with Claude
Bottom tagline
From “Can we migrate?” → “Zen knows we're ready.”
Visual: Put the six capabilities in a horizontal flow:
Discover → Map → Test → Execute → Remediate →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The problem,Migration is not simply a bulk copy. Walk through the journey, then group the friction into schema, history, execution and trust. The Freshservice documentation challenges cited in the brief are context, not measured findings from this prototype. The opportunity is a workflow-owning agent, not one more import script.,CONTENT SOURCE: deckv2.md. Full corresponding brief section is retained below. Research statements are supplied by the brief; no external source URLs were provided.,SLIDE 2 — THE PROBLEM
Enterprise migration is more than moving data
When customers move from one ITSM platform to another, they must manage:
Discover → Map → Transform → Test → Migrate → Validate → Fix → Reconcile
Where the friction occurs
Different entities and data models
Complex field mappings and transformations
Historical records and relationships
Missing or incompatible data
API/rate-limit constraints
Migration failures and retries
Workflow / notification side effects
Manual validation and reconciliation
Freshservice's own migration documentation identifies challenges including rate limits, API flexibility, migration-triggered notifications, workflow/business-rule execution, attachment constraints and possible search/analytics delays.
The real problem
Teams spend significant effort making migration safe, complete and trustworthy — not just moving records from A → B.
Current state
Migration = APIs + scripts + specialists + manual troubleshooting
Opportunity
Migration = an autonomous agent that manages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Why now?,Four signals converge: customized migration remains high-touch; Freshservice offers REST API v2 and Product MCP; existing vendors already emphasize mapping, tests, validation, delta migration and human support; AI enables a goal-driven operating model. Avoid implying that current migration providers lack those capabilities. Product MCP, not Developer MCP, is the target product-data integration layer in the brief.,CONTENT SOURCE: deckv2.md. Full corresponding brief section is retained below. Research statements are supplied by the brief; no external source URLs were provided.,SLIDE 3 — WHY NOW?
The technology is ready for agentic migration
1. Enterprise migration remains high-touch
Basic Freshservice onboarding can be straightforward, but the research indicates that complexity increases with customized implementations and historical data migration.
2. Freshservice provides the integration foundation
Freshservice supports:
REST API v2 + Product MCP
The Product MCP exposes resources such as tickets, requesters, workspaces, departments and other organizational data, and supports Claude as a client.
3. Migration vendors already focus on confidence
Existing migration solutions emphasize:
Mapping
Test migrations
Validation
Custom migration support
Delta migration
Human assistance
4. AI changes the operating model
Traditional
API → Script → Import → Human troubleshooting
Agentic
Goal → Discover → Reason → Map → Test → Execute → Remediate → Explain
Bottom message
The opportunity is not another migration script. It's an intelligent migration experience that gives customers confidence before, during and after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The solution,The readiness score is illustrative, not a measured result or a specified scoring algorithm. Blocking mappings and required fields must be resolved before execution. Customer-to-requester and ticket-to-ticket are example entity mappings. Department-to-workspace classification depends on the customer configuration and approved mapping rules; it is not a universal equivalence. Keep detailed mappings and validation checks in the conversation, not all on the slide.,CONTENT SOURCE: deckv2.md. Full corresponding brief section is retained below. Research statements are supplied by the brief; no external source URLs were provided.,SLIDE 4 — THE SOLUTION
Zen turns migration into a confidence-based workflow
User starts with a goal
“Migrate all employees and tickets from Jira Service Management to Freshservice.”
Zen automatically:
01 — DISCOVER
JSM
Customers / Employees
Tickets
Freshservice
Requesters
Tickets
Departments
Workspaces
↓
02 — MAP
JSM Customer  → Freshservice Requester
JSM Ticket    → Freshservice Ticket
Department    → Workspace
Priority      → Priority
Status        → Status
↓
03 — TEST
Run a controlled sample migration.
↓
04 — ASSESS READINESS
Migration Readiness: 96%
✓ Required fields
✓ Mapping
✓ Workspace classification
✓ Test migration
✓ Validation
↓
05 — EXECUTE
Run the full migration.
↓
06 — REMEDIATE
Detect → Diagnose → Fix → Retry
↓
07 — RECONCILE
Source vs Target
↓
08 — EXPLAIN
Claude summarizes:
What happened? What went wrong? What was fixed? What remains?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How Zen works,PROPOSED ARCHITECTURE: User goal enters the Zen Migration Engine through the goal interpreter. Entity discovery queries the JSM source adapter and Freshservice target integration. AI mapping feeds a controlled test and readiness assessment. Not-ready results loop through remediation and retesting. Ready results proceed to full migration and source-to-target validation/reconciliation. Recoverable failures are fixed and retried; unresolved cases go to human review. Both paths feed Claude insights. Zen MCP is the orchestration layer. Target connectivity uses Product MCP / REST API v2, not Developer MCP. This is the architecture from the brief, not a verified statement about implemented backend components.,CONTENT SOURCE: deckv2.md. Full corresponding brief section is retained below. Research statements are supplied by the brief; no external source URLs were provided.,SLIDE 5 — HOW ZEN WORKS
From natural language → autonomous execution
Use this as your main architecture diagram.
                         USER
                           │
                           │
        "Migrate JSM → Freshservice"
                           │
                           ▼
                  ┌─────────────────┐
                  │    ZEN AGENT    │
                  │ Goal Interpreter│
                  └────────┬────────┘
                           │
                           ▼
                  ┌─────────────────┐
                  │ ENTITY DISCOVERY│
                  └────────┬────────┘
                           │
                ┌──────────┴──────────┐
                ▼                     ▼
           JSM SOURCE          FRESHSERVICE TARGET
           Customers           Requesters
           Tickets             Tickets
                               Workspaces
                               Departments
                │                     │
                └──────────┬──────────┘
                           ▼
                    AI MAPPING ENGINE
                           │
                           ▼
                    TEST MIGRATION
                           │
                           ▼
                  MIGRATION READINESS
                           │
                     ┌─────┴─────┐
                     │           │
                  NOT READY    READY
                     │           │
                     ▼           ▼
                  REMEDIATE   FULL MIGRATION
                                  │
                                  ▼
                         VALIDATE + RECONCILE
                                  │
                         ┌────────┴────────┐
                         ▼                 ▼
                    AUTO-FIXED        UNRESOLVED
                         │                 │
                         │                 ▼
                         │           HUMAN REVIEW
                         │
                         └────────┬────────┘
                                  ▼
                           CLAUDE INSIGHTS
Technology layer
Source: Jira Service Management API / Adapter
Agent: Zen Migration Engine
Target: Freshservice Product MCP / REST API v2
AI: Claude
Orchestration: Zen MCP
The Freshworks cookbook specifically identifies REST APIs and Product MCP as the relevant connection layers, while distinguishing Product MCP from Developer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The agentic experience,ILLUSTRATIVE DEMO, NOT VERIFIED PRODUCTION RESULTS. Deliver the 3-4 minute story: one sentence; discover the systems; map; test; assess readiness; execute; show a recoverable failure; show the fix; let Claude explain. The mapping checkpoint contains 42 fields: 36 high-confidence, 5 medium-confidence, 1 requiring review. Do not silently bypass a blocking review. The sample contains 100 records: 98 initially successful and 2 remediated, with zero critical errors after remediation. The full example uses disjoint counts: 9,650 first-pass successes + 280 successfully remediated + 70 for human review = 10,000 records. Thus 96.5% is the first-pass success rate, while 99.3% is migrated after remediation. The original brief calls 96.5% the success rate; the slide clarifies this denominator without altering the counts. Missing requester information is the main failure category. Only reliable email matches and known department normalization are auto-fixed. Seventy records lack a reliable requester match and require human review.,CONTENT SOURCE: deckv2.md. Full corresponding brief section is retained below. Research statements are supplied by the brief; no external source URLs were provided.,SLIDE 6 — THE AGENTIC EXPERIENCE
One goal. End-to-end migration.
USER
“Migrate all employees and tickets from JSM to Freshservice.”
ZEN DISCOVERS
Source
✓ Customers
✓ Tickets
Target
✓ Requesters
✓ Tickets
✓ Workspaces
✓ Departments
ZEN MAPS
42 fields discovered
36 high-confidence
5 medium-confidence
1 requires review
ZEN TESTS
100 sample records
98 successful
2 automatically remediated
0 critical errors
🟢 Migration Ready
ZEN EXECUTES
10,000 records
Result	Records
Successfully migrated	9,650
Automatically remediated	280
Human review	70
96.5% success rate
CLAUDE EXPLAINS
What went wrong?
Missing requester information was the primary failure category.
What did Zen fix?
Zen resolved records where an existing requester could be identified using email and normalized known department values.
What remains?
70 records require human review because no reliable requester match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What makes Zen different?,This compares a manual/script-led operating model with the proposed Zen workflow, not every existing commercial migration product. Existing providers already offer mapping, test migrations, validation, support and sometimes delta migration. Zen differentiates by unifying these capabilities into one goal-driven agent. The principle is to automate at high confidence and escalate when judgment is needed.,CONTENT SOURCE: deckv2.md. Full corresponding brief section is retained below. Research statements are supplied by the brief; no external source URLs were provided.,SLIDE 7 — WHAT MAKES ZEN DIFFERENT?
From migration execution → migration autonomy
Traditional approach	Zen
Human defines every step	User defines the goal
Manual schema discovery	Automatic discovery
Manual field mapping	AI-assisted mapping
Import and hope	Test before full migration
Monitor failures manually	Agent detects failures
Manually troubleshoot	AI remediation + retry
Manual reconciliation	Automated reconciliation
Human involved throughout	Human only for exceptions
Static migration report	Claude-generated insights
Zen's differentiation
Existing migration solutions demonstrate the value of mapping, test migrations, validation and migration support.
Zen brings these capabilities together into one goal-driven agent.
The Zen principle
Automate where confidence is high. Escalate where judgment is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Business value and success,These are proposed MVP targets, not claimed achieved outcomes. Target enterprises adopting Freshservice, especially IT administrators, onboarding teams, Professional Services and migration teams. Report the denominator and stage of success explicitly: migration success after validation/reconciliation; recoverable failures remediated as a share of recoverable failures; records requiring human intervention as a share of all attempted records; and zero duplicate records. No measured acceleration or production reliability is asserted.,CONTENT SOURCE: deckv2.md. Full corresponding brief section is retained below. Research statements are supplied by the brief; no external source URLs were provided.,SLIDE 8 — BUSINESS VALUE &amp; SUCCESS
Accelerate customer time-to-value
Customer value
⚡ Faster
Automate repetitive migration work.
🛡️ Safer
Test, validate and reconcile before and after migration.
🤖 Autonomous
AI handles routine failures and remediation.
👤 Human-controlled
Escalate uncertain or critical issues instead of silently proceeding.
Target customers
Enterprise customers adopting Freshservice
Primary users:
IT administrators
Customer onboarding teams
Professional Services
Migration teams
Success metrics
≥95%
Migration success rate
≥80%
Recoverable failures automatically remediated
&lt;10%
Records requiring human intervention
0
Duplicate records
These are target metrics for the MVP, not claimed achieved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The vision,CLOSE: The shift is from humans orchestrating a migration project to humans giving an agent a goal. Zen owns discovery, mapping, testing, execution, remediation, reconciliation and explanation, with humans only when needed. Final line: Give Zen the goal. Let Zen own the migration. The final brief section below also retains the full demo sequence and presentation guidance.,CONTENT SOURCE: deckv2.md. Full corresponding brief section is retained below. Research statements are supplied by the brief; no external source URLs were provided.,FINAL SLIDE — THE VISION
If you have time for a ninth slide, make this very minimal.
From Migration Project → Migration Agent
TODAY
Human
 ↓
Configure
 ↓
Map
 ↓
Script
 ↓
Test
 ↓
Migrate
 ↓
Troubleshoot
 ↓
Validate
WITH ZEN
Human
 ↓
"Move JSM → Freshservice"
 ↓
ZEN
 ↓
Discover
 ↓
Map
 ↓
Test
 ↓
Execute
 ↓
Remediate
 ↓
Reconcile
 ↓
Explain
 ↓
Human only when needed
ZEN
Give Zen the goal. Let Zen own the migration.
One important recommendation for your actual PPT
Don't make every slide text-heavy.
I'd make the presentation visually:
Slide 1: Big Zen positioning
Slide 2: Problem journey
Slide 3: Why now + market evidence
Slide 4: Zen workflow
Slide 5: Architecture
Slide 6: Live demo/results ← most important
Slide 7: Differentiation
Slide 8: Business value/metrics
Slide 9: Vision
And during the demo, the strongest sequence is:
"I give Zen one sentence."
↓
"Zen discovers the systems."
↓
"Zen maps them."
↓
"Zen tests the migration."
↓
"Zen tells me whether we're ready."
↓
"Zen executes."
↓
"Something fails."
↓
"Zen fixes it."
↓
"Claude tells me what happened."
That tells the entire agentic story in about 3–4 minutes and makes the PPT support the demo rather than compete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71D"/>
        </a:solidFill>
      </p:bgPr>
    </p:bg>
    <p:spTree>
      <p:nvGrpSpPr>
        <p:cNvPr id="1" name=""/>
        <p:cNvGrpSpPr/>
        <p:nvPr/>
      </p:nvGrpSpPr>
      <p:grpSpPr>
        <a:xfrm>
          <a:off x="0" y="0"/>
          <a:ext cx="0" cy="0"/>
          <a:chOff x="0" y="0"/>
          <a:chExt cx="0" cy="0"/>
        </a:xfrm>
      </p:grpSpPr>
      <p:sp>
        <p:nvSpPr>
          <p:cNvPr id="2" name="Shape 0"/>
          <p:cNvSpPr/>
          <p:nvPr/>
        </p:nvSpPr>
        <p:spPr>
          <a:xfrm>
            <a:off x="621792" y="6473952"/>
            <a:ext cx="10945368" cy="0"/>
          </a:xfrm>
          <a:prstGeom prst="line">
            <a:avLst/>
          </a:prstGeom>
          <a:noFill/>
          <a:ln w="8255">
            <a:solidFill>
              <a:srgbClr val="3A3542"/>
            </a:solidFill>
            <a:prstDash val="solid"/>
          </a:ln>
        </p:spPr>
      </p:sp>
      <p:sp>
        <p:nvSpPr>
          <p:cNvPr id="3" name="Text 1"/>
          <p:cNvSpPr/>
          <p:nvPr/>
        </p:nvSpPr>
        <p:spPr>
          <a:xfrm>
            <a:off x="621792" y="6592824"/>
            <a:ext cx="5486400" cy="137160"/>
          </a:xfrm>
          <a:prstGeom prst="rect">
            <a:avLst/>
          </a:prstGeom>
          <a:noFill/>
          <a:ln/>
        </p:spPr>
        <p:txBody>
          <a:bodyPr wrap="square" lIns="0" tIns="0" rIns="0" bIns="0" rtlCol="0" anchor="ctr">
            <a:normAutofit/>
          </a:bodyPr>
          <a:lstStyle/>
          <a:p>
            <a:pPr indent="0" marL="0">
              <a:buNone/>
            </a:pPr>
            <a:r>
              <a:rPr lang="en-US" altLang="en-US" sz="800" dirty="0">
                <a:solidFill>
                  <a:srgbClr val="B9B2C3"/>
                </a:solidFill>
                <a:latin typeface="Aptos" pitchFamily="34" charset="0"/>
                <a:ea typeface="Aptos" pitchFamily="34" charset="-122"/>
                <a:cs typeface="Aptos" pitchFamily="34" charset="-120"/>
              </a:rPr>
              <a:t>ZEN / AUTONOMOUS ENTERPRISE MIGRATION</a:t>
            </a:r>
            <a:endParaRPr lang="en-US" sz="800" dirty="0"/>
          </a:p>
        </p:txBody>
      </p:sp>
      <p:sp>
        <p:nvSpPr>
          <p:cNvPr id="4" name="Text 2"/>
          <p:cNvSpPr/>
          <p:nvPr/>
        </p:nvSpPr>
        <p:spPr>
          <a:xfrm>
            <a:off x="11137392" y="6583680"/>
            <a:ext cx="429768" cy="155448"/>
          </a:xfrm>
          <a:prstGeom prst="rect">
            <a:avLst/>
          </a:prstGeom>
          <a:noFill/>
          <a:ln/>
        </p:spPr>
        <p:txBody>
          <a:bodyPr wrap="square" lIns="0" tIns="0" rIns="0" bIns="0" rtlCol="0" anchor="ctr">
            <a:normAutofit/>
          </a:bodyPr>
          <a:lstStyle/>
          <a:p>
            <a:pPr algn="r" indent="0" marL="0">
              <a:buNone/>
            </a:pPr>
            <a:r>
              <a:rPr lang="en-US" altLang="en-US" sz="800" dirty="0">
                <a:solidFill>
                  <a:srgbClr val="B9B2C3"/>
                </a:solidFill>
                <a:latin typeface="Aptos" pitchFamily="34" charset="0"/>
                <a:ea typeface="Aptos" pitchFamily="34" charset="-122"/>
                <a:cs typeface="Aptos" pitchFamily="34" charset="-120"/>
              </a:rPr>
              <a:t>01</a:t>
            </a:r>
            <a:endParaRPr lang="en-US" sz="800" dirty="0"/>
          </a:p>
        </p:txBody>
      </p:sp>
      <p:sp>
        <p:nvSpPr>
          <p:cNvPr id="6" name="Text 3"/>
          <p:cNvSpPr/>
          <p:nvPr/>
        </p:nvSpPr>
        <p:spPr>
          <a:xfrm>
            <a:off x="621792" y="594360"/>
            <a:ext cx="914400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CDA6FF"/>
                </a:solidFill>
                <a:latin typeface="Aptos" pitchFamily="34" charset="0"/>
                <a:ea typeface="Aptos" pitchFamily="34" charset="-122"/>
                <a:cs typeface="Aptos" pitchFamily="34" charset="-120"/>
              </a:rPr>
              <a:t>GOAL-DRIVEN MIGRATION / HUMAN JUDGMENT WHEN IT MATTERS</a:t>
            </a:r>
            <a:endParaRPr lang="en-US" sz="1000" dirty="0"/>
          </a:p>
        </p:txBody>
      </p:sp>
      <p:sp>
        <p:nvSpPr>
          <p:cNvPr id="7" name="Text 4"/>
          <p:cNvSpPr/>
          <p:nvPr/>
        </p:nvSpPr>
        <p:spPr>
          <a:xfrm>
            <a:off x="566928" y="950976"/>
            <a:ext cx="6675120" cy="1444752"/>
          </a:xfrm>
          <a:prstGeom prst="rect">
            <a:avLst/>
          </a:prstGeom>
          <a:noFill/>
          <a:ln/>
        </p:spPr>
        <p:txBody>
          <a:bodyPr wrap="square" lIns="0" tIns="0" rIns="0" bIns="0" rtlCol="0" anchor="ctr">
            <a:normAutofit/>
          </a:bodyPr>
          <a:lstStyle/>
          <a:p>
            <a:pPr indent="0" marL="0">
              <a:buNone/>
            </a:pPr>
            <a:r>
              <a:rPr lang="en-US" altLang="en-US" sz="9200" b="1" dirty="0">
                <a:solidFill>
                  <a:srgbClr val="FFFFFF"/>
                </a:solidFill>
                <a:latin typeface="Aptos Display" pitchFamily="34" charset="0"/>
                <a:ea typeface="Aptos Display" pitchFamily="34" charset="-122"/>
                <a:cs typeface="Aptos Display" pitchFamily="34" charset="-120"/>
              </a:rPr>
              <a:t>Zen</a:t>
            </a:r>
            <a:endParaRPr lang="en-US" sz="9200" dirty="0"/>
          </a:p>
        </p:txBody>
      </p:sp>
      <p:sp>
        <p:nvSpPr>
          <p:cNvPr id="8" name="Text 5"/>
          <p:cNvSpPr/>
          <p:nvPr/>
        </p:nvSpPr>
        <p:spPr>
          <a:xfrm>
            <a:off x="8275320" y="1271016"/>
            <a:ext cx="3291840" cy="182880"/>
          </a:xfrm>
          <a:prstGeom prst="rect">
            <a:avLst/>
          </a:prstGeom>
          <a:noFill/>
          <a:ln/>
        </p:spPr>
        <p:txBody>
          <a:bodyPr wrap="square" lIns="0" tIns="0" rIns="0" bIns="0" rtlCol="0" anchor="ctr">
            <a:normAutofit/>
          </a:bodyPr>
          <a:lstStyle/>
          <a:p>
            <a:pPr algn="r" indent="0" marL="0">
              <a:buNone/>
            </a:pPr>
            <a:r>
              <a:rPr lang="en-US" altLang="en-US" sz="1000" b="1" dirty="0">
                <a:solidFill>
                  <a:srgbClr val="B9B2C3"/>
                </a:solidFill>
                <a:latin typeface="Aptos" pitchFamily="34" charset="0"/>
                <a:ea typeface="Aptos" pitchFamily="34" charset="-122"/>
                <a:cs typeface="Aptos" pitchFamily="34" charset="-120"/>
              </a:rPr>
              <a:t>JIRA SERVICE MANAGEMENT</a:t>
            </a:r>
            <a:endParaRPr lang="en-US" sz="1000" dirty="0"/>
          </a:p>
        </p:txBody>
      </p:sp>
      <p:sp>
        <p:nvSpPr>
          <p:cNvPr id="9" name="Shape 6"/>
          <p:cNvSpPr/>
          <p:nvPr/>
        </p:nvSpPr>
        <p:spPr>
          <a:xfrm>
            <a:off x="11365992" y="1627632"/>
            <a:ext cx="0" cy="320040"/>
          </a:xfrm>
          <a:prstGeom prst="line">
            <a:avLst/>
          </a:prstGeom>
          <a:noFill/>
          <a:ln w="20320">
            <a:solidFill>
              <a:srgbClr val="CDA6FF"/>
            </a:solidFill>
            <a:prstDash val="solid"/>
            <a:tailEnd type="triangle"/>
          </a:ln>
        </p:spPr>
      </p:sp>
      <p:sp>
        <p:nvSpPr>
          <p:cNvPr id="10" name="Text 7"/>
          <p:cNvSpPr/>
          <p:nvPr/>
        </p:nvSpPr>
        <p:spPr>
          <a:xfrm>
            <a:off x="8275320" y="2057400"/>
            <a:ext cx="3291840" cy="301752"/>
          </a:xfrm>
          <a:prstGeom prst="rect">
            <a:avLst/>
          </a:prstGeom>
          <a:noFill/>
          <a:ln/>
        </p:spPr>
        <p:txBody>
          <a:bodyPr wrap="square" lIns="0" tIns="0" rIns="0" bIns="0" rtlCol="0" anchor="ctr">
            <a:normAutofit/>
          </a:bodyPr>
          <a:lstStyle/>
          <a:p>
            <a:pPr algn="r" indent="0" marL="0">
              <a:buNone/>
            </a:pPr>
            <a:r>
              <a:rPr lang="en-US" altLang="en-US" sz="1900" b="1" dirty="0">
                <a:solidFill>
                  <a:srgbClr val="FFFFFF"/>
                </a:solidFill>
                <a:latin typeface="Aptos" pitchFamily="34" charset="0"/>
                <a:ea typeface="Aptos" pitchFamily="34" charset="-122"/>
                <a:cs typeface="Aptos" pitchFamily="34" charset="-120"/>
              </a:rPr>
              <a:t>Freshservice</a:t>
            </a:r>
            <a:endParaRPr lang="en-US" sz="1900" dirty="0"/>
          </a:p>
        </p:txBody>
      </p:sp>
      <p:sp>
        <p:nvSpPr>
          <p:cNvPr id="11" name="Text 8"/>
          <p:cNvSpPr/>
          <p:nvPr/>
        </p:nvSpPr>
        <p:spPr>
          <a:xfrm>
            <a:off x="621792" y="2633472"/>
            <a:ext cx="10945368" cy="557784"/>
          </a:xfrm>
          <a:prstGeom prst="rect">
            <a:avLst/>
          </a:prstGeom>
          <a:noFill/>
          <a:ln/>
        </p:spPr>
        <p:txBody>
          <a:bodyPr wrap="square" lIns="0" tIns="0" rIns="0" bIns="0" rtlCol="0" anchor="ctr">
            <a:normAutofit/>
          </a:bodyPr>
          <a:lstStyle/>
          <a:p>
            <a:pPr indent="0" marL="0">
              <a:buNone/>
            </a:pPr>
            <a:r>
              <a:rPr lang="en-US" altLang="en-US" sz="3000" b="1" dirty="0">
                <a:solidFill>
                  <a:srgbClr val="FFFFFF"/>
                </a:solidFill>
                <a:latin typeface="Aptos Display" pitchFamily="34" charset="0"/>
                <a:ea typeface="Aptos Display" pitchFamily="34" charset="-122"/>
                <a:cs typeface="Aptos Display" pitchFamily="34" charset="-120"/>
              </a:rPr>
              <a:t>The Autonomous Enterprise Migration Agent</a:t>
            </a:r>
            <a:endParaRPr lang="en-US" sz="3000" dirty="0"/>
          </a:p>
        </p:txBody>
      </p:sp>
      <p:sp>
        <p:nvSpPr>
          <p:cNvPr id="12" name="Text 9"/>
          <p:cNvSpPr/>
          <p:nvPr/>
        </p:nvSpPr>
        <p:spPr>
          <a:xfrm>
            <a:off x="621792" y="3346704"/>
            <a:ext cx="10607040" cy="320040"/>
          </a:xfrm>
          <a:prstGeom prst="rect">
            <a:avLst/>
          </a:prstGeom>
          <a:noFill/>
          <a:ln/>
        </p:spPr>
        <p:txBody>
          <a:bodyPr wrap="square" lIns="0" tIns="0" rIns="0" bIns="0" rtlCol="0" anchor="ctr">
            <a:normAutofit/>
          </a:bodyPr>
          <a:lstStyle/>
          <a:p>
            <a:pPr indent="0" marL="0">
              <a:buNone/>
            </a:pPr>
            <a:r>
              <a:rPr lang="en-US" altLang="en-US" sz="1700" dirty="0">
                <a:solidFill>
                  <a:srgbClr val="B9B2C3"/>
                </a:solidFill>
                <a:latin typeface="Aptos" pitchFamily="34" charset="0"/>
                <a:ea typeface="Aptos" pitchFamily="34" charset="-122"/>
                <a:cs typeface="Aptos" pitchFamily="34" charset="-120"/>
              </a:rPr>
              <a:t>From manual migration projects to goal-driven, intelligent migration.</a:t>
            </a:r>
            <a:endParaRPr lang="en-US" sz="1700" dirty="0"/>
          </a:p>
        </p:txBody>
      </p:sp>
      <p:sp>
        <p:nvSpPr>
          <p:cNvPr id="13" name="Text 10"/>
          <p:cNvSpPr/>
          <p:nvPr/>
        </p:nvSpPr>
        <p:spPr>
          <a:xfrm>
            <a:off x="621792" y="3803904"/>
            <a:ext cx="10881360" cy="338328"/>
          </a:xfrm>
          <a:prstGeom prst="rect">
            <a:avLst/>
          </a:prstGeom>
          <a:noFill/>
          <a:ln/>
        </p:spPr>
        <p:txBody>
          <a:bodyPr wrap="square" lIns="0" tIns="0" rIns="0" bIns="0" rtlCol="0" anchor="ctr">
            <a:normAutofit/>
          </a:bodyPr>
          <a:lstStyle/>
          <a:p>
            <a:pPr indent="0" marL="0">
              <a:buNone/>
            </a:pPr>
            <a:r>
              <a:rPr lang="en-US" altLang="en-US" sz="1500" dirty="0">
                <a:solidFill>
                  <a:srgbClr val="B9B2C3"/>
                </a:solidFill>
                <a:latin typeface="Aptos" pitchFamily="34" charset="0"/>
                <a:ea typeface="Aptos" pitchFamily="34" charset="-122"/>
                <a:cs typeface="Aptos" pitchFamily="34" charset="-120"/>
              </a:rPr>
              <a:t>Give Zen the goal. It manages the migration and brings in humans only when needed.</a:t>
            </a:r>
            <a:endParaRPr lang="en-US" sz="1500" dirty="0"/>
          </a:p>
        </p:txBody>
      </p:sp>
      <p:sp>
        <p:nvSpPr>
          <p:cNvPr id="14" name="Shape 11"/>
          <p:cNvSpPr/>
          <p:nvPr/>
        </p:nvSpPr>
        <p:spPr>
          <a:xfrm>
            <a:off x="621792" y="4636008"/>
            <a:ext cx="1508760" cy="0"/>
          </a:xfrm>
          <a:prstGeom prst="line">
            <a:avLst/>
          </a:prstGeom>
          <a:noFill/>
          <a:ln w="26670">
            <a:solidFill>
              <a:srgbClr val="CDA6FF"/>
            </a:solidFill>
            <a:prstDash val="solid"/>
          </a:ln>
        </p:spPr>
      </p:sp>
      <p:sp>
        <p:nvSpPr>
          <p:cNvPr id="15" name="Text 12"/>
          <p:cNvSpPr/>
          <p:nvPr/>
        </p:nvSpPr>
        <p:spPr>
          <a:xfrm>
            <a:off x="621792" y="4837176"/>
            <a:ext cx="1664208"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FFFFFF"/>
                </a:solidFill>
                <a:latin typeface="Aptos" pitchFamily="34" charset="0"/>
                <a:ea typeface="Aptos" pitchFamily="34" charset="-122"/>
                <a:cs typeface="Aptos" pitchFamily="34" charset="-120"/>
              </a:rPr>
              <a:t>DISCOVER</a:t>
            </a:r>
            <a:endParaRPr lang="en-US" sz="1000" dirty="0"/>
          </a:p>
        </p:txBody>
      </p:sp>
      <p:sp>
        <p:nvSpPr>
          <p:cNvPr id="16" name="Text 13"/>
          <p:cNvSpPr/>
          <p:nvPr/>
        </p:nvSpPr>
        <p:spPr>
          <a:xfrm>
            <a:off x="621792" y="5184648"/>
            <a:ext cx="1645920" cy="502920"/>
          </a:xfrm>
          <a:prstGeom prst="rect">
            <a:avLst/>
          </a:prstGeom>
          <a:noFill/>
          <a:ln/>
        </p:spPr>
        <p:txBody>
          <a:bodyPr wrap="square" lIns="0" tIns="0" rIns="0" bIns="0" rtlCol="0" anchor="ctr">
            <a:normAutofit/>
          </a:bodyPr>
          <a:lstStyle/>
          <a:p>
            <a:pPr indent="0" marL="0">
              <a:buNone/>
            </a:pPr>
            <a:r>
              <a:rPr lang="en-US" altLang="en-US" sz="1250" dirty="0">
                <a:solidFill>
                  <a:srgbClr val="B9B2C3"/>
                </a:solidFill>
                <a:latin typeface="Aptos" pitchFamily="34" charset="0"/>
                <a:ea typeface="Aptos" pitchFamily="34" charset="-122"/>
                <a:cs typeface="Aptos" pitchFamily="34" charset="-120"/>
              </a:rPr>
              <a:t>Understand source</a:t>
            </a:r>
            <a:endParaRPr lang="en-US" sz="1250" dirty="0"/>
          </a:p>
          <a:p>
            <a:pPr indent="0" marL="0">
              <a:buNone/>
            </a:pPr>
            <a:r>
              <a:rPr lang="en-US" altLang="en-US" sz="1250" dirty="0">
                <a:solidFill>
                  <a:srgbClr val="B9B2C3"/>
                </a:solidFill>
                <a:latin typeface="Aptos" pitchFamily="34" charset="0"/>
                <a:ea typeface="Aptos" pitchFamily="34" charset="-122"/>
                <a:cs typeface="Aptos" pitchFamily="34" charset="-120"/>
              </a:rPr>
              <a:t>and target data</a:t>
            </a:r>
            <a:endParaRPr lang="en-US" sz="1250" dirty="0"/>
          </a:p>
        </p:txBody>
      </p:sp>
      <p:sp>
        <p:nvSpPr>
          <p:cNvPr id="17" name="Text 14"/>
          <p:cNvSpPr/>
          <p:nvPr/>
        </p:nvSpPr>
        <p:spPr>
          <a:xfrm>
            <a:off x="2240280" y="4828032"/>
            <a:ext cx="182880" cy="201168"/>
          </a:xfrm>
          <a:prstGeom prst="rect">
            <a:avLst/>
          </a:prstGeom>
          <a:noFill/>
          <a:ln/>
        </p:spPr>
        <p:txBody>
          <a:bodyPr wrap="square" lIns="0" tIns="0" rIns="0" bIns="0" rtlCol="0" anchor="ctr">
            <a:normAutofit/>
          </a:bodyPr>
          <a:lstStyle/>
          <a:p>
            <a:pPr indent="0" marL="0">
              <a:buNone/>
            </a:pPr>
            <a:r>
              <a:rPr lang="en-US" altLang="en-US" sz="1200" dirty="0">
                <a:solidFill>
                  <a:srgbClr val="CDA6FF"/>
                </a:solidFill>
                <a:latin typeface="Aptos" pitchFamily="34" charset="0"/>
                <a:ea typeface="Aptos" pitchFamily="34" charset="-122"/>
                <a:cs typeface="Aptos" pitchFamily="34" charset="-120"/>
              </a:rPr>
              <a:t>→</a:t>
            </a:r>
            <a:endParaRPr lang="en-US" sz="1200" dirty="0"/>
          </a:p>
        </p:txBody>
      </p:sp>
      <p:sp>
        <p:nvSpPr>
          <p:cNvPr id="18" name="Shape 15"/>
          <p:cNvSpPr/>
          <p:nvPr/>
        </p:nvSpPr>
        <p:spPr>
          <a:xfrm>
            <a:off x="2468880" y="4636008"/>
            <a:ext cx="1508760" cy="0"/>
          </a:xfrm>
          <a:prstGeom prst="line">
            <a:avLst/>
          </a:prstGeom>
          <a:noFill/>
          <a:ln w="26670">
            <a:solidFill>
              <a:srgbClr val="CDA6FF"/>
            </a:solidFill>
            <a:prstDash val="solid"/>
          </a:ln>
        </p:spPr>
      </p:sp>
      <p:sp>
        <p:nvSpPr>
          <p:cNvPr id="19" name="Text 16"/>
          <p:cNvSpPr/>
          <p:nvPr/>
        </p:nvSpPr>
        <p:spPr>
          <a:xfrm>
            <a:off x="2468880" y="4837176"/>
            <a:ext cx="1664208"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FFFFFF"/>
                </a:solidFill>
                <a:latin typeface="Aptos" pitchFamily="34" charset="0"/>
                <a:ea typeface="Aptos" pitchFamily="34" charset="-122"/>
                <a:cs typeface="Aptos" pitchFamily="34" charset="-120"/>
              </a:rPr>
              <a:t>MAP</a:t>
            </a:r>
            <a:endParaRPr lang="en-US" sz="1000" dirty="0"/>
          </a:p>
        </p:txBody>
      </p:sp>
      <p:sp>
        <p:nvSpPr>
          <p:cNvPr id="20" name="Text 17"/>
          <p:cNvSpPr/>
          <p:nvPr/>
        </p:nvSpPr>
        <p:spPr>
          <a:xfrm>
            <a:off x="2468880" y="5184648"/>
            <a:ext cx="1645920" cy="502920"/>
          </a:xfrm>
          <a:prstGeom prst="rect">
            <a:avLst/>
          </a:prstGeom>
          <a:noFill/>
          <a:ln/>
        </p:spPr>
        <p:txBody>
          <a:bodyPr wrap="square" lIns="0" tIns="0" rIns="0" bIns="0" rtlCol="0" anchor="ctr">
            <a:normAutofit/>
          </a:bodyPr>
          <a:lstStyle/>
          <a:p>
            <a:pPr indent="0" marL="0">
              <a:buNone/>
            </a:pPr>
            <a:r>
              <a:rPr lang="en-US" altLang="en-US" sz="1250" dirty="0">
                <a:solidFill>
                  <a:srgbClr val="B9B2C3"/>
                </a:solidFill>
                <a:latin typeface="Aptos" pitchFamily="34" charset="0"/>
                <a:ea typeface="Aptos" pitchFamily="34" charset="-122"/>
                <a:cs typeface="Aptos" pitchFamily="34" charset="-120"/>
              </a:rPr>
              <a:t>AI-powered field</a:t>
            </a:r>
            <a:endParaRPr lang="en-US" sz="1250" dirty="0"/>
          </a:p>
          <a:p>
            <a:pPr indent="0" marL="0">
              <a:buNone/>
            </a:pPr>
            <a:r>
              <a:rPr lang="en-US" altLang="en-US" sz="1250" dirty="0">
                <a:solidFill>
                  <a:srgbClr val="B9B2C3"/>
                </a:solidFill>
                <a:latin typeface="Aptos" pitchFamily="34" charset="0"/>
                <a:ea typeface="Aptos" pitchFamily="34" charset="-122"/>
                <a:cs typeface="Aptos" pitchFamily="34" charset="-120"/>
              </a:rPr>
              <a:t>and entity mapping</a:t>
            </a:r>
            <a:endParaRPr lang="en-US" sz="1250" dirty="0"/>
          </a:p>
        </p:txBody>
      </p:sp>
      <p:sp>
        <p:nvSpPr>
          <p:cNvPr id="21" name="Text 18"/>
          <p:cNvSpPr/>
          <p:nvPr/>
        </p:nvSpPr>
        <p:spPr>
          <a:xfrm>
            <a:off x="4087368" y="4828032"/>
            <a:ext cx="182880" cy="201168"/>
          </a:xfrm>
          <a:prstGeom prst="rect">
            <a:avLst/>
          </a:prstGeom>
          <a:noFill/>
          <a:ln/>
        </p:spPr>
        <p:txBody>
          <a:bodyPr wrap="square" lIns="0" tIns="0" rIns="0" bIns="0" rtlCol="0" anchor="ctr">
            <a:normAutofit/>
          </a:bodyPr>
          <a:lstStyle/>
          <a:p>
            <a:pPr indent="0" marL="0">
              <a:buNone/>
            </a:pPr>
            <a:r>
              <a:rPr lang="en-US" altLang="en-US" sz="1200" dirty="0">
                <a:solidFill>
                  <a:srgbClr val="CDA6FF"/>
                </a:solidFill>
                <a:latin typeface="Aptos" pitchFamily="34" charset="0"/>
                <a:ea typeface="Aptos" pitchFamily="34" charset="-122"/>
                <a:cs typeface="Aptos" pitchFamily="34" charset="-120"/>
              </a:rPr>
              <a:t>→</a:t>
            </a:r>
            <a:endParaRPr lang="en-US" sz="1200" dirty="0"/>
          </a:p>
        </p:txBody>
      </p:sp>
      <p:sp>
        <p:nvSpPr>
          <p:cNvPr id="22" name="Shape 19"/>
          <p:cNvSpPr/>
          <p:nvPr/>
        </p:nvSpPr>
        <p:spPr>
          <a:xfrm>
            <a:off x="4315968" y="4636008"/>
            <a:ext cx="1508760" cy="0"/>
          </a:xfrm>
          <a:prstGeom prst="line">
            <a:avLst/>
          </a:prstGeom>
          <a:noFill/>
          <a:ln w="26670">
            <a:solidFill>
              <a:srgbClr val="CDA6FF"/>
            </a:solidFill>
            <a:prstDash val="solid"/>
          </a:ln>
        </p:spPr>
      </p:sp>
      <p:sp>
        <p:nvSpPr>
          <p:cNvPr id="23" name="Text 20"/>
          <p:cNvSpPr/>
          <p:nvPr/>
        </p:nvSpPr>
        <p:spPr>
          <a:xfrm>
            <a:off x="4315968" y="4837176"/>
            <a:ext cx="1664208"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FFFFFF"/>
                </a:solidFill>
                <a:latin typeface="Aptos" pitchFamily="34" charset="0"/>
                <a:ea typeface="Aptos" pitchFamily="34" charset="-122"/>
                <a:cs typeface="Aptos" pitchFamily="34" charset="-120"/>
              </a:rPr>
              <a:t>TEST</a:t>
            </a:r>
            <a:endParaRPr lang="en-US" sz="1000" dirty="0"/>
          </a:p>
        </p:txBody>
      </p:sp>
      <p:sp>
        <p:nvSpPr>
          <p:cNvPr id="24" name="Text 21"/>
          <p:cNvSpPr/>
          <p:nvPr/>
        </p:nvSpPr>
        <p:spPr>
          <a:xfrm>
            <a:off x="4315968" y="5184648"/>
            <a:ext cx="1645920" cy="502920"/>
          </a:xfrm>
          <a:prstGeom prst="rect">
            <a:avLst/>
          </a:prstGeom>
          <a:noFill/>
          <a:ln/>
        </p:spPr>
        <p:txBody>
          <a:bodyPr wrap="square" lIns="0" tIns="0" rIns="0" bIns="0" rtlCol="0" anchor="ctr">
            <a:normAutofit/>
          </a:bodyPr>
          <a:lstStyle/>
          <a:p>
            <a:pPr indent="0" marL="0">
              <a:buNone/>
            </a:pPr>
            <a:r>
              <a:rPr lang="en-US" altLang="en-US" sz="1250" dirty="0">
                <a:solidFill>
                  <a:srgbClr val="B9B2C3"/>
                </a:solidFill>
                <a:latin typeface="Aptos" pitchFamily="34" charset="0"/>
                <a:ea typeface="Aptos" pitchFamily="34" charset="-122"/>
                <a:cs typeface="Aptos" pitchFamily="34" charset="-120"/>
              </a:rPr>
              <a:t>Validate before</a:t>
            </a:r>
            <a:endParaRPr lang="en-US" sz="1250" dirty="0"/>
          </a:p>
          <a:p>
            <a:pPr indent="0" marL="0">
              <a:buNone/>
            </a:pPr>
            <a:r>
              <a:rPr lang="en-US" altLang="en-US" sz="1250" dirty="0">
                <a:solidFill>
                  <a:srgbClr val="B9B2C3"/>
                </a:solidFill>
                <a:latin typeface="Aptos" pitchFamily="34" charset="0"/>
                <a:ea typeface="Aptos" pitchFamily="34" charset="-122"/>
                <a:cs typeface="Aptos" pitchFamily="34" charset="-120"/>
              </a:rPr>
              <a:t>full migration</a:t>
            </a:r>
            <a:endParaRPr lang="en-US" sz="1250" dirty="0"/>
          </a:p>
        </p:txBody>
      </p:sp>
      <p:sp>
        <p:nvSpPr>
          <p:cNvPr id="25" name="Text 22"/>
          <p:cNvSpPr/>
          <p:nvPr/>
        </p:nvSpPr>
        <p:spPr>
          <a:xfrm>
            <a:off x="5934456" y="4828032"/>
            <a:ext cx="182880" cy="201168"/>
          </a:xfrm>
          <a:prstGeom prst="rect">
            <a:avLst/>
          </a:prstGeom>
          <a:noFill/>
          <a:ln/>
        </p:spPr>
        <p:txBody>
          <a:bodyPr wrap="square" lIns="0" tIns="0" rIns="0" bIns="0" rtlCol="0" anchor="ctr">
            <a:normAutofit/>
          </a:bodyPr>
          <a:lstStyle/>
          <a:p>
            <a:pPr indent="0" marL="0">
              <a:buNone/>
            </a:pPr>
            <a:r>
              <a:rPr lang="en-US" altLang="en-US" sz="1200" dirty="0">
                <a:solidFill>
                  <a:srgbClr val="CDA6FF"/>
                </a:solidFill>
                <a:latin typeface="Aptos" pitchFamily="34" charset="0"/>
                <a:ea typeface="Aptos" pitchFamily="34" charset="-122"/>
                <a:cs typeface="Aptos" pitchFamily="34" charset="-120"/>
              </a:rPr>
              <a:t>→</a:t>
            </a:r>
            <a:endParaRPr lang="en-US" sz="1200" dirty="0"/>
          </a:p>
        </p:txBody>
      </p:sp>
      <p:sp>
        <p:nvSpPr>
          <p:cNvPr id="26" name="Shape 23"/>
          <p:cNvSpPr/>
          <p:nvPr/>
        </p:nvSpPr>
        <p:spPr>
          <a:xfrm>
            <a:off x="6163056" y="4636008"/>
            <a:ext cx="1508760" cy="0"/>
          </a:xfrm>
          <a:prstGeom prst="line">
            <a:avLst/>
          </a:prstGeom>
          <a:noFill/>
          <a:ln w="26670">
            <a:solidFill>
              <a:srgbClr val="CDA6FF"/>
            </a:solidFill>
            <a:prstDash val="solid"/>
          </a:ln>
        </p:spPr>
      </p:sp>
      <p:sp>
        <p:nvSpPr>
          <p:cNvPr id="27" name="Text 24"/>
          <p:cNvSpPr/>
          <p:nvPr/>
        </p:nvSpPr>
        <p:spPr>
          <a:xfrm>
            <a:off x="6163056" y="4837176"/>
            <a:ext cx="1664208"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FFFFFF"/>
                </a:solidFill>
                <a:latin typeface="Aptos" pitchFamily="34" charset="0"/>
                <a:ea typeface="Aptos" pitchFamily="34" charset="-122"/>
                <a:cs typeface="Aptos" pitchFamily="34" charset="-120"/>
              </a:rPr>
              <a:t>EXECUTE</a:t>
            </a:r>
            <a:endParaRPr lang="en-US" sz="1000" dirty="0"/>
          </a:p>
        </p:txBody>
      </p:sp>
      <p:sp>
        <p:nvSpPr>
          <p:cNvPr id="28" name="Text 25"/>
          <p:cNvSpPr/>
          <p:nvPr/>
        </p:nvSpPr>
        <p:spPr>
          <a:xfrm>
            <a:off x="6163056" y="5184648"/>
            <a:ext cx="1645920" cy="502920"/>
          </a:xfrm>
          <a:prstGeom prst="rect">
            <a:avLst/>
          </a:prstGeom>
          <a:noFill/>
          <a:ln/>
        </p:spPr>
        <p:txBody>
          <a:bodyPr wrap="square" lIns="0" tIns="0" rIns="0" bIns="0" rtlCol="0" anchor="ctr">
            <a:normAutofit/>
          </a:bodyPr>
          <a:lstStyle/>
          <a:p>
            <a:pPr indent="0" marL="0">
              <a:buNone/>
            </a:pPr>
            <a:r>
              <a:rPr lang="en-US" altLang="en-US" sz="1250" dirty="0">
                <a:solidFill>
                  <a:srgbClr val="B9B2C3"/>
                </a:solidFill>
                <a:latin typeface="Aptos" pitchFamily="34" charset="0"/>
                <a:ea typeface="Aptos" pitchFamily="34" charset="-122"/>
                <a:cs typeface="Aptos" pitchFamily="34" charset="-120"/>
              </a:rPr>
              <a:t>Migrate records</a:t>
            </a:r>
            <a:endParaRPr lang="en-US" sz="1250" dirty="0"/>
          </a:p>
          <a:p>
            <a:pPr indent="0" marL="0">
              <a:buNone/>
            </a:pPr>
            <a:r>
              <a:rPr lang="en-US" altLang="en-US" sz="1250" dirty="0">
                <a:solidFill>
                  <a:srgbClr val="B9B2C3"/>
                </a:solidFill>
                <a:latin typeface="Aptos" pitchFamily="34" charset="0"/>
                <a:ea typeface="Aptos" pitchFamily="34" charset="-122"/>
                <a:cs typeface="Aptos" pitchFamily="34" charset="-120"/>
              </a:rPr>
              <a:t>autonomously</a:t>
            </a:r>
            <a:endParaRPr lang="en-US" sz="1250" dirty="0"/>
          </a:p>
        </p:txBody>
      </p:sp>
      <p:sp>
        <p:nvSpPr>
          <p:cNvPr id="29" name="Text 26"/>
          <p:cNvSpPr/>
          <p:nvPr/>
        </p:nvSpPr>
        <p:spPr>
          <a:xfrm>
            <a:off x="7781544" y="4828032"/>
            <a:ext cx="182880" cy="201168"/>
          </a:xfrm>
          <a:prstGeom prst="rect">
            <a:avLst/>
          </a:prstGeom>
          <a:noFill/>
          <a:ln/>
        </p:spPr>
        <p:txBody>
          <a:bodyPr wrap="square" lIns="0" tIns="0" rIns="0" bIns="0" rtlCol="0" anchor="ctr">
            <a:normAutofit/>
          </a:bodyPr>
          <a:lstStyle/>
          <a:p>
            <a:pPr indent="0" marL="0">
              <a:buNone/>
            </a:pPr>
            <a:r>
              <a:rPr lang="en-US" altLang="en-US" sz="1200" dirty="0">
                <a:solidFill>
                  <a:srgbClr val="CDA6FF"/>
                </a:solidFill>
                <a:latin typeface="Aptos" pitchFamily="34" charset="0"/>
                <a:ea typeface="Aptos" pitchFamily="34" charset="-122"/>
                <a:cs typeface="Aptos" pitchFamily="34" charset="-120"/>
              </a:rPr>
              <a:t>→</a:t>
            </a:r>
            <a:endParaRPr lang="en-US" sz="1200" dirty="0"/>
          </a:p>
        </p:txBody>
      </p:sp>
      <p:sp>
        <p:nvSpPr>
          <p:cNvPr id="30" name="Shape 27"/>
          <p:cNvSpPr/>
          <p:nvPr/>
        </p:nvSpPr>
        <p:spPr>
          <a:xfrm>
            <a:off x="8010144" y="4636008"/>
            <a:ext cx="1508760" cy="0"/>
          </a:xfrm>
          <a:prstGeom prst="line">
            <a:avLst/>
          </a:prstGeom>
          <a:noFill/>
          <a:ln w="26670">
            <a:solidFill>
              <a:srgbClr val="CDA6FF"/>
            </a:solidFill>
            <a:prstDash val="solid"/>
          </a:ln>
        </p:spPr>
      </p:sp>
      <p:sp>
        <p:nvSpPr>
          <p:cNvPr id="31" name="Text 28"/>
          <p:cNvSpPr/>
          <p:nvPr/>
        </p:nvSpPr>
        <p:spPr>
          <a:xfrm>
            <a:off x="8010144" y="4837176"/>
            <a:ext cx="1664208"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FFFFFF"/>
                </a:solidFill>
                <a:latin typeface="Aptos" pitchFamily="34" charset="0"/>
                <a:ea typeface="Aptos" pitchFamily="34" charset="-122"/>
                <a:cs typeface="Aptos" pitchFamily="34" charset="-120"/>
              </a:rPr>
              <a:t>REMEDIATE</a:t>
            </a:r>
            <a:endParaRPr lang="en-US" sz="1000" dirty="0"/>
          </a:p>
        </p:txBody>
      </p:sp>
      <p:sp>
        <p:nvSpPr>
          <p:cNvPr id="32" name="Text 29"/>
          <p:cNvSpPr/>
          <p:nvPr/>
        </p:nvSpPr>
        <p:spPr>
          <a:xfrm>
            <a:off x="8010144" y="5184648"/>
            <a:ext cx="1645920" cy="502920"/>
          </a:xfrm>
          <a:prstGeom prst="rect">
            <a:avLst/>
          </a:prstGeom>
          <a:noFill/>
          <a:ln/>
        </p:spPr>
        <p:txBody>
          <a:bodyPr wrap="square" lIns="0" tIns="0" rIns="0" bIns="0" rtlCol="0" anchor="ctr">
            <a:normAutofit/>
          </a:bodyPr>
          <a:lstStyle/>
          <a:p>
            <a:pPr indent="0" marL="0">
              <a:buNone/>
            </a:pPr>
            <a:r>
              <a:rPr lang="en-US" altLang="en-US" sz="1250" dirty="0">
                <a:solidFill>
                  <a:srgbClr val="B9B2C3"/>
                </a:solidFill>
                <a:latin typeface="Aptos" pitchFamily="34" charset="0"/>
                <a:ea typeface="Aptos" pitchFamily="34" charset="-122"/>
                <a:cs typeface="Aptos" pitchFamily="34" charset="-120"/>
              </a:rPr>
              <a:t>Fix recoverable</a:t>
            </a:r>
            <a:endParaRPr lang="en-US" sz="1250" dirty="0"/>
          </a:p>
          <a:p>
            <a:pPr indent="0" marL="0">
              <a:buNone/>
            </a:pPr>
            <a:r>
              <a:rPr lang="en-US" altLang="en-US" sz="1250" dirty="0">
                <a:solidFill>
                  <a:srgbClr val="B9B2C3"/>
                </a:solidFill>
                <a:latin typeface="Aptos" pitchFamily="34" charset="0"/>
                <a:ea typeface="Aptos" pitchFamily="34" charset="-122"/>
                <a:cs typeface="Aptos" pitchFamily="34" charset="-120"/>
              </a:rPr>
              <a:t>failures</a:t>
            </a:r>
            <a:endParaRPr lang="en-US" sz="1250" dirty="0"/>
          </a:p>
        </p:txBody>
      </p:sp>
      <p:sp>
        <p:nvSpPr>
          <p:cNvPr id="33" name="Text 30"/>
          <p:cNvSpPr/>
          <p:nvPr/>
        </p:nvSpPr>
        <p:spPr>
          <a:xfrm>
            <a:off x="9628632" y="4828032"/>
            <a:ext cx="182880" cy="201168"/>
          </a:xfrm>
          <a:prstGeom prst="rect">
            <a:avLst/>
          </a:prstGeom>
          <a:noFill/>
          <a:ln/>
        </p:spPr>
        <p:txBody>
          <a:bodyPr wrap="square" lIns="0" tIns="0" rIns="0" bIns="0" rtlCol="0" anchor="ctr">
            <a:normAutofit/>
          </a:bodyPr>
          <a:lstStyle/>
          <a:p>
            <a:pPr indent="0" marL="0">
              <a:buNone/>
            </a:pPr>
            <a:r>
              <a:rPr lang="en-US" altLang="en-US" sz="1200" dirty="0">
                <a:solidFill>
                  <a:srgbClr val="CDA6FF"/>
                </a:solidFill>
                <a:latin typeface="Aptos" pitchFamily="34" charset="0"/>
                <a:ea typeface="Aptos" pitchFamily="34" charset="-122"/>
                <a:cs typeface="Aptos" pitchFamily="34" charset="-120"/>
              </a:rPr>
              <a:t>→</a:t>
            </a:r>
            <a:endParaRPr lang="en-US" sz="1200" dirty="0"/>
          </a:p>
        </p:txBody>
      </p:sp>
      <p:sp>
        <p:nvSpPr>
          <p:cNvPr id="34" name="Shape 31"/>
          <p:cNvSpPr/>
          <p:nvPr/>
        </p:nvSpPr>
        <p:spPr>
          <a:xfrm>
            <a:off x="9857232" y="4636008"/>
            <a:ext cx="1508760" cy="0"/>
          </a:xfrm>
          <a:prstGeom prst="line">
            <a:avLst/>
          </a:prstGeom>
          <a:noFill/>
          <a:ln w="26670">
            <a:solidFill>
              <a:srgbClr val="B6EDCF"/>
            </a:solidFill>
            <a:prstDash val="solid"/>
          </a:ln>
        </p:spPr>
      </p:sp>
      <p:sp>
        <p:nvSpPr>
          <p:cNvPr id="35" name="Text 32"/>
          <p:cNvSpPr/>
          <p:nvPr/>
        </p:nvSpPr>
        <p:spPr>
          <a:xfrm>
            <a:off x="9857232" y="4837176"/>
            <a:ext cx="1664208"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B6EDCF"/>
                </a:solidFill>
                <a:latin typeface="Aptos" pitchFamily="34" charset="0"/>
                <a:ea typeface="Aptos" pitchFamily="34" charset="-122"/>
                <a:cs typeface="Aptos" pitchFamily="34" charset="-120"/>
              </a:rPr>
              <a:t>EXPLAIN</a:t>
            </a:r>
            <a:endParaRPr lang="en-US" sz="1000" dirty="0"/>
          </a:p>
        </p:txBody>
      </p:sp>
      <p:sp>
        <p:nvSpPr>
          <p:cNvPr id="36" name="Text 33"/>
          <p:cNvSpPr/>
          <p:nvPr/>
        </p:nvSpPr>
        <p:spPr>
          <a:xfrm>
            <a:off x="9857232" y="5184648"/>
            <a:ext cx="1645920" cy="502920"/>
          </a:xfrm>
          <a:prstGeom prst="rect">
            <a:avLst/>
          </a:prstGeom>
          <a:noFill/>
          <a:ln/>
        </p:spPr>
        <p:txBody>
          <a:bodyPr wrap="square" lIns="0" tIns="0" rIns="0" bIns="0" rtlCol="0" anchor="ctr">
            <a:normAutofit/>
          </a:bodyPr>
          <a:lstStyle/>
          <a:p>
            <a:pPr indent="0" marL="0">
              <a:buNone/>
            </a:pPr>
            <a:r>
              <a:rPr lang="en-US" altLang="en-US" sz="1250" dirty="0">
                <a:solidFill>
                  <a:srgbClr val="B9B2C3"/>
                </a:solidFill>
                <a:latin typeface="Aptos" pitchFamily="34" charset="0"/>
                <a:ea typeface="Aptos" pitchFamily="34" charset="-122"/>
                <a:cs typeface="Aptos" pitchFamily="34" charset="-120"/>
              </a:rPr>
              <a:t>Migration insights</a:t>
            </a:r>
            <a:endParaRPr lang="en-US" sz="1250" dirty="0"/>
          </a:p>
          <a:p>
            <a:pPr indent="0" marL="0">
              <a:buNone/>
            </a:pPr>
            <a:r>
              <a:rPr lang="en-US" altLang="en-US" sz="1250" dirty="0">
                <a:solidFill>
                  <a:srgbClr val="B9B2C3"/>
                </a:solidFill>
                <a:latin typeface="Aptos" pitchFamily="34" charset="0"/>
                <a:ea typeface="Aptos" pitchFamily="34" charset="-122"/>
                <a:cs typeface="Aptos" pitchFamily="34" charset="-120"/>
              </a:rPr>
              <a:t>with Claude</a:t>
            </a:r>
            <a:endParaRPr lang="en-US" sz="1250" dirty="0"/>
          </a:p>
        </p:txBody>
      </p:sp>
      <p:sp>
        <p:nvSpPr>
          <p:cNvPr id="37" name="Text 34"/>
          <p:cNvSpPr/>
          <p:nvPr/>
        </p:nvSpPr>
        <p:spPr>
          <a:xfrm>
            <a:off x="621792" y="6016752"/>
            <a:ext cx="10945368" cy="292608"/>
          </a:xfrm>
          <a:prstGeom prst="rect">
            <a:avLst/>
          </a:prstGeom>
          <a:noFill/>
          <a:ln/>
        </p:spPr>
        <p:txBody>
          <a:bodyPr wrap="square" lIns="0" tIns="0" rIns="0" bIns="0" rtlCol="0" anchor="ctr">
            <a:normAutofit/>
          </a:bodyPr>
          <a:lstStyle/>
          <a:p>
            <a:pPr indent="0" marL="0">
              <a:buNone/>
            </a:pPr>
            <a:r>
              <a:rPr lang="en-US" altLang="en-US" sz="1800" b="1" dirty="0">
                <a:solidFill>
                  <a:srgbClr val="B6EDCF"/>
                </a:solidFill>
                <a:latin typeface="Aptos" pitchFamily="34" charset="0"/>
                <a:ea typeface="Aptos" pitchFamily="34" charset="-122"/>
                <a:cs typeface="Aptos" pitchFamily="34" charset="-120"/>
              </a:rPr>
              <a:t>From "Can we migrate?" → "Zen knows we're ready."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6473952"/>
            <a:ext cx="10945368" cy="0"/>
          </a:xfrm>
          <a:prstGeom prst="line">
            <a:avLst/>
          </a:prstGeom>
          <a:noFill/>
          <a:ln w="8255">
            <a:solidFill>
              <a:srgbClr val="E5E2E9"/>
            </a:solidFill>
            <a:prstDash val="solid"/>
          </a:ln>
        </p:spPr>
      </p:sp>
      <p:sp>
        <p:nvSpPr>
          <p:cNvPr id="3" name="Text 1"/>
          <p:cNvSpPr/>
          <p:nvPr/>
        </p:nvSpPr>
        <p:spPr>
          <a:xfrm>
            <a:off x="621792" y="6592824"/>
            <a:ext cx="5486400" cy="137160"/>
          </a:xfrm>
          <a:prstGeom prst="rect">
            <a:avLst/>
          </a:prstGeom>
          <a:noFill/>
          <a:ln/>
        </p:spPr>
        <p:txBody>
          <a:bodyPr wrap="square" lIns="0" tIns="0" rIns="0" bIns="0" rtlCol="0" anchor="ctr">
            <a:normAutofit/>
          </a:bodyPr>
          <a:lstStyle/>
          <a:p>
            <a:pPr indent="0" marL="0">
              <a:buNone/>
            </a:pPr>
            <a:r>
              <a:rPr lang="en-US" altLang="en-US" sz="800" dirty="0">
                <a:solidFill>
                  <a:srgbClr val="95909D"/>
                </a:solidFill>
                <a:latin typeface="Aptos" pitchFamily="34" charset="0"/>
                <a:ea typeface="Aptos" pitchFamily="34" charset="-122"/>
                <a:cs typeface="Aptos" pitchFamily="34" charset="-120"/>
              </a:rPr>
              <a:t>ZEN / AUTONOMOUS ENTERPRISE MIGRATION</a:t>
            </a:r>
            <a:endParaRPr lang="en-US" sz="800" dirty="0"/>
          </a:p>
        </p:txBody>
      </p:sp>
      <p:sp>
        <p:nvSpPr>
          <p:cNvPr id="4" name="Text 2"/>
          <p:cNvSpPr/>
          <p:nvPr/>
        </p:nvSpPr>
        <p:spPr>
          <a:xfrm>
            <a:off x="11137392" y="6583680"/>
            <a:ext cx="429768" cy="155448"/>
          </a:xfrm>
          <a:prstGeom prst="rect">
            <a:avLst/>
          </a:prstGeom>
          <a:noFill/>
          <a:ln/>
        </p:spPr>
        <p:txBody>
          <a:bodyPr wrap="square" lIns="0" tIns="0" rIns="0" bIns="0" rtlCol="0" anchor="ctr">
            <a:normAutofit/>
          </a:bodyPr>
          <a:lstStyle/>
          <a:p>
            <a:pPr algn="r" indent="0" marL="0">
              <a:buNone/>
            </a:pPr>
            <a:r>
              <a:rPr lang="en-US" altLang="en-US" sz="800" dirty="0">
                <a:solidFill>
                  <a:srgbClr val="95909D"/>
                </a:solidFill>
                <a:latin typeface="Aptos" pitchFamily="34" charset="0"/>
                <a:ea typeface="Aptos" pitchFamily="34" charset="-122"/>
                <a:cs typeface="Aptos" pitchFamily="34" charset="-120"/>
              </a:rPr>
              <a:t>02</a:t>
            </a:r>
            <a:endParaRPr lang="en-US" sz="800" dirty="0"/>
          </a:p>
        </p:txBody>
      </p:sp>
      <p:sp>
        <p:nvSpPr>
          <p:cNvPr id="6" name="Text 3"/>
          <p:cNvSpPr/>
          <p:nvPr/>
        </p:nvSpPr>
        <p:spPr>
          <a:xfrm>
            <a:off x="621792" y="576072"/>
            <a:ext cx="108813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02 / THE PROBLEM</a:t>
            </a:r>
            <a:endParaRPr lang="en-US" sz="1000" dirty="0"/>
          </a:p>
        </p:txBody>
      </p:sp>
      <p:sp>
        <p:nvSpPr>
          <p:cNvPr id="7" name="Text 4"/>
          <p:cNvSpPr/>
          <p:nvPr/>
        </p:nvSpPr>
        <p:spPr>
          <a:xfrm>
            <a:off x="621792" y="905256"/>
            <a:ext cx="10945368" cy="603504"/>
          </a:xfrm>
          <a:prstGeom prst="rect">
            <a:avLst/>
          </a:prstGeom>
          <a:noFill/>
          <a:ln/>
        </p:spPr>
        <p:txBody>
          <a:bodyPr wrap="square" lIns="0" tIns="0" rIns="0" bIns="0" rtlCol="0" anchor="ctr">
            <a:normAutofit/>
          </a:bodyPr>
          <a:lstStyle/>
          <a:p>
            <a:pPr indent="0" marL="0">
              <a:buNone/>
            </a:pPr>
            <a:r>
              <a:rPr lang="en-US" altLang="en-US" sz="2900" b="1" dirty="0">
                <a:solidFill>
                  <a:srgbClr val="19171D"/>
                </a:solidFill>
                <a:latin typeface="Aptos Display" pitchFamily="34" charset="0"/>
                <a:ea typeface="Aptos Display" pitchFamily="34" charset="-122"/>
                <a:cs typeface="Aptos Display" pitchFamily="34" charset="-120"/>
              </a:rPr>
              <a:t>Enterprise migration is more than moving data.</a:t>
            </a:r>
            <a:endParaRPr lang="en-US" sz="2900" dirty="0"/>
          </a:p>
        </p:txBody>
      </p:sp>
      <p:sp>
        <p:nvSpPr>
          <p:cNvPr id="8" name="Text 5"/>
          <p:cNvSpPr/>
          <p:nvPr/>
        </p:nvSpPr>
        <p:spPr>
          <a:xfrm>
            <a:off x="621792" y="1554480"/>
            <a:ext cx="10945368" cy="347472"/>
          </a:xfrm>
          <a:prstGeom prst="rect">
            <a:avLst/>
          </a:prstGeom>
          <a:noFill/>
          <a:ln/>
        </p:spPr>
        <p:txBody>
          <a:bodyPr wrap="square" lIns="0" tIns="0" rIns="0" bIns="0" rtlCol="0" anchor="ctr">
            <a:normAutofit/>
          </a:bodyPr>
          <a:lstStyle/>
          <a:p>
            <a:pPr indent="0" marL="0">
              <a:buNone/>
            </a:pPr>
            <a:r>
              <a:rPr lang="en-US" altLang="en-US" sz="1350" dirty="0">
                <a:solidFill>
                  <a:srgbClr val="66636D"/>
                </a:solidFill>
                <a:latin typeface="Aptos" pitchFamily="34" charset="0"/>
                <a:ea typeface="Aptos" pitchFamily="34" charset="-122"/>
                <a:cs typeface="Aptos" pitchFamily="34" charset="-120"/>
              </a:rPr>
              <a:t>Changing ITSM platforms means preserving meaning, relationships and operational trust.</a:t>
            </a:r>
            <a:endParaRPr lang="en-US" sz="1350" dirty="0"/>
          </a:p>
        </p:txBody>
      </p:sp>
      <p:sp>
        <p:nvSpPr>
          <p:cNvPr id="9" name="Text 6"/>
          <p:cNvSpPr/>
          <p:nvPr/>
        </p:nvSpPr>
        <p:spPr>
          <a:xfrm>
            <a:off x="621792" y="2240280"/>
            <a:ext cx="1106424" cy="274320"/>
          </a:xfrm>
          <a:prstGeom prst="rect">
            <a:avLst/>
          </a:prstGeom>
          <a:noFill/>
          <a:ln/>
        </p:spPr>
        <p:txBody>
          <a:bodyPr wrap="square" lIns="0" tIns="0" rIns="0" bIns="0" rtlCol="0" anchor="ctr">
            <a:normAutofit/>
          </a:bodyPr>
          <a:lstStyle/>
          <a:p>
            <a:pPr algn="ctr" indent="0" marL="0">
              <a:buNone/>
            </a:pPr>
            <a:r>
              <a:rPr lang="en-US" altLang="en-US" sz="1300" b="1" dirty="0">
                <a:solidFill>
                  <a:srgbClr val="19171D"/>
                </a:solidFill>
                <a:latin typeface="Aptos" pitchFamily="34" charset="0"/>
                <a:ea typeface="Aptos" pitchFamily="34" charset="-122"/>
                <a:cs typeface="Aptos" pitchFamily="34" charset="-120"/>
              </a:rPr>
              <a:t>Discover</a:t>
            </a:r>
            <a:endParaRPr lang="en-US" sz="1300" dirty="0"/>
          </a:p>
        </p:txBody>
      </p:sp>
      <p:sp>
        <p:nvSpPr>
          <p:cNvPr id="10" name="Text 7"/>
          <p:cNvSpPr/>
          <p:nvPr/>
        </p:nvSpPr>
        <p:spPr>
          <a:xfrm>
            <a:off x="1801368" y="2240280"/>
            <a:ext cx="182880" cy="274320"/>
          </a:xfrm>
          <a:prstGeom prst="rect">
            <a:avLst/>
          </a:prstGeom>
          <a:noFill/>
          <a:ln/>
        </p:spPr>
        <p:txBody>
          <a:bodyPr wrap="square" lIns="0" tIns="0" rIns="0" bIns="0" rtlCol="0" anchor="ctr">
            <a:normAutofit/>
          </a:bodyPr>
          <a:lstStyle/>
          <a:p>
            <a:pPr indent="0" marL="0">
              <a:buNone/>
            </a:pPr>
            <a:r>
              <a:rPr lang="en-US" altLang="en-US" sz="1300" dirty="0">
                <a:solidFill>
                  <a:srgbClr val="95909D"/>
                </a:solidFill>
                <a:latin typeface="Aptos" pitchFamily="34" charset="0"/>
                <a:ea typeface="Aptos" pitchFamily="34" charset="-122"/>
                <a:cs typeface="Aptos" pitchFamily="34" charset="-120"/>
              </a:rPr>
              <a:t>→</a:t>
            </a:r>
            <a:endParaRPr lang="en-US" sz="1300" dirty="0"/>
          </a:p>
        </p:txBody>
      </p:sp>
      <p:sp>
        <p:nvSpPr>
          <p:cNvPr id="11" name="Shape 8"/>
          <p:cNvSpPr/>
          <p:nvPr/>
        </p:nvSpPr>
        <p:spPr>
          <a:xfrm>
            <a:off x="621792" y="2724912"/>
            <a:ext cx="1078992" cy="0"/>
          </a:xfrm>
          <a:prstGeom prst="line">
            <a:avLst/>
          </a:prstGeom>
          <a:noFill/>
          <a:ln w="25400">
            <a:solidFill>
              <a:srgbClr val="E5E2E9"/>
            </a:solidFill>
            <a:prstDash val="solid"/>
          </a:ln>
        </p:spPr>
      </p:sp>
      <p:sp>
        <p:nvSpPr>
          <p:cNvPr id="12" name="Text 9"/>
          <p:cNvSpPr/>
          <p:nvPr/>
        </p:nvSpPr>
        <p:spPr>
          <a:xfrm>
            <a:off x="2002536" y="2240280"/>
            <a:ext cx="1106424" cy="274320"/>
          </a:xfrm>
          <a:prstGeom prst="rect">
            <a:avLst/>
          </a:prstGeom>
          <a:noFill/>
          <a:ln/>
        </p:spPr>
        <p:txBody>
          <a:bodyPr wrap="square" lIns="0" tIns="0" rIns="0" bIns="0" rtlCol="0" anchor="ctr">
            <a:normAutofit/>
          </a:bodyPr>
          <a:lstStyle/>
          <a:p>
            <a:pPr algn="ctr" indent="0" marL="0">
              <a:buNone/>
            </a:pPr>
            <a:r>
              <a:rPr lang="en-US" altLang="en-US" sz="1300" b="1" dirty="0">
                <a:solidFill>
                  <a:srgbClr val="19171D"/>
                </a:solidFill>
                <a:latin typeface="Aptos" pitchFamily="34" charset="0"/>
                <a:ea typeface="Aptos" pitchFamily="34" charset="-122"/>
                <a:cs typeface="Aptos" pitchFamily="34" charset="-120"/>
              </a:rPr>
              <a:t>Map</a:t>
            </a:r>
            <a:endParaRPr lang="en-US" sz="1300" dirty="0"/>
          </a:p>
        </p:txBody>
      </p:sp>
      <p:sp>
        <p:nvSpPr>
          <p:cNvPr id="13" name="Text 10"/>
          <p:cNvSpPr/>
          <p:nvPr/>
        </p:nvSpPr>
        <p:spPr>
          <a:xfrm>
            <a:off x="3182112" y="2240280"/>
            <a:ext cx="182880" cy="274320"/>
          </a:xfrm>
          <a:prstGeom prst="rect">
            <a:avLst/>
          </a:prstGeom>
          <a:noFill/>
          <a:ln/>
        </p:spPr>
        <p:txBody>
          <a:bodyPr wrap="square" lIns="0" tIns="0" rIns="0" bIns="0" rtlCol="0" anchor="ctr">
            <a:normAutofit/>
          </a:bodyPr>
          <a:lstStyle/>
          <a:p>
            <a:pPr indent="0" marL="0">
              <a:buNone/>
            </a:pPr>
            <a:r>
              <a:rPr lang="en-US" altLang="en-US" sz="1300" dirty="0">
                <a:solidFill>
                  <a:srgbClr val="95909D"/>
                </a:solidFill>
                <a:latin typeface="Aptos" pitchFamily="34" charset="0"/>
                <a:ea typeface="Aptos" pitchFamily="34" charset="-122"/>
                <a:cs typeface="Aptos" pitchFamily="34" charset="-120"/>
              </a:rPr>
              <a:t>→</a:t>
            </a:r>
            <a:endParaRPr lang="en-US" sz="1300" dirty="0"/>
          </a:p>
        </p:txBody>
      </p:sp>
      <p:sp>
        <p:nvSpPr>
          <p:cNvPr id="14" name="Shape 11"/>
          <p:cNvSpPr/>
          <p:nvPr/>
        </p:nvSpPr>
        <p:spPr>
          <a:xfrm>
            <a:off x="2002536" y="2724912"/>
            <a:ext cx="1078992" cy="0"/>
          </a:xfrm>
          <a:prstGeom prst="line">
            <a:avLst/>
          </a:prstGeom>
          <a:noFill/>
          <a:ln w="25400">
            <a:solidFill>
              <a:srgbClr val="E5E2E9"/>
            </a:solidFill>
            <a:prstDash val="solid"/>
          </a:ln>
        </p:spPr>
      </p:sp>
      <p:sp>
        <p:nvSpPr>
          <p:cNvPr id="15" name="Text 12"/>
          <p:cNvSpPr/>
          <p:nvPr/>
        </p:nvSpPr>
        <p:spPr>
          <a:xfrm>
            <a:off x="3383280" y="2240280"/>
            <a:ext cx="1106424" cy="274320"/>
          </a:xfrm>
          <a:prstGeom prst="rect">
            <a:avLst/>
          </a:prstGeom>
          <a:noFill/>
          <a:ln/>
        </p:spPr>
        <p:txBody>
          <a:bodyPr wrap="square" lIns="0" tIns="0" rIns="0" bIns="0" rtlCol="0" anchor="ctr">
            <a:normAutofit/>
          </a:bodyPr>
          <a:lstStyle/>
          <a:p>
            <a:pPr algn="ctr" indent="0" marL="0">
              <a:buNone/>
            </a:pPr>
            <a:r>
              <a:rPr lang="en-US" altLang="en-US" sz="1300" b="1" dirty="0">
                <a:solidFill>
                  <a:srgbClr val="19171D"/>
                </a:solidFill>
                <a:latin typeface="Aptos" pitchFamily="34" charset="0"/>
                <a:ea typeface="Aptos" pitchFamily="34" charset="-122"/>
                <a:cs typeface="Aptos" pitchFamily="34" charset="-120"/>
              </a:rPr>
              <a:t>Transform</a:t>
            </a:r>
            <a:endParaRPr lang="en-US" sz="1300" dirty="0"/>
          </a:p>
        </p:txBody>
      </p:sp>
      <p:sp>
        <p:nvSpPr>
          <p:cNvPr id="16" name="Text 13"/>
          <p:cNvSpPr/>
          <p:nvPr/>
        </p:nvSpPr>
        <p:spPr>
          <a:xfrm>
            <a:off x="4562856" y="2240280"/>
            <a:ext cx="182880" cy="274320"/>
          </a:xfrm>
          <a:prstGeom prst="rect">
            <a:avLst/>
          </a:prstGeom>
          <a:noFill/>
          <a:ln/>
        </p:spPr>
        <p:txBody>
          <a:bodyPr wrap="square" lIns="0" tIns="0" rIns="0" bIns="0" rtlCol="0" anchor="ctr">
            <a:normAutofit/>
          </a:bodyPr>
          <a:lstStyle/>
          <a:p>
            <a:pPr indent="0" marL="0">
              <a:buNone/>
            </a:pPr>
            <a:r>
              <a:rPr lang="en-US" altLang="en-US" sz="1300" dirty="0">
                <a:solidFill>
                  <a:srgbClr val="95909D"/>
                </a:solidFill>
                <a:latin typeface="Aptos" pitchFamily="34" charset="0"/>
                <a:ea typeface="Aptos" pitchFamily="34" charset="-122"/>
                <a:cs typeface="Aptos" pitchFamily="34" charset="-120"/>
              </a:rPr>
              <a:t>→</a:t>
            </a:r>
            <a:endParaRPr lang="en-US" sz="1300" dirty="0"/>
          </a:p>
        </p:txBody>
      </p:sp>
      <p:sp>
        <p:nvSpPr>
          <p:cNvPr id="17" name="Shape 14"/>
          <p:cNvSpPr/>
          <p:nvPr/>
        </p:nvSpPr>
        <p:spPr>
          <a:xfrm>
            <a:off x="3383280" y="2724912"/>
            <a:ext cx="1078992" cy="0"/>
          </a:xfrm>
          <a:prstGeom prst="line">
            <a:avLst/>
          </a:prstGeom>
          <a:noFill/>
          <a:ln w="25400">
            <a:solidFill>
              <a:srgbClr val="E5E2E9"/>
            </a:solidFill>
            <a:prstDash val="solid"/>
          </a:ln>
        </p:spPr>
      </p:sp>
      <p:sp>
        <p:nvSpPr>
          <p:cNvPr id="18" name="Text 15"/>
          <p:cNvSpPr/>
          <p:nvPr/>
        </p:nvSpPr>
        <p:spPr>
          <a:xfrm>
            <a:off x="4764024" y="2240280"/>
            <a:ext cx="1106424" cy="274320"/>
          </a:xfrm>
          <a:prstGeom prst="rect">
            <a:avLst/>
          </a:prstGeom>
          <a:noFill/>
          <a:ln/>
        </p:spPr>
        <p:txBody>
          <a:bodyPr wrap="square" lIns="0" tIns="0" rIns="0" bIns="0" rtlCol="0" anchor="ctr">
            <a:normAutofit/>
          </a:bodyPr>
          <a:lstStyle/>
          <a:p>
            <a:pPr algn="ctr" indent="0" marL="0">
              <a:buNone/>
            </a:pPr>
            <a:r>
              <a:rPr lang="en-US" altLang="en-US" sz="1300" b="1" dirty="0">
                <a:solidFill>
                  <a:srgbClr val="19171D"/>
                </a:solidFill>
                <a:latin typeface="Aptos" pitchFamily="34" charset="0"/>
                <a:ea typeface="Aptos" pitchFamily="34" charset="-122"/>
                <a:cs typeface="Aptos" pitchFamily="34" charset="-120"/>
              </a:rPr>
              <a:t>Test</a:t>
            </a:r>
            <a:endParaRPr lang="en-US" sz="1300" dirty="0"/>
          </a:p>
        </p:txBody>
      </p:sp>
      <p:sp>
        <p:nvSpPr>
          <p:cNvPr id="19" name="Text 16"/>
          <p:cNvSpPr/>
          <p:nvPr/>
        </p:nvSpPr>
        <p:spPr>
          <a:xfrm>
            <a:off x="5943600" y="2240280"/>
            <a:ext cx="182880" cy="274320"/>
          </a:xfrm>
          <a:prstGeom prst="rect">
            <a:avLst/>
          </a:prstGeom>
          <a:noFill/>
          <a:ln/>
        </p:spPr>
        <p:txBody>
          <a:bodyPr wrap="square" lIns="0" tIns="0" rIns="0" bIns="0" rtlCol="0" anchor="ctr">
            <a:normAutofit/>
          </a:bodyPr>
          <a:lstStyle/>
          <a:p>
            <a:pPr indent="0" marL="0">
              <a:buNone/>
            </a:pPr>
            <a:r>
              <a:rPr lang="en-US" altLang="en-US" sz="1300" dirty="0">
                <a:solidFill>
                  <a:srgbClr val="95909D"/>
                </a:solidFill>
                <a:latin typeface="Aptos" pitchFamily="34" charset="0"/>
                <a:ea typeface="Aptos" pitchFamily="34" charset="-122"/>
                <a:cs typeface="Aptos" pitchFamily="34" charset="-120"/>
              </a:rPr>
              <a:t>→</a:t>
            </a:r>
            <a:endParaRPr lang="en-US" sz="1300" dirty="0"/>
          </a:p>
        </p:txBody>
      </p:sp>
      <p:sp>
        <p:nvSpPr>
          <p:cNvPr id="20" name="Shape 17"/>
          <p:cNvSpPr/>
          <p:nvPr/>
        </p:nvSpPr>
        <p:spPr>
          <a:xfrm>
            <a:off x="4764024" y="2724912"/>
            <a:ext cx="1078992" cy="0"/>
          </a:xfrm>
          <a:prstGeom prst="line">
            <a:avLst/>
          </a:prstGeom>
          <a:noFill/>
          <a:ln w="25400">
            <a:solidFill>
              <a:srgbClr val="E5E2E9"/>
            </a:solidFill>
            <a:prstDash val="solid"/>
          </a:ln>
        </p:spPr>
      </p:sp>
      <p:sp>
        <p:nvSpPr>
          <p:cNvPr id="21" name="Text 18"/>
          <p:cNvSpPr/>
          <p:nvPr/>
        </p:nvSpPr>
        <p:spPr>
          <a:xfrm>
            <a:off x="6144768" y="2240280"/>
            <a:ext cx="1106424" cy="274320"/>
          </a:xfrm>
          <a:prstGeom prst="rect">
            <a:avLst/>
          </a:prstGeom>
          <a:noFill/>
          <a:ln/>
        </p:spPr>
        <p:txBody>
          <a:bodyPr wrap="square" lIns="0" tIns="0" rIns="0" bIns="0" rtlCol="0" anchor="ctr">
            <a:normAutofit/>
          </a:bodyPr>
          <a:lstStyle/>
          <a:p>
            <a:pPr algn="ctr" indent="0" marL="0">
              <a:buNone/>
            </a:pPr>
            <a:r>
              <a:rPr lang="en-US" altLang="en-US" sz="1300" b="1" dirty="0">
                <a:solidFill>
                  <a:srgbClr val="19171D"/>
                </a:solidFill>
                <a:latin typeface="Aptos" pitchFamily="34" charset="0"/>
                <a:ea typeface="Aptos" pitchFamily="34" charset="-122"/>
                <a:cs typeface="Aptos" pitchFamily="34" charset="-120"/>
              </a:rPr>
              <a:t>Migrate</a:t>
            </a:r>
            <a:endParaRPr lang="en-US" sz="1300" dirty="0"/>
          </a:p>
        </p:txBody>
      </p:sp>
      <p:sp>
        <p:nvSpPr>
          <p:cNvPr id="22" name="Text 19"/>
          <p:cNvSpPr/>
          <p:nvPr/>
        </p:nvSpPr>
        <p:spPr>
          <a:xfrm>
            <a:off x="7324344" y="2240280"/>
            <a:ext cx="182880" cy="274320"/>
          </a:xfrm>
          <a:prstGeom prst="rect">
            <a:avLst/>
          </a:prstGeom>
          <a:noFill/>
          <a:ln/>
        </p:spPr>
        <p:txBody>
          <a:bodyPr wrap="square" lIns="0" tIns="0" rIns="0" bIns="0" rtlCol="0" anchor="ctr">
            <a:normAutofit/>
          </a:bodyPr>
          <a:lstStyle/>
          <a:p>
            <a:pPr indent="0" marL="0">
              <a:buNone/>
            </a:pPr>
            <a:r>
              <a:rPr lang="en-US" altLang="en-US" sz="1300" dirty="0">
                <a:solidFill>
                  <a:srgbClr val="95909D"/>
                </a:solidFill>
                <a:latin typeface="Aptos" pitchFamily="34" charset="0"/>
                <a:ea typeface="Aptos" pitchFamily="34" charset="-122"/>
                <a:cs typeface="Aptos" pitchFamily="34" charset="-120"/>
              </a:rPr>
              <a:t>→</a:t>
            </a:r>
            <a:endParaRPr lang="en-US" sz="1300" dirty="0"/>
          </a:p>
        </p:txBody>
      </p:sp>
      <p:sp>
        <p:nvSpPr>
          <p:cNvPr id="23" name="Shape 20"/>
          <p:cNvSpPr/>
          <p:nvPr/>
        </p:nvSpPr>
        <p:spPr>
          <a:xfrm>
            <a:off x="6144768" y="2724912"/>
            <a:ext cx="1078992" cy="0"/>
          </a:xfrm>
          <a:prstGeom prst="line">
            <a:avLst/>
          </a:prstGeom>
          <a:noFill/>
          <a:ln w="25400">
            <a:solidFill>
              <a:srgbClr val="E5E2E9"/>
            </a:solidFill>
            <a:prstDash val="solid"/>
          </a:ln>
        </p:spPr>
      </p:sp>
      <p:sp>
        <p:nvSpPr>
          <p:cNvPr id="24" name="Text 21"/>
          <p:cNvSpPr/>
          <p:nvPr/>
        </p:nvSpPr>
        <p:spPr>
          <a:xfrm>
            <a:off x="7525512" y="2240280"/>
            <a:ext cx="1106424" cy="274320"/>
          </a:xfrm>
          <a:prstGeom prst="rect">
            <a:avLst/>
          </a:prstGeom>
          <a:noFill/>
          <a:ln/>
        </p:spPr>
        <p:txBody>
          <a:bodyPr wrap="square" lIns="0" tIns="0" rIns="0" bIns="0" rtlCol="0" anchor="ctr">
            <a:normAutofit/>
          </a:bodyPr>
          <a:lstStyle/>
          <a:p>
            <a:pPr algn="ctr" indent="0" marL="0">
              <a:buNone/>
            </a:pPr>
            <a:r>
              <a:rPr lang="en-US" altLang="en-US" sz="1300" b="1" dirty="0">
                <a:solidFill>
                  <a:srgbClr val="19171D"/>
                </a:solidFill>
                <a:latin typeface="Aptos" pitchFamily="34" charset="0"/>
                <a:ea typeface="Aptos" pitchFamily="34" charset="-122"/>
                <a:cs typeface="Aptos" pitchFamily="34" charset="-120"/>
              </a:rPr>
              <a:t>Validate</a:t>
            </a:r>
            <a:endParaRPr lang="en-US" sz="1300" dirty="0"/>
          </a:p>
        </p:txBody>
      </p:sp>
      <p:sp>
        <p:nvSpPr>
          <p:cNvPr id="25" name="Text 22"/>
          <p:cNvSpPr/>
          <p:nvPr/>
        </p:nvSpPr>
        <p:spPr>
          <a:xfrm>
            <a:off x="8705088" y="2240280"/>
            <a:ext cx="182880" cy="274320"/>
          </a:xfrm>
          <a:prstGeom prst="rect">
            <a:avLst/>
          </a:prstGeom>
          <a:noFill/>
          <a:ln/>
        </p:spPr>
        <p:txBody>
          <a:bodyPr wrap="square" lIns="0" tIns="0" rIns="0" bIns="0" rtlCol="0" anchor="ctr">
            <a:normAutofit/>
          </a:bodyPr>
          <a:lstStyle/>
          <a:p>
            <a:pPr indent="0" marL="0">
              <a:buNone/>
            </a:pPr>
            <a:r>
              <a:rPr lang="en-US" altLang="en-US" sz="1300" dirty="0">
                <a:solidFill>
                  <a:srgbClr val="95909D"/>
                </a:solidFill>
                <a:latin typeface="Aptos" pitchFamily="34" charset="0"/>
                <a:ea typeface="Aptos" pitchFamily="34" charset="-122"/>
                <a:cs typeface="Aptos" pitchFamily="34" charset="-120"/>
              </a:rPr>
              <a:t>→</a:t>
            </a:r>
            <a:endParaRPr lang="en-US" sz="1300" dirty="0"/>
          </a:p>
        </p:txBody>
      </p:sp>
      <p:sp>
        <p:nvSpPr>
          <p:cNvPr id="26" name="Shape 23"/>
          <p:cNvSpPr/>
          <p:nvPr/>
        </p:nvSpPr>
        <p:spPr>
          <a:xfrm>
            <a:off x="7525512" y="2724912"/>
            <a:ext cx="1078992" cy="0"/>
          </a:xfrm>
          <a:prstGeom prst="line">
            <a:avLst/>
          </a:prstGeom>
          <a:noFill/>
          <a:ln w="25400">
            <a:solidFill>
              <a:srgbClr val="E5E2E9"/>
            </a:solidFill>
            <a:prstDash val="solid"/>
          </a:ln>
        </p:spPr>
      </p:sp>
      <p:sp>
        <p:nvSpPr>
          <p:cNvPr id="27" name="Text 24"/>
          <p:cNvSpPr/>
          <p:nvPr/>
        </p:nvSpPr>
        <p:spPr>
          <a:xfrm>
            <a:off x="8906256" y="2240280"/>
            <a:ext cx="1106424" cy="274320"/>
          </a:xfrm>
          <a:prstGeom prst="rect">
            <a:avLst/>
          </a:prstGeom>
          <a:noFill/>
          <a:ln/>
        </p:spPr>
        <p:txBody>
          <a:bodyPr wrap="square" lIns="0" tIns="0" rIns="0" bIns="0" rtlCol="0" anchor="ctr">
            <a:normAutofit/>
          </a:bodyPr>
          <a:lstStyle/>
          <a:p>
            <a:pPr algn="ctr" indent="0" marL="0">
              <a:buNone/>
            </a:pPr>
            <a:r>
              <a:rPr lang="en-US" altLang="en-US" sz="1300" b="1" dirty="0">
                <a:solidFill>
                  <a:srgbClr val="19171D"/>
                </a:solidFill>
                <a:latin typeface="Aptos" pitchFamily="34" charset="0"/>
                <a:ea typeface="Aptos" pitchFamily="34" charset="-122"/>
                <a:cs typeface="Aptos" pitchFamily="34" charset="-120"/>
              </a:rPr>
              <a:t>Fix</a:t>
            </a:r>
            <a:endParaRPr lang="en-US" sz="1300" dirty="0"/>
          </a:p>
        </p:txBody>
      </p:sp>
      <p:sp>
        <p:nvSpPr>
          <p:cNvPr id="28" name="Text 25"/>
          <p:cNvSpPr/>
          <p:nvPr/>
        </p:nvSpPr>
        <p:spPr>
          <a:xfrm>
            <a:off x="10085832" y="2240280"/>
            <a:ext cx="182880" cy="274320"/>
          </a:xfrm>
          <a:prstGeom prst="rect">
            <a:avLst/>
          </a:prstGeom>
          <a:noFill/>
          <a:ln/>
        </p:spPr>
        <p:txBody>
          <a:bodyPr wrap="square" lIns="0" tIns="0" rIns="0" bIns="0" rtlCol="0" anchor="ctr">
            <a:normAutofit/>
          </a:bodyPr>
          <a:lstStyle/>
          <a:p>
            <a:pPr indent="0" marL="0">
              <a:buNone/>
            </a:pPr>
            <a:r>
              <a:rPr lang="en-US" altLang="en-US" sz="1300" dirty="0">
                <a:solidFill>
                  <a:srgbClr val="95909D"/>
                </a:solidFill>
                <a:latin typeface="Aptos" pitchFamily="34" charset="0"/>
                <a:ea typeface="Aptos" pitchFamily="34" charset="-122"/>
                <a:cs typeface="Aptos" pitchFamily="34" charset="-120"/>
              </a:rPr>
              <a:t>→</a:t>
            </a:r>
            <a:endParaRPr lang="en-US" sz="1300" dirty="0"/>
          </a:p>
        </p:txBody>
      </p:sp>
      <p:sp>
        <p:nvSpPr>
          <p:cNvPr id="29" name="Shape 26"/>
          <p:cNvSpPr/>
          <p:nvPr/>
        </p:nvSpPr>
        <p:spPr>
          <a:xfrm>
            <a:off x="8906256" y="2724912"/>
            <a:ext cx="1078992" cy="0"/>
          </a:xfrm>
          <a:prstGeom prst="line">
            <a:avLst/>
          </a:prstGeom>
          <a:noFill/>
          <a:ln w="25400">
            <a:solidFill>
              <a:srgbClr val="E5E2E9"/>
            </a:solidFill>
            <a:prstDash val="solid"/>
          </a:ln>
        </p:spPr>
      </p:sp>
      <p:sp>
        <p:nvSpPr>
          <p:cNvPr id="30" name="Text 27"/>
          <p:cNvSpPr/>
          <p:nvPr/>
        </p:nvSpPr>
        <p:spPr>
          <a:xfrm>
            <a:off x="10287000" y="2240280"/>
            <a:ext cx="1106424" cy="274320"/>
          </a:xfrm>
          <a:prstGeom prst="rect">
            <a:avLst/>
          </a:prstGeom>
          <a:noFill/>
          <a:ln/>
        </p:spPr>
        <p:txBody>
          <a:bodyPr wrap="square" lIns="0" tIns="0" rIns="0" bIns="0" rtlCol="0" anchor="ctr">
            <a:normAutofit/>
          </a:bodyPr>
          <a:lstStyle/>
          <a:p>
            <a:pPr algn="ctr" indent="0" marL="0">
              <a:buNone/>
            </a:pPr>
            <a:r>
              <a:rPr lang="en-US" altLang="en-US" sz="1300" b="1" dirty="0">
                <a:solidFill>
                  <a:srgbClr val="19171D"/>
                </a:solidFill>
                <a:latin typeface="Aptos" pitchFamily="34" charset="0"/>
                <a:ea typeface="Aptos" pitchFamily="34" charset="-122"/>
                <a:cs typeface="Aptos" pitchFamily="34" charset="-120"/>
              </a:rPr>
              <a:t>Reconcile</a:t>
            </a:r>
            <a:endParaRPr lang="en-US" sz="1300" dirty="0"/>
          </a:p>
        </p:txBody>
      </p:sp>
      <p:sp>
        <p:nvSpPr>
          <p:cNvPr id="31" name="Shape 28"/>
          <p:cNvSpPr/>
          <p:nvPr/>
        </p:nvSpPr>
        <p:spPr>
          <a:xfrm>
            <a:off x="10287000" y="2724912"/>
            <a:ext cx="1078992" cy="0"/>
          </a:xfrm>
          <a:prstGeom prst="line">
            <a:avLst/>
          </a:prstGeom>
          <a:noFill/>
          <a:ln w="25400">
            <a:solidFill>
              <a:srgbClr val="E5E2E9"/>
            </a:solidFill>
            <a:prstDash val="solid"/>
          </a:ln>
        </p:spPr>
      </p:sp>
      <p:sp>
        <p:nvSpPr>
          <p:cNvPr id="32" name="Text 29"/>
          <p:cNvSpPr/>
          <p:nvPr/>
        </p:nvSpPr>
        <p:spPr>
          <a:xfrm>
            <a:off x="621792" y="3136392"/>
            <a:ext cx="2487168" cy="347472"/>
          </a:xfrm>
          <a:prstGeom prst="rect">
            <a:avLst/>
          </a:prstGeom>
          <a:noFill/>
          <a:ln/>
        </p:spPr>
        <p:txBody>
          <a:bodyPr wrap="square" lIns="0" tIns="0" rIns="0" bIns="0" rtlCol="0" anchor="ctr">
            <a:normAutofit/>
          </a:bodyPr>
          <a:lstStyle/>
          <a:p>
            <a:pPr indent="0" marL="0">
              <a:buNone/>
            </a:pPr>
            <a:r>
              <a:rPr lang="en-US" altLang="en-US" sz="2100" b="1" dirty="0">
                <a:solidFill>
                  <a:srgbClr val="19171D"/>
                </a:solidFill>
                <a:latin typeface="Aptos" pitchFamily="34" charset="0"/>
                <a:ea typeface="Aptos" pitchFamily="34" charset="-122"/>
                <a:cs typeface="Aptos" pitchFamily="34" charset="-120"/>
              </a:rPr>
              <a:t>Schema</a:t>
            </a:r>
            <a:endParaRPr lang="en-US" sz="2100" dirty="0"/>
          </a:p>
        </p:txBody>
      </p:sp>
      <p:sp>
        <p:nvSpPr>
          <p:cNvPr id="33" name="Text 30"/>
          <p:cNvSpPr/>
          <p:nvPr/>
        </p:nvSpPr>
        <p:spPr>
          <a:xfrm>
            <a:off x="621792" y="3666744"/>
            <a:ext cx="2487168" cy="1033272"/>
          </a:xfrm>
          <a:prstGeom prst="rect">
            <a:avLst/>
          </a:prstGeom>
          <a:noFill/>
          <a:ln/>
        </p:spPr>
        <p:txBody>
          <a:bodyPr wrap="square" lIns="0" tIns="0" rIns="0" bIns="0" rtlCol="0" anchor="t">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Different entities and models</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Complex field mappings</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Transformation rules</a:t>
            </a:r>
            <a:endParaRPr lang="en-US" sz="1320" dirty="0"/>
          </a:p>
        </p:txBody>
      </p:sp>
      <p:sp>
        <p:nvSpPr>
          <p:cNvPr id="34" name="Shape 31"/>
          <p:cNvSpPr/>
          <p:nvPr/>
        </p:nvSpPr>
        <p:spPr>
          <a:xfrm>
            <a:off x="3246120" y="3136392"/>
            <a:ext cx="0" cy="1609344"/>
          </a:xfrm>
          <a:prstGeom prst="line">
            <a:avLst/>
          </a:prstGeom>
          <a:noFill/>
          <a:ln w="12700">
            <a:solidFill>
              <a:srgbClr val="E5E2E9"/>
            </a:solidFill>
            <a:prstDash val="solid"/>
          </a:ln>
        </p:spPr>
      </p:sp>
      <p:sp>
        <p:nvSpPr>
          <p:cNvPr id="35" name="Text 32"/>
          <p:cNvSpPr/>
          <p:nvPr/>
        </p:nvSpPr>
        <p:spPr>
          <a:xfrm>
            <a:off x="3438144" y="3136392"/>
            <a:ext cx="2487168" cy="347472"/>
          </a:xfrm>
          <a:prstGeom prst="rect">
            <a:avLst/>
          </a:prstGeom>
          <a:noFill/>
          <a:ln/>
        </p:spPr>
        <p:txBody>
          <a:bodyPr wrap="square" lIns="0" tIns="0" rIns="0" bIns="0" rtlCol="0" anchor="ctr">
            <a:normAutofit/>
          </a:bodyPr>
          <a:lstStyle/>
          <a:p>
            <a:pPr indent="0" marL="0">
              <a:buNone/>
            </a:pPr>
            <a:r>
              <a:rPr lang="en-US" altLang="en-US" sz="2100" b="1" dirty="0">
                <a:solidFill>
                  <a:srgbClr val="19171D"/>
                </a:solidFill>
                <a:latin typeface="Aptos" pitchFamily="34" charset="0"/>
                <a:ea typeface="Aptos" pitchFamily="34" charset="-122"/>
                <a:cs typeface="Aptos" pitchFamily="34" charset="-120"/>
              </a:rPr>
              <a:t>History</a:t>
            </a:r>
            <a:endParaRPr lang="en-US" sz="2100" dirty="0"/>
          </a:p>
        </p:txBody>
      </p:sp>
      <p:sp>
        <p:nvSpPr>
          <p:cNvPr id="36" name="Text 33"/>
          <p:cNvSpPr/>
          <p:nvPr/>
        </p:nvSpPr>
        <p:spPr>
          <a:xfrm>
            <a:off x="3438144" y="3666744"/>
            <a:ext cx="2487168" cy="1033272"/>
          </a:xfrm>
          <a:prstGeom prst="rect">
            <a:avLst/>
          </a:prstGeom>
          <a:noFill/>
          <a:ln/>
        </p:spPr>
        <p:txBody>
          <a:bodyPr wrap="square" lIns="0" tIns="0" rIns="0" bIns="0" rtlCol="0" anchor="t">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Historical records</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Relationships to preserve</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Missing or incompatible data</a:t>
            </a:r>
            <a:endParaRPr lang="en-US" sz="1320" dirty="0"/>
          </a:p>
        </p:txBody>
      </p:sp>
      <p:sp>
        <p:nvSpPr>
          <p:cNvPr id="37" name="Shape 34"/>
          <p:cNvSpPr/>
          <p:nvPr/>
        </p:nvSpPr>
        <p:spPr>
          <a:xfrm>
            <a:off x="6062472" y="3136392"/>
            <a:ext cx="0" cy="1609344"/>
          </a:xfrm>
          <a:prstGeom prst="line">
            <a:avLst/>
          </a:prstGeom>
          <a:noFill/>
          <a:ln w="12700">
            <a:solidFill>
              <a:srgbClr val="E5E2E9"/>
            </a:solidFill>
            <a:prstDash val="solid"/>
          </a:ln>
        </p:spPr>
      </p:sp>
      <p:sp>
        <p:nvSpPr>
          <p:cNvPr id="38" name="Text 35"/>
          <p:cNvSpPr/>
          <p:nvPr/>
        </p:nvSpPr>
        <p:spPr>
          <a:xfrm>
            <a:off x="6254496" y="3136392"/>
            <a:ext cx="2487168" cy="347472"/>
          </a:xfrm>
          <a:prstGeom prst="rect">
            <a:avLst/>
          </a:prstGeom>
          <a:noFill/>
          <a:ln/>
        </p:spPr>
        <p:txBody>
          <a:bodyPr wrap="square" lIns="0" tIns="0" rIns="0" bIns="0" rtlCol="0" anchor="ctr">
            <a:normAutofit/>
          </a:bodyPr>
          <a:lstStyle/>
          <a:p>
            <a:pPr indent="0" marL="0">
              <a:buNone/>
            </a:pPr>
            <a:r>
              <a:rPr lang="en-US" altLang="en-US" sz="2100" b="1" dirty="0">
                <a:solidFill>
                  <a:srgbClr val="19171D"/>
                </a:solidFill>
                <a:latin typeface="Aptos" pitchFamily="34" charset="0"/>
                <a:ea typeface="Aptos" pitchFamily="34" charset="-122"/>
                <a:cs typeface="Aptos" pitchFamily="34" charset="-120"/>
              </a:rPr>
              <a:t>Execution</a:t>
            </a:r>
            <a:endParaRPr lang="en-US" sz="2100" dirty="0"/>
          </a:p>
        </p:txBody>
      </p:sp>
      <p:sp>
        <p:nvSpPr>
          <p:cNvPr id="39" name="Text 36"/>
          <p:cNvSpPr/>
          <p:nvPr/>
        </p:nvSpPr>
        <p:spPr>
          <a:xfrm>
            <a:off x="6254496" y="3666744"/>
            <a:ext cx="2487168" cy="1033272"/>
          </a:xfrm>
          <a:prstGeom prst="rect">
            <a:avLst/>
          </a:prstGeom>
          <a:noFill/>
          <a:ln/>
        </p:spPr>
        <p:txBody>
          <a:bodyPr wrap="square" lIns="0" tIns="0" rIns="0" bIns="0" rtlCol="0" anchor="t">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API and rate-limit constraints</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Failures and retries</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Attachment limitations</a:t>
            </a:r>
            <a:endParaRPr lang="en-US" sz="1320" dirty="0"/>
          </a:p>
        </p:txBody>
      </p:sp>
      <p:sp>
        <p:nvSpPr>
          <p:cNvPr id="40" name="Shape 37"/>
          <p:cNvSpPr/>
          <p:nvPr/>
        </p:nvSpPr>
        <p:spPr>
          <a:xfrm>
            <a:off x="8878824" y="3136392"/>
            <a:ext cx="0" cy="1609344"/>
          </a:xfrm>
          <a:prstGeom prst="line">
            <a:avLst/>
          </a:prstGeom>
          <a:noFill/>
          <a:ln w="12700">
            <a:solidFill>
              <a:srgbClr val="E5E2E9"/>
            </a:solidFill>
            <a:prstDash val="solid"/>
          </a:ln>
        </p:spPr>
      </p:sp>
      <p:sp>
        <p:nvSpPr>
          <p:cNvPr id="41" name="Text 38"/>
          <p:cNvSpPr/>
          <p:nvPr/>
        </p:nvSpPr>
        <p:spPr>
          <a:xfrm>
            <a:off x="9070848" y="3136392"/>
            <a:ext cx="2487168" cy="347472"/>
          </a:xfrm>
          <a:prstGeom prst="rect">
            <a:avLst/>
          </a:prstGeom>
          <a:noFill/>
          <a:ln/>
        </p:spPr>
        <p:txBody>
          <a:bodyPr wrap="square" lIns="0" tIns="0" rIns="0" bIns="0" rtlCol="0" anchor="ctr">
            <a:normAutofit/>
          </a:bodyPr>
          <a:lstStyle/>
          <a:p>
            <a:pPr indent="0" marL="0">
              <a:buNone/>
            </a:pPr>
            <a:r>
              <a:rPr lang="en-US" altLang="en-US" sz="2100" b="1" dirty="0">
                <a:solidFill>
                  <a:srgbClr val="19171D"/>
                </a:solidFill>
                <a:latin typeface="Aptos" pitchFamily="34" charset="0"/>
                <a:ea typeface="Aptos" pitchFamily="34" charset="-122"/>
                <a:cs typeface="Aptos" pitchFamily="34" charset="-120"/>
              </a:rPr>
              <a:t>Trust</a:t>
            </a:r>
            <a:endParaRPr lang="en-US" sz="2100" dirty="0"/>
          </a:p>
        </p:txBody>
      </p:sp>
      <p:sp>
        <p:nvSpPr>
          <p:cNvPr id="42" name="Text 39"/>
          <p:cNvSpPr/>
          <p:nvPr/>
        </p:nvSpPr>
        <p:spPr>
          <a:xfrm>
            <a:off x="9070848" y="3666744"/>
            <a:ext cx="2487168" cy="1033272"/>
          </a:xfrm>
          <a:prstGeom prst="rect">
            <a:avLst/>
          </a:prstGeom>
          <a:noFill/>
          <a:ln/>
        </p:spPr>
        <p:txBody>
          <a:bodyPr wrap="square" lIns="0" tIns="0" rIns="0" bIns="0" rtlCol="0" anchor="t">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Workflow / notification effects</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Validation and reconciliation</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Search / analytics delays</a:t>
            </a:r>
            <a:endParaRPr lang="en-US" sz="1320" dirty="0"/>
          </a:p>
        </p:txBody>
      </p:sp>
      <p:sp>
        <p:nvSpPr>
          <p:cNvPr id="43" name="Text 40"/>
          <p:cNvSpPr/>
          <p:nvPr/>
        </p:nvSpPr>
        <p:spPr>
          <a:xfrm>
            <a:off x="621792" y="4974336"/>
            <a:ext cx="10945368" cy="228600"/>
          </a:xfrm>
          <a:prstGeom prst="rect">
            <a:avLst/>
          </a:prstGeom>
          <a:noFill/>
          <a:ln/>
        </p:spPr>
        <p:txBody>
          <a:bodyPr wrap="square" lIns="0" tIns="0" rIns="0" bIns="0" rtlCol="0" anchor="ctr">
            <a:normAutofit/>
          </a:bodyPr>
          <a:lstStyle/>
          <a:p>
            <a:pPr indent="0" marL="0">
              <a:buNone/>
            </a:pPr>
            <a:r>
              <a:rPr lang="en-US" altLang="en-US" sz="1050" dirty="0">
                <a:solidFill>
                  <a:srgbClr val="66636D"/>
                </a:solidFill>
                <a:latin typeface="Aptos" pitchFamily="34" charset="0"/>
                <a:ea typeface="Aptos" pitchFamily="34" charset="-122"/>
                <a:cs typeface="Aptos" pitchFamily="34" charset="-120"/>
              </a:rPr>
              <a:t>Freshservice migration documentation identifies API constraints, side effects, attachment limits and indexing delays.</a:t>
            </a:r>
            <a:endParaRPr lang="en-US" sz="1050" dirty="0"/>
          </a:p>
        </p:txBody>
      </p:sp>
      <p:sp>
        <p:nvSpPr>
          <p:cNvPr id="44" name="Shape 41"/>
          <p:cNvSpPr/>
          <p:nvPr/>
        </p:nvSpPr>
        <p:spPr>
          <a:xfrm>
            <a:off x="621792" y="5477256"/>
            <a:ext cx="10945368" cy="594360"/>
          </a:xfrm>
          <a:prstGeom prst="rect">
            <a:avLst>
              <a:gd name="adj" fmla="val 9231"/>
            </a:avLst>
          </a:prstGeom>
          <a:solidFill>
            <a:srgbClr val="19171D"/>
          </a:solidFill>
          <a:ln w="8890">
            <a:solidFill>
              <a:srgbClr val="19171D"/>
            </a:solidFill>
            <a:prstDash val="solid"/>
          </a:ln>
        </p:spPr>
      </p:sp>
      <p:sp>
        <p:nvSpPr>
          <p:cNvPr id="45" name="Text 42"/>
          <p:cNvSpPr/>
          <p:nvPr/>
        </p:nvSpPr>
        <p:spPr>
          <a:xfrm>
            <a:off x="841248" y="5614416"/>
            <a:ext cx="10506456" cy="301752"/>
          </a:xfrm>
          <a:prstGeom prst="rect">
            <a:avLst/>
          </a:prstGeom>
          <a:noFill/>
          <a:ln/>
        </p:spPr>
        <p:txBody>
          <a:bodyPr wrap="square" lIns="0" tIns="0" rIns="0" bIns="0" rtlCol="0" anchor="ctr">
            <a:normAutofit/>
          </a:bodyPr>
          <a:lstStyle/>
          <a:p>
            <a:pPr indent="0" marL="0">
              <a:buNone/>
            </a:pPr>
            <a:r>
              <a:rPr lang="en-US" altLang="en-US" sz="1900" b="1" dirty="0">
                <a:solidFill>
                  <a:srgbClr val="FFFFFF"/>
                </a:solidFill>
                <a:latin typeface="Aptos" pitchFamily="34" charset="0"/>
                <a:ea typeface="Aptos" pitchFamily="34" charset="-122"/>
                <a:cs typeface="Aptos" pitchFamily="34" charset="-120"/>
              </a:rPr>
              <a:t>The hard part is making migration safe, complete and trustworthy.</a:t>
            </a:r>
            <a:endParaRPr lang="en-US" sz="1900" dirty="0"/>
          </a:p>
        </p:txBody>
      </p:sp>
      <p:sp>
        <p:nvSpPr>
          <p:cNvPr id="46" name="Text 43"/>
          <p:cNvSpPr/>
          <p:nvPr/>
        </p:nvSpPr>
        <p:spPr>
          <a:xfrm>
            <a:off x="621792" y="6208776"/>
            <a:ext cx="10945368" cy="192024"/>
          </a:xfrm>
          <a:prstGeom prst="rect">
            <a:avLst/>
          </a:prstGeom>
          <a:noFill/>
          <a:ln/>
        </p:spPr>
        <p:txBody>
          <a:bodyPr wrap="square" lIns="0" tIns="0" rIns="0" bIns="0" rtlCol="0" anchor="ctr">
            <a:normAutofit/>
          </a:bodyPr>
          <a:lstStyle/>
          <a:p>
            <a:pPr algn="ctr" indent="0" marL="0">
              <a:buNone/>
            </a:pPr>
            <a:r>
              <a:rPr lang="en-US" altLang="en-US" sz="1150" dirty="0">
                <a:solidFill>
                  <a:srgbClr val="66636D"/>
                </a:solidFill>
                <a:latin typeface="Aptos" pitchFamily="34" charset="0"/>
                <a:ea typeface="Aptos" pitchFamily="34" charset="-122"/>
                <a:cs typeface="Aptos" pitchFamily="34" charset="-120"/>
              </a:rPr>
              <a:t>APIs + scripts + specialists + troubleshooting  →  An agent that manages the workflow</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6473952"/>
            <a:ext cx="10945368" cy="0"/>
          </a:xfrm>
          <a:prstGeom prst="line">
            <a:avLst/>
          </a:prstGeom>
          <a:noFill/>
          <a:ln w="8255">
            <a:solidFill>
              <a:srgbClr val="E5E2E9"/>
            </a:solidFill>
            <a:prstDash val="solid"/>
          </a:ln>
        </p:spPr>
      </p:sp>
      <p:sp>
        <p:nvSpPr>
          <p:cNvPr id="3" name="Text 1"/>
          <p:cNvSpPr/>
          <p:nvPr/>
        </p:nvSpPr>
        <p:spPr>
          <a:xfrm>
            <a:off x="621792" y="6592824"/>
            <a:ext cx="5486400" cy="137160"/>
          </a:xfrm>
          <a:prstGeom prst="rect">
            <a:avLst/>
          </a:prstGeom>
          <a:noFill/>
          <a:ln/>
        </p:spPr>
        <p:txBody>
          <a:bodyPr wrap="square" lIns="0" tIns="0" rIns="0" bIns="0" rtlCol="0" anchor="ctr">
            <a:normAutofit/>
          </a:bodyPr>
          <a:lstStyle/>
          <a:p>
            <a:pPr indent="0" marL="0">
              <a:buNone/>
            </a:pPr>
            <a:r>
              <a:rPr lang="en-US" altLang="en-US" sz="800" dirty="0">
                <a:solidFill>
                  <a:srgbClr val="95909D"/>
                </a:solidFill>
                <a:latin typeface="Aptos" pitchFamily="34" charset="0"/>
                <a:ea typeface="Aptos" pitchFamily="34" charset="-122"/>
                <a:cs typeface="Aptos" pitchFamily="34" charset="-120"/>
              </a:rPr>
              <a:t>ZEN / AUTONOMOUS ENTERPRISE MIGRATION</a:t>
            </a:r>
            <a:endParaRPr lang="en-US" sz="800" dirty="0"/>
          </a:p>
        </p:txBody>
      </p:sp>
      <p:sp>
        <p:nvSpPr>
          <p:cNvPr id="4" name="Text 2"/>
          <p:cNvSpPr/>
          <p:nvPr/>
        </p:nvSpPr>
        <p:spPr>
          <a:xfrm>
            <a:off x="11137392" y="6583680"/>
            <a:ext cx="429768" cy="155448"/>
          </a:xfrm>
          <a:prstGeom prst="rect">
            <a:avLst/>
          </a:prstGeom>
          <a:noFill/>
          <a:ln/>
        </p:spPr>
        <p:txBody>
          <a:bodyPr wrap="square" lIns="0" tIns="0" rIns="0" bIns="0" rtlCol="0" anchor="ctr">
            <a:normAutofit/>
          </a:bodyPr>
          <a:lstStyle/>
          <a:p>
            <a:pPr algn="r" indent="0" marL="0">
              <a:buNone/>
            </a:pPr>
            <a:r>
              <a:rPr lang="en-US" altLang="en-US" sz="800" dirty="0">
                <a:solidFill>
                  <a:srgbClr val="95909D"/>
                </a:solidFill>
                <a:latin typeface="Aptos" pitchFamily="34" charset="0"/>
                <a:ea typeface="Aptos" pitchFamily="34" charset="-122"/>
                <a:cs typeface="Aptos" pitchFamily="34" charset="-120"/>
              </a:rPr>
              <a:t>03</a:t>
            </a:r>
            <a:endParaRPr lang="en-US" sz="800" dirty="0"/>
          </a:p>
        </p:txBody>
      </p:sp>
      <p:sp>
        <p:nvSpPr>
          <p:cNvPr id="6" name="Text 3"/>
          <p:cNvSpPr/>
          <p:nvPr/>
        </p:nvSpPr>
        <p:spPr>
          <a:xfrm>
            <a:off x="621792" y="576072"/>
            <a:ext cx="108813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03 / WHY NOW?</a:t>
            </a:r>
            <a:endParaRPr lang="en-US" sz="1000" dirty="0"/>
          </a:p>
        </p:txBody>
      </p:sp>
      <p:sp>
        <p:nvSpPr>
          <p:cNvPr id="7" name="Text 4"/>
          <p:cNvSpPr/>
          <p:nvPr/>
        </p:nvSpPr>
        <p:spPr>
          <a:xfrm>
            <a:off x="621792" y="905256"/>
            <a:ext cx="10945368" cy="603504"/>
          </a:xfrm>
          <a:prstGeom prst="rect">
            <a:avLst/>
          </a:prstGeom>
          <a:noFill/>
          <a:ln/>
        </p:spPr>
        <p:txBody>
          <a:bodyPr wrap="square" lIns="0" tIns="0" rIns="0" bIns="0" rtlCol="0" anchor="ctr">
            <a:normAutofit/>
          </a:bodyPr>
          <a:lstStyle/>
          <a:p>
            <a:pPr indent="0" marL="0">
              <a:buNone/>
            </a:pPr>
            <a:r>
              <a:rPr lang="en-US" altLang="en-US" sz="2900" b="1" dirty="0">
                <a:solidFill>
                  <a:srgbClr val="19171D"/>
                </a:solidFill>
                <a:latin typeface="Aptos Display" pitchFamily="34" charset="0"/>
                <a:ea typeface="Aptos Display" pitchFamily="34" charset="-122"/>
                <a:cs typeface="Aptos Display" pitchFamily="34" charset="-120"/>
              </a:rPr>
              <a:t>The technology is ready for agentic migration.</a:t>
            </a:r>
            <a:endParaRPr lang="en-US" sz="2900" dirty="0"/>
          </a:p>
        </p:txBody>
      </p:sp>
      <p:sp>
        <p:nvSpPr>
          <p:cNvPr id="8" name="Text 5"/>
          <p:cNvSpPr/>
          <p:nvPr/>
        </p:nvSpPr>
        <p:spPr>
          <a:xfrm>
            <a:off x="621792" y="1554480"/>
            <a:ext cx="10945368" cy="347472"/>
          </a:xfrm>
          <a:prstGeom prst="rect">
            <a:avLst/>
          </a:prstGeom>
          <a:noFill/>
          <a:ln/>
        </p:spPr>
        <p:txBody>
          <a:bodyPr wrap="square" lIns="0" tIns="0" rIns="0" bIns="0" rtlCol="0" anchor="ctr">
            <a:normAutofit/>
          </a:bodyPr>
          <a:lstStyle/>
          <a:p>
            <a:pPr indent="0" marL="0">
              <a:buNone/>
            </a:pPr>
            <a:r>
              <a:rPr lang="en-US" altLang="en-US" sz="1350" dirty="0">
                <a:solidFill>
                  <a:srgbClr val="66636D"/>
                </a:solidFill>
                <a:latin typeface="Aptos" pitchFamily="34" charset="0"/>
                <a:ea typeface="Aptos" pitchFamily="34" charset="-122"/>
                <a:cs typeface="Aptos" pitchFamily="34" charset="-120"/>
              </a:rPr>
              <a:t>The integration foundation exists. The next step is intelligent orchestration.</a:t>
            </a:r>
            <a:endParaRPr lang="en-US" sz="1350" dirty="0"/>
          </a:p>
        </p:txBody>
      </p:sp>
      <p:sp>
        <p:nvSpPr>
          <p:cNvPr id="9" name="Text 6"/>
          <p:cNvSpPr/>
          <p:nvPr/>
        </p:nvSpPr>
        <p:spPr>
          <a:xfrm>
            <a:off x="621792" y="2267712"/>
            <a:ext cx="749808" cy="502920"/>
          </a:xfrm>
          <a:prstGeom prst="rect">
            <a:avLst/>
          </a:prstGeom>
          <a:noFill/>
          <a:ln/>
        </p:spPr>
        <p:txBody>
          <a:bodyPr wrap="square" lIns="0" tIns="0" rIns="0" bIns="0" rtlCol="0" anchor="ctr">
            <a:normAutofit/>
          </a:bodyPr>
          <a:lstStyle/>
          <a:p>
            <a:pPr indent="0" marL="0">
              <a:buNone/>
            </a:pPr>
            <a:r>
              <a:rPr lang="en-US" altLang="en-US" sz="3200" b="1" dirty="0">
                <a:solidFill>
                  <a:srgbClr val="853BDD"/>
                </a:solidFill>
                <a:latin typeface="Aptos" pitchFamily="34" charset="0"/>
                <a:ea typeface="Aptos" pitchFamily="34" charset="-122"/>
                <a:cs typeface="Aptos" pitchFamily="34" charset="-120"/>
              </a:rPr>
              <a:t>01</a:t>
            </a:r>
            <a:endParaRPr lang="en-US" sz="3200" dirty="0"/>
          </a:p>
        </p:txBody>
      </p:sp>
      <p:sp>
        <p:nvSpPr>
          <p:cNvPr id="10" name="Text 7"/>
          <p:cNvSpPr/>
          <p:nvPr/>
        </p:nvSpPr>
        <p:spPr>
          <a:xfrm>
            <a:off x="621792" y="2944368"/>
            <a:ext cx="2505456" cy="694944"/>
          </a:xfrm>
          <a:prstGeom prst="rect">
            <a:avLst/>
          </a:prstGeom>
          <a:noFill/>
          <a:ln/>
        </p:spPr>
        <p:txBody>
          <a:bodyPr wrap="square" lIns="0" tIns="0" rIns="0" bIns="0" rtlCol="0" anchor="t">
            <a:normAutofit/>
          </a:bodyPr>
          <a:lstStyle/>
          <a:p>
            <a:pPr indent="0" marL="0">
              <a:buNone/>
            </a:pPr>
            <a:r>
              <a:rPr lang="en-US" altLang="en-US" sz="2000" b="1" dirty="0">
                <a:solidFill>
                  <a:srgbClr val="19171D"/>
                </a:solidFill>
                <a:latin typeface="Aptos" pitchFamily="34" charset="0"/>
                <a:ea typeface="Aptos" pitchFamily="34" charset="-122"/>
                <a:cs typeface="Aptos" pitchFamily="34" charset="-120"/>
              </a:rPr>
              <a:t>Migration is</a:t>
            </a:r>
            <a:endParaRPr lang="en-US" sz="2000" dirty="0"/>
          </a:p>
          <a:p>
            <a:pPr indent="0" marL="0">
              <a:buNone/>
            </a:pPr>
            <a:r>
              <a:rPr lang="en-US" altLang="en-US" sz="2000" b="1" dirty="0">
                <a:solidFill>
                  <a:srgbClr val="19171D"/>
                </a:solidFill>
                <a:latin typeface="Aptos" pitchFamily="34" charset="0"/>
                <a:ea typeface="Aptos" pitchFamily="34" charset="-122"/>
                <a:cs typeface="Aptos" pitchFamily="34" charset="-120"/>
              </a:rPr>
              <a:t>still high-touch</a:t>
            </a:r>
            <a:endParaRPr lang="en-US" sz="2000" dirty="0"/>
          </a:p>
        </p:txBody>
      </p:sp>
      <p:sp>
        <p:nvSpPr>
          <p:cNvPr id="11" name="Text 8"/>
          <p:cNvSpPr/>
          <p:nvPr/>
        </p:nvSpPr>
        <p:spPr>
          <a:xfrm>
            <a:off x="621792" y="3822192"/>
            <a:ext cx="2505456" cy="822960"/>
          </a:xfrm>
          <a:prstGeom prst="rect">
            <a:avLst/>
          </a:prstGeom>
          <a:noFill/>
          <a:ln/>
        </p:spPr>
        <p:txBody>
          <a:bodyPr wrap="square" lIns="0" tIns="0" rIns="0" bIns="0" rtlCol="0" anchor="t">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Customized implementations</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and historical data make</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migration more complex.</a:t>
            </a:r>
            <a:endParaRPr lang="en-US" sz="1320" dirty="0"/>
          </a:p>
        </p:txBody>
      </p:sp>
      <p:sp>
        <p:nvSpPr>
          <p:cNvPr id="12" name="Text 9"/>
          <p:cNvSpPr/>
          <p:nvPr/>
        </p:nvSpPr>
        <p:spPr>
          <a:xfrm>
            <a:off x="3438144" y="2267712"/>
            <a:ext cx="749808" cy="502920"/>
          </a:xfrm>
          <a:prstGeom prst="rect">
            <a:avLst/>
          </a:prstGeom>
          <a:noFill/>
          <a:ln/>
        </p:spPr>
        <p:txBody>
          <a:bodyPr wrap="square" lIns="0" tIns="0" rIns="0" bIns="0" rtlCol="0" anchor="ctr">
            <a:normAutofit/>
          </a:bodyPr>
          <a:lstStyle/>
          <a:p>
            <a:pPr indent="0" marL="0">
              <a:buNone/>
            </a:pPr>
            <a:r>
              <a:rPr lang="en-US" altLang="en-US" sz="3200" b="1" dirty="0">
                <a:solidFill>
                  <a:srgbClr val="853BDD"/>
                </a:solidFill>
                <a:latin typeface="Aptos" pitchFamily="34" charset="0"/>
                <a:ea typeface="Aptos" pitchFamily="34" charset="-122"/>
                <a:cs typeface="Aptos" pitchFamily="34" charset="-120"/>
              </a:rPr>
              <a:t>02</a:t>
            </a:r>
            <a:endParaRPr lang="en-US" sz="3200" dirty="0"/>
          </a:p>
        </p:txBody>
      </p:sp>
      <p:sp>
        <p:nvSpPr>
          <p:cNvPr id="13" name="Text 10"/>
          <p:cNvSpPr/>
          <p:nvPr/>
        </p:nvSpPr>
        <p:spPr>
          <a:xfrm>
            <a:off x="3438144" y="2944368"/>
            <a:ext cx="2505456" cy="694944"/>
          </a:xfrm>
          <a:prstGeom prst="rect">
            <a:avLst/>
          </a:prstGeom>
          <a:noFill/>
          <a:ln/>
        </p:spPr>
        <p:txBody>
          <a:bodyPr wrap="square" lIns="0" tIns="0" rIns="0" bIns="0" rtlCol="0" anchor="t">
            <a:normAutofit/>
          </a:bodyPr>
          <a:lstStyle/>
          <a:p>
            <a:pPr indent="0" marL="0">
              <a:buNone/>
            </a:pPr>
            <a:r>
              <a:rPr lang="en-US" altLang="en-US" sz="2000" b="1" dirty="0">
                <a:solidFill>
                  <a:srgbClr val="19171D"/>
                </a:solidFill>
                <a:latin typeface="Aptos" pitchFamily="34" charset="0"/>
                <a:ea typeface="Aptos" pitchFamily="34" charset="-122"/>
                <a:cs typeface="Aptos" pitchFamily="34" charset="-120"/>
              </a:rPr>
              <a:t>The integration</a:t>
            </a:r>
            <a:endParaRPr lang="en-US" sz="2000" dirty="0"/>
          </a:p>
          <a:p>
            <a:pPr indent="0" marL="0">
              <a:buNone/>
            </a:pPr>
            <a:r>
              <a:rPr lang="en-US" altLang="en-US" sz="2000" b="1" dirty="0">
                <a:solidFill>
                  <a:srgbClr val="19171D"/>
                </a:solidFill>
                <a:latin typeface="Aptos" pitchFamily="34" charset="0"/>
                <a:ea typeface="Aptos" pitchFamily="34" charset="-122"/>
                <a:cs typeface="Aptos" pitchFamily="34" charset="-120"/>
              </a:rPr>
              <a:t>layer is ready</a:t>
            </a:r>
            <a:endParaRPr lang="en-US" sz="2000" dirty="0"/>
          </a:p>
        </p:txBody>
      </p:sp>
      <p:sp>
        <p:nvSpPr>
          <p:cNvPr id="14" name="Text 11"/>
          <p:cNvSpPr/>
          <p:nvPr/>
        </p:nvSpPr>
        <p:spPr>
          <a:xfrm>
            <a:off x="3438144" y="3822192"/>
            <a:ext cx="2505456" cy="822960"/>
          </a:xfrm>
          <a:prstGeom prst="rect">
            <a:avLst/>
          </a:prstGeom>
          <a:noFill/>
          <a:ln/>
        </p:spPr>
        <p:txBody>
          <a:bodyPr wrap="square" lIns="0" tIns="0" rIns="0" bIns="0" rtlCol="0" anchor="t">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Freshservice REST API v2</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plus Product MCP, with</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Claude client support.</a:t>
            </a:r>
            <a:endParaRPr lang="en-US" sz="1320" dirty="0"/>
          </a:p>
        </p:txBody>
      </p:sp>
      <p:sp>
        <p:nvSpPr>
          <p:cNvPr id="15" name="Text 12"/>
          <p:cNvSpPr/>
          <p:nvPr/>
        </p:nvSpPr>
        <p:spPr>
          <a:xfrm>
            <a:off x="6254496" y="2267712"/>
            <a:ext cx="749808" cy="502920"/>
          </a:xfrm>
          <a:prstGeom prst="rect">
            <a:avLst/>
          </a:prstGeom>
          <a:noFill/>
          <a:ln/>
        </p:spPr>
        <p:txBody>
          <a:bodyPr wrap="square" lIns="0" tIns="0" rIns="0" bIns="0" rtlCol="0" anchor="ctr">
            <a:normAutofit/>
          </a:bodyPr>
          <a:lstStyle/>
          <a:p>
            <a:pPr indent="0" marL="0">
              <a:buNone/>
            </a:pPr>
            <a:r>
              <a:rPr lang="en-US" altLang="en-US" sz="3200" b="1" dirty="0">
                <a:solidFill>
                  <a:srgbClr val="853BDD"/>
                </a:solidFill>
                <a:latin typeface="Aptos" pitchFamily="34" charset="0"/>
                <a:ea typeface="Aptos" pitchFamily="34" charset="-122"/>
                <a:cs typeface="Aptos" pitchFamily="34" charset="-120"/>
              </a:rPr>
              <a:t>03</a:t>
            </a:r>
            <a:endParaRPr lang="en-US" sz="3200" dirty="0"/>
          </a:p>
        </p:txBody>
      </p:sp>
      <p:sp>
        <p:nvSpPr>
          <p:cNvPr id="16" name="Text 13"/>
          <p:cNvSpPr/>
          <p:nvPr/>
        </p:nvSpPr>
        <p:spPr>
          <a:xfrm>
            <a:off x="6254496" y="2944368"/>
            <a:ext cx="2505456" cy="694944"/>
          </a:xfrm>
          <a:prstGeom prst="rect">
            <a:avLst/>
          </a:prstGeom>
          <a:noFill/>
          <a:ln/>
        </p:spPr>
        <p:txBody>
          <a:bodyPr wrap="square" lIns="0" tIns="0" rIns="0" bIns="0" rtlCol="0" anchor="t">
            <a:normAutofit/>
          </a:bodyPr>
          <a:lstStyle/>
          <a:p>
            <a:pPr indent="0" marL="0">
              <a:buNone/>
            </a:pPr>
            <a:r>
              <a:rPr lang="en-US" altLang="en-US" sz="2000" b="1" dirty="0">
                <a:solidFill>
                  <a:srgbClr val="19171D"/>
                </a:solidFill>
                <a:latin typeface="Aptos" pitchFamily="34" charset="0"/>
                <a:ea typeface="Aptos" pitchFamily="34" charset="-122"/>
                <a:cs typeface="Aptos" pitchFamily="34" charset="-120"/>
              </a:rPr>
              <a:t>Confidence is</a:t>
            </a:r>
            <a:endParaRPr lang="en-US" sz="2000" dirty="0"/>
          </a:p>
          <a:p>
            <a:pPr indent="0" marL="0">
              <a:buNone/>
            </a:pPr>
            <a:r>
              <a:rPr lang="en-US" altLang="en-US" sz="2000" b="1" dirty="0">
                <a:solidFill>
                  <a:srgbClr val="19171D"/>
                </a:solidFill>
                <a:latin typeface="Aptos" pitchFamily="34" charset="0"/>
                <a:ea typeface="Aptos" pitchFamily="34" charset="-122"/>
                <a:cs typeface="Aptos" pitchFamily="34" charset="-120"/>
              </a:rPr>
              <a:t>already expected</a:t>
            </a:r>
            <a:endParaRPr lang="en-US" sz="2000" dirty="0"/>
          </a:p>
        </p:txBody>
      </p:sp>
      <p:sp>
        <p:nvSpPr>
          <p:cNvPr id="17" name="Text 14"/>
          <p:cNvSpPr/>
          <p:nvPr/>
        </p:nvSpPr>
        <p:spPr>
          <a:xfrm>
            <a:off x="6254496" y="3822192"/>
            <a:ext cx="2505456" cy="822960"/>
          </a:xfrm>
          <a:prstGeom prst="rect">
            <a:avLst/>
          </a:prstGeom>
          <a:noFill/>
          <a:ln/>
        </p:spPr>
        <p:txBody>
          <a:bodyPr wrap="square" lIns="0" tIns="0" rIns="0" bIns="0" rtlCol="0" anchor="t">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Mapping, test migrations,</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validation, delta migration</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and specialist assistance.</a:t>
            </a:r>
            <a:endParaRPr lang="en-US" sz="1320" dirty="0"/>
          </a:p>
        </p:txBody>
      </p:sp>
      <p:sp>
        <p:nvSpPr>
          <p:cNvPr id="18" name="Text 15"/>
          <p:cNvSpPr/>
          <p:nvPr/>
        </p:nvSpPr>
        <p:spPr>
          <a:xfrm>
            <a:off x="9070848" y="2267712"/>
            <a:ext cx="749808" cy="502920"/>
          </a:xfrm>
          <a:prstGeom prst="rect">
            <a:avLst/>
          </a:prstGeom>
          <a:noFill/>
          <a:ln/>
        </p:spPr>
        <p:txBody>
          <a:bodyPr wrap="square" lIns="0" tIns="0" rIns="0" bIns="0" rtlCol="0" anchor="ctr">
            <a:normAutofit/>
          </a:bodyPr>
          <a:lstStyle/>
          <a:p>
            <a:pPr indent="0" marL="0">
              <a:buNone/>
            </a:pPr>
            <a:r>
              <a:rPr lang="en-US" altLang="en-US" sz="3200" b="1" dirty="0">
                <a:solidFill>
                  <a:srgbClr val="853BDD"/>
                </a:solidFill>
                <a:latin typeface="Aptos" pitchFamily="34" charset="0"/>
                <a:ea typeface="Aptos" pitchFamily="34" charset="-122"/>
                <a:cs typeface="Aptos" pitchFamily="34" charset="-120"/>
              </a:rPr>
              <a:t>04</a:t>
            </a:r>
            <a:endParaRPr lang="en-US" sz="3200" dirty="0"/>
          </a:p>
        </p:txBody>
      </p:sp>
      <p:sp>
        <p:nvSpPr>
          <p:cNvPr id="19" name="Text 16"/>
          <p:cNvSpPr/>
          <p:nvPr/>
        </p:nvSpPr>
        <p:spPr>
          <a:xfrm>
            <a:off x="9070848" y="2944368"/>
            <a:ext cx="2505456" cy="694944"/>
          </a:xfrm>
          <a:prstGeom prst="rect">
            <a:avLst/>
          </a:prstGeom>
          <a:noFill/>
          <a:ln/>
        </p:spPr>
        <p:txBody>
          <a:bodyPr wrap="square" lIns="0" tIns="0" rIns="0" bIns="0" rtlCol="0" anchor="t">
            <a:normAutofit/>
          </a:bodyPr>
          <a:lstStyle/>
          <a:p>
            <a:pPr indent="0" marL="0">
              <a:buNone/>
            </a:pPr>
            <a:r>
              <a:rPr lang="en-US" altLang="en-US" sz="2000" b="1" dirty="0">
                <a:solidFill>
                  <a:srgbClr val="19171D"/>
                </a:solidFill>
                <a:latin typeface="Aptos" pitchFamily="34" charset="0"/>
                <a:ea typeface="Aptos" pitchFamily="34" charset="-122"/>
                <a:cs typeface="Aptos" pitchFamily="34" charset="-120"/>
              </a:rPr>
              <a:t>AI can own</a:t>
            </a:r>
            <a:endParaRPr lang="en-US" sz="2000" dirty="0"/>
          </a:p>
          <a:p>
            <a:pPr indent="0" marL="0">
              <a:buNone/>
            </a:pPr>
            <a:r>
              <a:rPr lang="en-US" altLang="en-US" sz="2000" b="1" dirty="0">
                <a:solidFill>
                  <a:srgbClr val="19171D"/>
                </a:solidFill>
                <a:latin typeface="Aptos" pitchFamily="34" charset="0"/>
                <a:ea typeface="Aptos" pitchFamily="34" charset="-122"/>
                <a:cs typeface="Aptos" pitchFamily="34" charset="-120"/>
              </a:rPr>
              <a:t>the workflow</a:t>
            </a:r>
            <a:endParaRPr lang="en-US" sz="2000" dirty="0"/>
          </a:p>
        </p:txBody>
      </p:sp>
      <p:sp>
        <p:nvSpPr>
          <p:cNvPr id="20" name="Text 17"/>
          <p:cNvSpPr/>
          <p:nvPr/>
        </p:nvSpPr>
        <p:spPr>
          <a:xfrm>
            <a:off x="9070848" y="3822192"/>
            <a:ext cx="2505456" cy="822960"/>
          </a:xfrm>
          <a:prstGeom prst="rect">
            <a:avLst/>
          </a:prstGeom>
          <a:noFill/>
          <a:ln/>
        </p:spPr>
        <p:txBody>
          <a:bodyPr wrap="square" lIns="0" tIns="0" rIns="0" bIns="0" rtlCol="0" anchor="t">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Reason across the journey.</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Take routine actions.</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Escalate uncertainty.</a:t>
            </a:r>
            <a:endParaRPr lang="en-US" sz="1320" dirty="0"/>
          </a:p>
        </p:txBody>
      </p:sp>
      <p:sp>
        <p:nvSpPr>
          <p:cNvPr id="21" name="Shape 18"/>
          <p:cNvSpPr/>
          <p:nvPr/>
        </p:nvSpPr>
        <p:spPr>
          <a:xfrm>
            <a:off x="621792" y="5010912"/>
            <a:ext cx="10945368" cy="0"/>
          </a:xfrm>
          <a:prstGeom prst="line">
            <a:avLst/>
          </a:prstGeom>
          <a:noFill/>
          <a:ln w="12700">
            <a:solidFill>
              <a:srgbClr val="E5E2E9"/>
            </a:solidFill>
            <a:prstDash val="solid"/>
          </a:ln>
        </p:spPr>
      </p:sp>
      <p:sp>
        <p:nvSpPr>
          <p:cNvPr id="22" name="Text 19"/>
          <p:cNvSpPr/>
          <p:nvPr/>
        </p:nvSpPr>
        <p:spPr>
          <a:xfrm>
            <a:off x="621792" y="5257800"/>
            <a:ext cx="1453896"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66636D"/>
                </a:solidFill>
                <a:latin typeface="Aptos" pitchFamily="34" charset="0"/>
                <a:ea typeface="Aptos" pitchFamily="34" charset="-122"/>
                <a:cs typeface="Aptos" pitchFamily="34" charset="-120"/>
              </a:rPr>
              <a:t>TRADITIONAL</a:t>
            </a:r>
            <a:endParaRPr lang="en-US" sz="1000" dirty="0"/>
          </a:p>
        </p:txBody>
      </p:sp>
      <p:sp>
        <p:nvSpPr>
          <p:cNvPr id="23" name="Text 20"/>
          <p:cNvSpPr/>
          <p:nvPr/>
        </p:nvSpPr>
        <p:spPr>
          <a:xfrm>
            <a:off x="2276856" y="5212080"/>
            <a:ext cx="9290304" cy="292608"/>
          </a:xfrm>
          <a:prstGeom prst="rect">
            <a:avLst/>
          </a:prstGeom>
          <a:noFill/>
          <a:ln/>
        </p:spPr>
        <p:txBody>
          <a:bodyPr wrap="square" lIns="0" tIns="0" rIns="0" bIns="0" rtlCol="0" anchor="ctr">
            <a:normAutofit/>
          </a:bodyPr>
          <a:lstStyle/>
          <a:p>
            <a:pPr indent="0" marL="0">
              <a:buNone/>
            </a:pPr>
            <a:r>
              <a:rPr lang="en-US" altLang="en-US" sz="1500" dirty="0">
                <a:solidFill>
                  <a:srgbClr val="66636D"/>
                </a:solidFill>
                <a:latin typeface="Aptos" pitchFamily="34" charset="0"/>
                <a:ea typeface="Aptos" pitchFamily="34" charset="-122"/>
                <a:cs typeface="Aptos" pitchFamily="34" charset="-120"/>
              </a:rPr>
              <a:t>API → Script → Import → Human troubleshooting</a:t>
            </a:r>
            <a:endParaRPr lang="en-US" sz="1500" dirty="0"/>
          </a:p>
        </p:txBody>
      </p:sp>
      <p:sp>
        <p:nvSpPr>
          <p:cNvPr id="24" name="Text 21"/>
          <p:cNvSpPr/>
          <p:nvPr/>
        </p:nvSpPr>
        <p:spPr>
          <a:xfrm>
            <a:off x="621792" y="5669280"/>
            <a:ext cx="1453896"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AGENTIC</a:t>
            </a:r>
            <a:endParaRPr lang="en-US" sz="1000" dirty="0"/>
          </a:p>
        </p:txBody>
      </p:sp>
      <p:sp>
        <p:nvSpPr>
          <p:cNvPr id="25" name="Text 22"/>
          <p:cNvSpPr/>
          <p:nvPr/>
        </p:nvSpPr>
        <p:spPr>
          <a:xfrm>
            <a:off x="2276856" y="5623560"/>
            <a:ext cx="9290304" cy="310896"/>
          </a:xfrm>
          <a:prstGeom prst="rect">
            <a:avLst/>
          </a:prstGeom>
          <a:noFill/>
          <a:ln/>
        </p:spPr>
        <p:txBody>
          <a:bodyPr wrap="square" lIns="0" tIns="0" rIns="0" bIns="0" rtlCol="0" anchor="ctr">
            <a:normAutofit/>
          </a:bodyPr>
          <a:lstStyle/>
          <a:p>
            <a:pPr indent="0" marL="0">
              <a:buNone/>
            </a:pPr>
            <a:r>
              <a:rPr lang="en-US" altLang="en-US" sz="1450" b="1" dirty="0">
                <a:solidFill>
                  <a:srgbClr val="19171D"/>
                </a:solidFill>
                <a:latin typeface="Aptos" pitchFamily="34" charset="0"/>
                <a:ea typeface="Aptos" pitchFamily="34" charset="-122"/>
                <a:cs typeface="Aptos" pitchFamily="34" charset="-120"/>
              </a:rPr>
              <a:t>Goal → Discover → Reason → Map → Test → Execute → Remediate → Explain</a:t>
            </a:r>
            <a:endParaRPr lang="en-US" sz="1450" dirty="0"/>
          </a:p>
        </p:txBody>
      </p:sp>
      <p:sp>
        <p:nvSpPr>
          <p:cNvPr id="26" name="Text 23"/>
          <p:cNvSpPr/>
          <p:nvPr/>
        </p:nvSpPr>
        <p:spPr>
          <a:xfrm>
            <a:off x="621792" y="6153912"/>
            <a:ext cx="10945368" cy="246888"/>
          </a:xfrm>
          <a:prstGeom prst="rect">
            <a:avLst/>
          </a:prstGeom>
          <a:noFill/>
          <a:ln/>
        </p:spPr>
        <p:txBody>
          <a:bodyPr wrap="square" lIns="0" tIns="0" rIns="0" bIns="0" rtlCol="0" anchor="ctr">
            <a:normAutofit/>
          </a:bodyPr>
          <a:lstStyle/>
          <a:p>
            <a:pPr indent="0" marL="0">
              <a:buNone/>
            </a:pPr>
            <a:r>
              <a:rPr lang="en-US" altLang="en-US" sz="1550" b="1" dirty="0">
                <a:solidFill>
                  <a:srgbClr val="147E64"/>
                </a:solidFill>
                <a:latin typeface="Aptos" pitchFamily="34" charset="0"/>
                <a:ea typeface="Aptos" pitchFamily="34" charset="-122"/>
                <a:cs typeface="Aptos" pitchFamily="34" charset="-120"/>
              </a:rPr>
              <a:t>Not another migration script. Confidence before, during and after migration.</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6473952"/>
            <a:ext cx="10945368" cy="0"/>
          </a:xfrm>
          <a:prstGeom prst="line">
            <a:avLst/>
          </a:prstGeom>
          <a:noFill/>
          <a:ln w="8255">
            <a:solidFill>
              <a:srgbClr val="E5E2E9"/>
            </a:solidFill>
            <a:prstDash val="solid"/>
          </a:ln>
        </p:spPr>
      </p:sp>
      <p:sp>
        <p:nvSpPr>
          <p:cNvPr id="3" name="Text 1"/>
          <p:cNvSpPr/>
          <p:nvPr/>
        </p:nvSpPr>
        <p:spPr>
          <a:xfrm>
            <a:off x="621792" y="6592824"/>
            <a:ext cx="5486400" cy="137160"/>
          </a:xfrm>
          <a:prstGeom prst="rect">
            <a:avLst/>
          </a:prstGeom>
          <a:noFill/>
          <a:ln/>
        </p:spPr>
        <p:txBody>
          <a:bodyPr wrap="square" lIns="0" tIns="0" rIns="0" bIns="0" rtlCol="0" anchor="ctr">
            <a:normAutofit/>
          </a:bodyPr>
          <a:lstStyle/>
          <a:p>
            <a:pPr indent="0" marL="0">
              <a:buNone/>
            </a:pPr>
            <a:r>
              <a:rPr lang="en-US" altLang="en-US" sz="800" dirty="0">
                <a:solidFill>
                  <a:srgbClr val="95909D"/>
                </a:solidFill>
                <a:latin typeface="Aptos" pitchFamily="34" charset="0"/>
                <a:ea typeface="Aptos" pitchFamily="34" charset="-122"/>
                <a:cs typeface="Aptos" pitchFamily="34" charset="-120"/>
              </a:rPr>
              <a:t>ZEN / AUTONOMOUS ENTERPRISE MIGRATION</a:t>
            </a:r>
            <a:endParaRPr lang="en-US" sz="800" dirty="0"/>
          </a:p>
        </p:txBody>
      </p:sp>
      <p:sp>
        <p:nvSpPr>
          <p:cNvPr id="4" name="Text 2"/>
          <p:cNvSpPr/>
          <p:nvPr/>
        </p:nvSpPr>
        <p:spPr>
          <a:xfrm>
            <a:off x="11137392" y="6583680"/>
            <a:ext cx="429768" cy="155448"/>
          </a:xfrm>
          <a:prstGeom prst="rect">
            <a:avLst/>
          </a:prstGeom>
          <a:noFill/>
          <a:ln/>
        </p:spPr>
        <p:txBody>
          <a:bodyPr wrap="square" lIns="0" tIns="0" rIns="0" bIns="0" rtlCol="0" anchor="ctr">
            <a:normAutofit/>
          </a:bodyPr>
          <a:lstStyle/>
          <a:p>
            <a:pPr algn="r" indent="0" marL="0">
              <a:buNone/>
            </a:pPr>
            <a:r>
              <a:rPr lang="en-US" altLang="en-US" sz="800" dirty="0">
                <a:solidFill>
                  <a:srgbClr val="95909D"/>
                </a:solidFill>
                <a:latin typeface="Aptos" pitchFamily="34" charset="0"/>
                <a:ea typeface="Aptos" pitchFamily="34" charset="-122"/>
                <a:cs typeface="Aptos" pitchFamily="34" charset="-120"/>
              </a:rPr>
              <a:t>04</a:t>
            </a:r>
            <a:endParaRPr lang="en-US" sz="800" dirty="0"/>
          </a:p>
        </p:txBody>
      </p:sp>
      <p:sp>
        <p:nvSpPr>
          <p:cNvPr id="6" name="Text 3"/>
          <p:cNvSpPr/>
          <p:nvPr/>
        </p:nvSpPr>
        <p:spPr>
          <a:xfrm>
            <a:off x="621792" y="576072"/>
            <a:ext cx="108813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04 / THE SOLUTION</a:t>
            </a:r>
            <a:endParaRPr lang="en-US" sz="1000" dirty="0"/>
          </a:p>
        </p:txBody>
      </p:sp>
      <p:sp>
        <p:nvSpPr>
          <p:cNvPr id="7" name="Text 4"/>
          <p:cNvSpPr/>
          <p:nvPr/>
        </p:nvSpPr>
        <p:spPr>
          <a:xfrm>
            <a:off x="621792" y="905256"/>
            <a:ext cx="10945368" cy="603504"/>
          </a:xfrm>
          <a:prstGeom prst="rect">
            <a:avLst/>
          </a:prstGeom>
          <a:noFill/>
          <a:ln/>
        </p:spPr>
        <p:txBody>
          <a:bodyPr wrap="square" lIns="0" tIns="0" rIns="0" bIns="0" rtlCol="0" anchor="ctr">
            <a:normAutofit/>
          </a:bodyPr>
          <a:lstStyle/>
          <a:p>
            <a:pPr indent="0" marL="0">
              <a:buNone/>
            </a:pPr>
            <a:r>
              <a:rPr lang="en-US" altLang="en-US" sz="2900" b="1" dirty="0">
                <a:solidFill>
                  <a:srgbClr val="19171D"/>
                </a:solidFill>
                <a:latin typeface="Aptos Display" pitchFamily="34" charset="0"/>
                <a:ea typeface="Aptos Display" pitchFamily="34" charset="-122"/>
                <a:cs typeface="Aptos Display" pitchFamily="34" charset="-120"/>
              </a:rPr>
              <a:t>Zen turns migration into a confidence-based workflow.</a:t>
            </a:r>
            <a:endParaRPr lang="en-US" sz="2900" dirty="0"/>
          </a:p>
        </p:txBody>
      </p:sp>
      <p:sp>
        <p:nvSpPr>
          <p:cNvPr id="8" name="Text 5"/>
          <p:cNvSpPr/>
          <p:nvPr/>
        </p:nvSpPr>
        <p:spPr>
          <a:xfrm>
            <a:off x="621792" y="1554480"/>
            <a:ext cx="10945368" cy="347472"/>
          </a:xfrm>
          <a:prstGeom prst="rect">
            <a:avLst/>
          </a:prstGeom>
          <a:noFill/>
          <a:ln/>
        </p:spPr>
        <p:txBody>
          <a:bodyPr wrap="square" lIns="0" tIns="0" rIns="0" bIns="0" rtlCol="0" anchor="ctr">
            <a:normAutofit/>
          </a:bodyPr>
          <a:lstStyle/>
          <a:p>
            <a:pPr indent="0" marL="0">
              <a:buNone/>
            </a:pPr>
            <a:r>
              <a:rPr lang="en-US" altLang="en-US" sz="1350" dirty="0">
                <a:solidFill>
                  <a:srgbClr val="66636D"/>
                </a:solidFill>
                <a:latin typeface="Aptos" pitchFamily="34" charset="0"/>
                <a:ea typeface="Aptos" pitchFamily="34" charset="-122"/>
                <a:cs typeface="Aptos" pitchFamily="34" charset="-120"/>
              </a:rPr>
              <a:t>Test first. Execute when ready. Recover what is safe. Explain what remains.</a:t>
            </a:r>
            <a:endParaRPr lang="en-US" sz="1350" dirty="0"/>
          </a:p>
        </p:txBody>
      </p:sp>
      <p:sp>
        <p:nvSpPr>
          <p:cNvPr id="9" name="Shape 6"/>
          <p:cNvSpPr/>
          <p:nvPr/>
        </p:nvSpPr>
        <p:spPr>
          <a:xfrm>
            <a:off x="621792" y="2029968"/>
            <a:ext cx="10945368" cy="521208"/>
          </a:xfrm>
          <a:prstGeom prst="rect">
            <a:avLst>
              <a:gd name="adj" fmla="val 10526"/>
            </a:avLst>
          </a:prstGeom>
          <a:solidFill>
            <a:srgbClr val="F7F6F9"/>
          </a:solidFill>
          <a:ln w="8890">
            <a:solidFill>
              <a:srgbClr val="F7F6F9"/>
            </a:solidFill>
            <a:prstDash val="solid"/>
          </a:ln>
        </p:spPr>
      </p:sp>
      <p:sp>
        <p:nvSpPr>
          <p:cNvPr id="10" name="Text 7"/>
          <p:cNvSpPr/>
          <p:nvPr/>
        </p:nvSpPr>
        <p:spPr>
          <a:xfrm>
            <a:off x="813816" y="2194560"/>
            <a:ext cx="978408"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THE GOAL</a:t>
            </a:r>
            <a:endParaRPr lang="en-US" sz="1000" dirty="0"/>
          </a:p>
        </p:txBody>
      </p:sp>
      <p:sp>
        <p:nvSpPr>
          <p:cNvPr id="11" name="Text 8"/>
          <p:cNvSpPr/>
          <p:nvPr/>
        </p:nvSpPr>
        <p:spPr>
          <a:xfrm>
            <a:off x="1874520" y="2139696"/>
            <a:ext cx="9445752" cy="310896"/>
          </a:xfrm>
          <a:prstGeom prst="rect">
            <a:avLst/>
          </a:prstGeom>
          <a:noFill/>
          <a:ln/>
        </p:spPr>
        <p:txBody>
          <a:bodyPr wrap="square" lIns="0" tIns="0" rIns="0" bIns="0" rtlCol="0" anchor="ctr">
            <a:normAutofit/>
          </a:bodyPr>
          <a:lstStyle/>
          <a:p>
            <a:pPr indent="0" marL="0">
              <a:buNone/>
            </a:pPr>
            <a:r>
              <a:rPr lang="en-US" altLang="en-US" sz="1500" b="1" dirty="0">
                <a:solidFill>
                  <a:srgbClr val="19171D"/>
                </a:solidFill>
                <a:latin typeface="Aptos" pitchFamily="34" charset="0"/>
                <a:ea typeface="Aptos" pitchFamily="34" charset="-122"/>
                <a:cs typeface="Aptos" pitchFamily="34" charset="-120"/>
              </a:rPr>
              <a:t>"Migrate all employees and tickets from Jira Service Management to Freshservice."</a:t>
            </a:r>
            <a:endParaRPr lang="en-US" sz="1500" dirty="0"/>
          </a:p>
        </p:txBody>
      </p:sp>
      <p:sp>
        <p:nvSpPr>
          <p:cNvPr id="12" name="Text 9"/>
          <p:cNvSpPr/>
          <p:nvPr/>
        </p:nvSpPr>
        <p:spPr>
          <a:xfrm>
            <a:off x="621792" y="2816352"/>
            <a:ext cx="24231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01 / DISCOVER</a:t>
            </a:r>
            <a:endParaRPr lang="en-US" sz="1000" dirty="0"/>
          </a:p>
        </p:txBody>
      </p:sp>
      <p:sp>
        <p:nvSpPr>
          <p:cNvPr id="13" name="Text 10"/>
          <p:cNvSpPr/>
          <p:nvPr/>
        </p:nvSpPr>
        <p:spPr>
          <a:xfrm>
            <a:off x="621792" y="3145536"/>
            <a:ext cx="2377440" cy="868680"/>
          </a:xfrm>
          <a:prstGeom prst="rect">
            <a:avLst/>
          </a:prstGeom>
          <a:noFill/>
          <a:ln/>
        </p:spPr>
        <p:txBody>
          <a:bodyPr wrap="square" lIns="0" tIns="0" rIns="0" bIns="0" rtlCol="0" anchor="t">
            <a:normAutofit/>
          </a:bodyPr>
          <a:lstStyle/>
          <a:p>
            <a:pPr indent="0" marL="0">
              <a:buNone/>
            </a:pPr>
            <a:r>
              <a:rPr lang="en-US" altLang="en-US" sz="1200" dirty="0">
                <a:solidFill>
                  <a:srgbClr val="19171D"/>
                </a:solidFill>
                <a:latin typeface="Aptos" pitchFamily="34" charset="0"/>
                <a:ea typeface="Aptos" pitchFamily="34" charset="-122"/>
                <a:cs typeface="Aptos" pitchFamily="34" charset="-120"/>
              </a:rPr>
              <a:t>JSM: customers + tickets</a:t>
            </a:r>
            <a:endParaRPr lang="en-US" sz="1200" dirty="0"/>
          </a:p>
          <a:p>
            <a:pPr indent="0" marL="0">
              <a:buNone/>
            </a:pPr>
            <a:r>
              <a:rPr lang="en-US" altLang="en-US" sz="1200" dirty="0">
                <a:solidFill>
                  <a:srgbClr val="19171D"/>
                </a:solidFill>
                <a:latin typeface="Aptos" pitchFamily="34" charset="0"/>
                <a:ea typeface="Aptos" pitchFamily="34" charset="-122"/>
                <a:cs typeface="Aptos" pitchFamily="34" charset="-120"/>
              </a:rPr>
              <a:t>Freshservice: requesters,</a:t>
            </a:r>
            <a:endParaRPr lang="en-US" sz="1200" dirty="0"/>
          </a:p>
          <a:p>
            <a:pPr indent="0" marL="0">
              <a:buNone/>
            </a:pPr>
            <a:r>
              <a:rPr lang="en-US" altLang="en-US" sz="1200" dirty="0">
                <a:solidFill>
                  <a:srgbClr val="19171D"/>
                </a:solidFill>
                <a:latin typeface="Aptos" pitchFamily="34" charset="0"/>
                <a:ea typeface="Aptos" pitchFamily="34" charset="-122"/>
                <a:cs typeface="Aptos" pitchFamily="34" charset="-120"/>
              </a:rPr>
              <a:t>tickets, departments,</a:t>
            </a:r>
            <a:endParaRPr lang="en-US" sz="1200" dirty="0"/>
          </a:p>
          <a:p>
            <a:pPr indent="0" marL="0">
              <a:buNone/>
            </a:pPr>
            <a:r>
              <a:rPr lang="en-US" altLang="en-US" sz="1200" dirty="0">
                <a:solidFill>
                  <a:srgbClr val="19171D"/>
                </a:solidFill>
                <a:latin typeface="Aptos" pitchFamily="34" charset="0"/>
                <a:ea typeface="Aptos" pitchFamily="34" charset="-122"/>
                <a:cs typeface="Aptos" pitchFamily="34" charset="-120"/>
              </a:rPr>
              <a:t>workspaces</a:t>
            </a:r>
            <a:endParaRPr lang="en-US" sz="1200" dirty="0"/>
          </a:p>
        </p:txBody>
      </p:sp>
      <p:sp>
        <p:nvSpPr>
          <p:cNvPr id="14" name="Text 11"/>
          <p:cNvSpPr/>
          <p:nvPr/>
        </p:nvSpPr>
        <p:spPr>
          <a:xfrm>
            <a:off x="3154680" y="2798064"/>
            <a:ext cx="210312" cy="210312"/>
          </a:xfrm>
          <a:prstGeom prst="rect">
            <a:avLst/>
          </a:prstGeom>
          <a:noFill/>
          <a:ln/>
        </p:spPr>
        <p:txBody>
          <a:bodyPr wrap="square" lIns="0" tIns="0" rIns="0" bIns="0" rtlCol="0" anchor="ctr">
            <a:normAutofit/>
          </a:bodyPr>
          <a:lstStyle/>
          <a:p>
            <a:pPr indent="0" marL="0">
              <a:buNone/>
            </a:pPr>
            <a:r>
              <a:rPr lang="en-US" altLang="en-US" sz="1300" dirty="0">
                <a:solidFill>
                  <a:srgbClr val="95909D"/>
                </a:solidFill>
                <a:latin typeface="Aptos" pitchFamily="34" charset="0"/>
                <a:ea typeface="Aptos" pitchFamily="34" charset="-122"/>
                <a:cs typeface="Aptos" pitchFamily="34" charset="-120"/>
              </a:rPr>
              <a:t>→</a:t>
            </a:r>
            <a:endParaRPr lang="en-US" sz="1300" dirty="0"/>
          </a:p>
        </p:txBody>
      </p:sp>
      <p:sp>
        <p:nvSpPr>
          <p:cNvPr id="15" name="Text 12"/>
          <p:cNvSpPr/>
          <p:nvPr/>
        </p:nvSpPr>
        <p:spPr>
          <a:xfrm>
            <a:off x="3456432" y="2816352"/>
            <a:ext cx="24231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02 / MAP</a:t>
            </a:r>
            <a:endParaRPr lang="en-US" sz="1000" dirty="0"/>
          </a:p>
        </p:txBody>
      </p:sp>
      <p:sp>
        <p:nvSpPr>
          <p:cNvPr id="16" name="Text 13"/>
          <p:cNvSpPr/>
          <p:nvPr/>
        </p:nvSpPr>
        <p:spPr>
          <a:xfrm>
            <a:off x="3456432" y="3145536"/>
            <a:ext cx="2377440" cy="868680"/>
          </a:xfrm>
          <a:prstGeom prst="rect">
            <a:avLst/>
          </a:prstGeom>
          <a:noFill/>
          <a:ln/>
        </p:spPr>
        <p:txBody>
          <a:bodyPr wrap="square" lIns="0" tIns="0" rIns="0" bIns="0" rtlCol="0" anchor="t">
            <a:normAutofit/>
          </a:bodyPr>
          <a:lstStyle/>
          <a:p>
            <a:pPr indent="0" marL="0">
              <a:buNone/>
            </a:pPr>
            <a:r>
              <a:rPr lang="en-US" altLang="en-US" sz="1200" dirty="0">
                <a:solidFill>
                  <a:srgbClr val="19171D"/>
                </a:solidFill>
                <a:latin typeface="Aptos" pitchFamily="34" charset="0"/>
                <a:ea typeface="Aptos" pitchFamily="34" charset="-122"/>
                <a:cs typeface="Aptos" pitchFamily="34" charset="-120"/>
              </a:rPr>
              <a:t>Customer → Requester</a:t>
            </a:r>
            <a:endParaRPr lang="en-US" sz="1200" dirty="0"/>
          </a:p>
          <a:p>
            <a:pPr indent="0" marL="0">
              <a:buNone/>
            </a:pPr>
            <a:r>
              <a:rPr lang="en-US" altLang="en-US" sz="1200" dirty="0">
                <a:solidFill>
                  <a:srgbClr val="19171D"/>
                </a:solidFill>
                <a:latin typeface="Aptos" pitchFamily="34" charset="0"/>
                <a:ea typeface="Aptos" pitchFamily="34" charset="-122"/>
                <a:cs typeface="Aptos" pitchFamily="34" charset="-120"/>
              </a:rPr>
              <a:t>Ticket → Ticket</a:t>
            </a:r>
            <a:endParaRPr lang="en-US" sz="1200" dirty="0"/>
          </a:p>
          <a:p>
            <a:pPr indent="0" marL="0">
              <a:buNone/>
            </a:pPr>
            <a:r>
              <a:rPr lang="en-US" altLang="en-US" sz="1200" dirty="0">
                <a:solidFill>
                  <a:srgbClr val="19171D"/>
                </a:solidFill>
                <a:latin typeface="Aptos" pitchFamily="34" charset="0"/>
                <a:ea typeface="Aptos" pitchFamily="34" charset="-122"/>
                <a:cs typeface="Aptos" pitchFamily="34" charset="-120"/>
              </a:rPr>
              <a:t>Department → Workspace</a:t>
            </a:r>
            <a:endParaRPr lang="en-US" sz="1200" dirty="0"/>
          </a:p>
          <a:p>
            <a:pPr indent="0" marL="0">
              <a:buNone/>
            </a:pPr>
            <a:r>
              <a:rPr lang="en-US" altLang="en-US" sz="1200" dirty="0">
                <a:solidFill>
                  <a:srgbClr val="19171D"/>
                </a:solidFill>
                <a:latin typeface="Aptos" pitchFamily="34" charset="0"/>
                <a:ea typeface="Aptos" pitchFamily="34" charset="-122"/>
                <a:cs typeface="Aptos" pitchFamily="34" charset="-120"/>
              </a:rPr>
              <a:t>Priority / Status → same</a:t>
            </a:r>
            <a:endParaRPr lang="en-US" sz="1200" dirty="0"/>
          </a:p>
        </p:txBody>
      </p:sp>
      <p:sp>
        <p:nvSpPr>
          <p:cNvPr id="17" name="Text 14"/>
          <p:cNvSpPr/>
          <p:nvPr/>
        </p:nvSpPr>
        <p:spPr>
          <a:xfrm>
            <a:off x="5989320" y="2798064"/>
            <a:ext cx="210312" cy="210312"/>
          </a:xfrm>
          <a:prstGeom prst="rect">
            <a:avLst/>
          </a:prstGeom>
          <a:noFill/>
          <a:ln/>
        </p:spPr>
        <p:txBody>
          <a:bodyPr wrap="square" lIns="0" tIns="0" rIns="0" bIns="0" rtlCol="0" anchor="ctr">
            <a:normAutofit/>
          </a:bodyPr>
          <a:lstStyle/>
          <a:p>
            <a:pPr indent="0" marL="0">
              <a:buNone/>
            </a:pPr>
            <a:r>
              <a:rPr lang="en-US" altLang="en-US" sz="1300" dirty="0">
                <a:solidFill>
                  <a:srgbClr val="95909D"/>
                </a:solidFill>
                <a:latin typeface="Aptos" pitchFamily="34" charset="0"/>
                <a:ea typeface="Aptos" pitchFamily="34" charset="-122"/>
                <a:cs typeface="Aptos" pitchFamily="34" charset="-120"/>
              </a:rPr>
              <a:t>→</a:t>
            </a:r>
            <a:endParaRPr lang="en-US" sz="1300" dirty="0"/>
          </a:p>
        </p:txBody>
      </p:sp>
      <p:sp>
        <p:nvSpPr>
          <p:cNvPr id="18" name="Text 15"/>
          <p:cNvSpPr/>
          <p:nvPr/>
        </p:nvSpPr>
        <p:spPr>
          <a:xfrm>
            <a:off x="6291072" y="2816352"/>
            <a:ext cx="24231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03 / TEST</a:t>
            </a:r>
            <a:endParaRPr lang="en-US" sz="1000" dirty="0"/>
          </a:p>
        </p:txBody>
      </p:sp>
      <p:sp>
        <p:nvSpPr>
          <p:cNvPr id="19" name="Text 16"/>
          <p:cNvSpPr/>
          <p:nvPr/>
        </p:nvSpPr>
        <p:spPr>
          <a:xfrm>
            <a:off x="6291072" y="3145536"/>
            <a:ext cx="2377440" cy="868680"/>
          </a:xfrm>
          <a:prstGeom prst="rect">
            <a:avLst/>
          </a:prstGeom>
          <a:noFill/>
          <a:ln/>
        </p:spPr>
        <p:txBody>
          <a:bodyPr wrap="square" lIns="0" tIns="0" rIns="0" bIns="0" rtlCol="0" anchor="t">
            <a:normAutofit/>
          </a:bodyPr>
          <a:lstStyle/>
          <a:p>
            <a:pPr indent="0" marL="0">
              <a:buNone/>
            </a:pPr>
            <a:r>
              <a:rPr lang="en-US" altLang="en-US" sz="1310" dirty="0">
                <a:solidFill>
                  <a:srgbClr val="19171D"/>
                </a:solidFill>
                <a:latin typeface="Aptos" pitchFamily="34" charset="0"/>
                <a:ea typeface="Aptos" pitchFamily="34" charset="-122"/>
                <a:cs typeface="Aptos" pitchFamily="34" charset="-120"/>
              </a:rPr>
              <a:t>Controlled sample migration</a:t>
            </a:r>
            <a:endParaRPr lang="en-US" sz="1310" dirty="0"/>
          </a:p>
          <a:p>
            <a:pPr indent="0" marL="0">
              <a:buNone/>
            </a:pPr>
            <a:r>
              <a:rPr lang="en-US" altLang="en-US" sz="1310" dirty="0">
                <a:solidFill>
                  <a:srgbClr val="19171D"/>
                </a:solidFill>
                <a:latin typeface="Aptos" pitchFamily="34" charset="0"/>
                <a:ea typeface="Aptos" pitchFamily="34" charset="-122"/>
                <a:cs typeface="Aptos" pitchFamily="34" charset="-120"/>
              </a:rPr>
              <a:t>Validate before cutover</a:t>
            </a:r>
            <a:endParaRPr lang="en-US" sz="1310" dirty="0"/>
          </a:p>
        </p:txBody>
      </p:sp>
      <p:sp>
        <p:nvSpPr>
          <p:cNvPr id="20" name="Text 17"/>
          <p:cNvSpPr/>
          <p:nvPr/>
        </p:nvSpPr>
        <p:spPr>
          <a:xfrm>
            <a:off x="8823960" y="2798064"/>
            <a:ext cx="210312" cy="210312"/>
          </a:xfrm>
          <a:prstGeom prst="rect">
            <a:avLst/>
          </a:prstGeom>
          <a:noFill/>
          <a:ln/>
        </p:spPr>
        <p:txBody>
          <a:bodyPr wrap="square" lIns="0" tIns="0" rIns="0" bIns="0" rtlCol="0" anchor="ctr">
            <a:normAutofit/>
          </a:bodyPr>
          <a:lstStyle/>
          <a:p>
            <a:pPr indent="0" marL="0">
              <a:buNone/>
            </a:pPr>
            <a:r>
              <a:rPr lang="en-US" altLang="en-US" sz="1300" dirty="0">
                <a:solidFill>
                  <a:srgbClr val="95909D"/>
                </a:solidFill>
                <a:latin typeface="Aptos" pitchFamily="34" charset="0"/>
                <a:ea typeface="Aptos" pitchFamily="34" charset="-122"/>
                <a:cs typeface="Aptos" pitchFamily="34" charset="-120"/>
              </a:rPr>
              <a:t>→</a:t>
            </a:r>
            <a:endParaRPr lang="en-US" sz="1300" dirty="0"/>
          </a:p>
        </p:txBody>
      </p:sp>
      <p:sp>
        <p:nvSpPr>
          <p:cNvPr id="21" name="Shape 18"/>
          <p:cNvSpPr/>
          <p:nvPr/>
        </p:nvSpPr>
        <p:spPr>
          <a:xfrm>
            <a:off x="9006840" y="2706624"/>
            <a:ext cx="2578608" cy="1371600"/>
          </a:xfrm>
          <a:prstGeom prst="roundRect">
            <a:avLst>
              <a:gd name="adj" fmla="val 4000"/>
            </a:avLst>
          </a:prstGeom>
          <a:solidFill>
            <a:srgbClr val="EAF7F0"/>
          </a:solidFill>
          <a:ln w="8890">
            <a:solidFill>
              <a:srgbClr val="EAF7F0"/>
            </a:solidFill>
            <a:prstDash val="solid"/>
          </a:ln>
        </p:spPr>
      </p:sp>
      <p:sp>
        <p:nvSpPr>
          <p:cNvPr id="22" name="Text 19"/>
          <p:cNvSpPr/>
          <p:nvPr/>
        </p:nvSpPr>
        <p:spPr>
          <a:xfrm>
            <a:off x="9125712" y="3090672"/>
            <a:ext cx="2377440" cy="292608"/>
          </a:xfrm>
          <a:prstGeom prst="rect">
            <a:avLst/>
          </a:prstGeom>
          <a:noFill/>
          <a:ln/>
        </p:spPr>
        <p:txBody>
          <a:bodyPr wrap="square" lIns="0" tIns="0" rIns="0" bIns="0" rtlCol="0" anchor="ctr">
            <a:normAutofit/>
          </a:bodyPr>
          <a:lstStyle/>
          <a:p>
            <a:pPr indent="0" marL="0">
              <a:buNone/>
            </a:pPr>
            <a:r>
              <a:rPr lang="en-US" altLang="en-US" sz="1550" b="1" dirty="0">
                <a:solidFill>
                  <a:srgbClr val="147E64"/>
                </a:solidFill>
                <a:latin typeface="Aptos" pitchFamily="34" charset="0"/>
                <a:ea typeface="Aptos" pitchFamily="34" charset="-122"/>
                <a:cs typeface="Aptos" pitchFamily="34" charset="-120"/>
              </a:rPr>
              <a:t>Migration Readiness: 96%</a:t>
            </a:r>
            <a:endParaRPr lang="en-US" sz="1550" dirty="0"/>
          </a:p>
        </p:txBody>
      </p:sp>
      <p:sp>
        <p:nvSpPr>
          <p:cNvPr id="23" name="Text 20"/>
          <p:cNvSpPr/>
          <p:nvPr/>
        </p:nvSpPr>
        <p:spPr>
          <a:xfrm>
            <a:off x="9125712" y="2816352"/>
            <a:ext cx="24231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147E64"/>
                </a:solidFill>
                <a:latin typeface="Aptos" pitchFamily="34" charset="0"/>
                <a:ea typeface="Aptos" pitchFamily="34" charset="-122"/>
                <a:cs typeface="Aptos" pitchFamily="34" charset="-120"/>
              </a:rPr>
              <a:t>04 / ASSESS READINESS</a:t>
            </a:r>
            <a:endParaRPr lang="en-US" sz="1000" dirty="0"/>
          </a:p>
        </p:txBody>
      </p:sp>
      <p:sp>
        <p:nvSpPr>
          <p:cNvPr id="24" name="Text 21"/>
          <p:cNvSpPr/>
          <p:nvPr/>
        </p:nvSpPr>
        <p:spPr>
          <a:xfrm>
            <a:off x="9125712" y="3456432"/>
            <a:ext cx="2377440" cy="548640"/>
          </a:xfrm>
          <a:prstGeom prst="rect">
            <a:avLst/>
          </a:prstGeom>
          <a:noFill/>
          <a:ln/>
        </p:spPr>
        <p:txBody>
          <a:bodyPr wrap="square" lIns="0" tIns="0" rIns="0" bIns="0" rtlCol="0" anchor="t">
            <a:normAutofit/>
          </a:bodyPr>
          <a:lstStyle/>
          <a:p>
            <a:pPr indent="0" marL="0">
              <a:buNone/>
            </a:pPr>
            <a:r>
              <a:rPr lang="en-US" altLang="en-US" sz="1150" dirty="0">
                <a:solidFill>
                  <a:srgbClr val="147E64"/>
                </a:solidFill>
                <a:latin typeface="Aptos" pitchFamily="34" charset="0"/>
                <a:ea typeface="Aptos" pitchFamily="34" charset="-122"/>
                <a:cs typeface="Aptos" pitchFamily="34" charset="-120"/>
              </a:rPr>
              <a:t>✓ Required fields   ✓ Mapping</a:t>
            </a:r>
            <a:endParaRPr lang="en-US" sz="1150" dirty="0"/>
          </a:p>
          <a:p>
            <a:pPr indent="0" marL="0">
              <a:buNone/>
            </a:pPr>
            <a:r>
              <a:rPr lang="en-US" altLang="en-US" sz="1150" dirty="0">
                <a:solidFill>
                  <a:srgbClr val="147E64"/>
                </a:solidFill>
                <a:latin typeface="Aptos" pitchFamily="34" charset="0"/>
                <a:ea typeface="Aptos" pitchFamily="34" charset="-122"/>
                <a:cs typeface="Aptos" pitchFamily="34" charset="-120"/>
              </a:rPr>
              <a:t>✓ Workspace classification</a:t>
            </a:r>
            <a:endParaRPr lang="en-US" sz="1150" dirty="0"/>
          </a:p>
          <a:p>
            <a:pPr indent="0" marL="0">
              <a:buNone/>
            </a:pPr>
            <a:r>
              <a:rPr lang="en-US" altLang="en-US" sz="1150" dirty="0">
                <a:solidFill>
                  <a:srgbClr val="147E64"/>
                </a:solidFill>
                <a:latin typeface="Aptos" pitchFamily="34" charset="0"/>
                <a:ea typeface="Aptos" pitchFamily="34" charset="-122"/>
                <a:cs typeface="Aptos" pitchFamily="34" charset="-120"/>
              </a:rPr>
              <a:t>✓ Test migration   ✓ Validation</a:t>
            </a:r>
            <a:endParaRPr lang="en-US" sz="1150" dirty="0"/>
          </a:p>
        </p:txBody>
      </p:sp>
      <p:sp>
        <p:nvSpPr>
          <p:cNvPr id="25" name="Text 22"/>
          <p:cNvSpPr/>
          <p:nvPr/>
        </p:nvSpPr>
        <p:spPr>
          <a:xfrm>
            <a:off x="621792" y="4654296"/>
            <a:ext cx="24231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05 / EXECUTE</a:t>
            </a:r>
            <a:endParaRPr lang="en-US" sz="1000" dirty="0"/>
          </a:p>
        </p:txBody>
      </p:sp>
      <p:sp>
        <p:nvSpPr>
          <p:cNvPr id="26" name="Text 23"/>
          <p:cNvSpPr/>
          <p:nvPr/>
        </p:nvSpPr>
        <p:spPr>
          <a:xfrm>
            <a:off x="621792" y="4983480"/>
            <a:ext cx="2377440" cy="585216"/>
          </a:xfrm>
          <a:prstGeom prst="rect">
            <a:avLst/>
          </a:prstGeom>
          <a:noFill/>
          <a:ln/>
        </p:spPr>
        <p:txBody>
          <a:bodyPr wrap="square" lIns="0" tIns="0" rIns="0" bIns="0" rtlCol="0" anchor="t">
            <a:normAutofit/>
          </a:bodyPr>
          <a:lstStyle/>
          <a:p>
            <a:pPr indent="0" marL="0">
              <a:buNone/>
            </a:pPr>
            <a:r>
              <a:rPr lang="en-US" altLang="en-US" sz="1310" dirty="0">
                <a:solidFill>
                  <a:srgbClr val="19171D"/>
                </a:solidFill>
                <a:latin typeface="Aptos" pitchFamily="34" charset="0"/>
                <a:ea typeface="Aptos" pitchFamily="34" charset="-122"/>
                <a:cs typeface="Aptos" pitchFamily="34" charset="-120"/>
              </a:rPr>
              <a:t>Run the full migration</a:t>
            </a:r>
            <a:endParaRPr lang="en-US" sz="1310" dirty="0"/>
          </a:p>
          <a:p>
            <a:pPr indent="0" marL="0">
              <a:buNone/>
            </a:pPr>
            <a:r>
              <a:rPr lang="en-US" altLang="en-US" sz="1310" dirty="0">
                <a:solidFill>
                  <a:srgbClr val="19171D"/>
                </a:solidFill>
                <a:latin typeface="Aptos" pitchFamily="34" charset="0"/>
                <a:ea typeface="Aptos" pitchFamily="34" charset="-122"/>
                <a:cs typeface="Aptos" pitchFamily="34" charset="-120"/>
              </a:rPr>
              <a:t>with validated mappings</a:t>
            </a:r>
            <a:endParaRPr lang="en-US" sz="1310" dirty="0"/>
          </a:p>
        </p:txBody>
      </p:sp>
      <p:sp>
        <p:nvSpPr>
          <p:cNvPr id="27" name="Text 24"/>
          <p:cNvSpPr/>
          <p:nvPr/>
        </p:nvSpPr>
        <p:spPr>
          <a:xfrm>
            <a:off x="3154680" y="4636008"/>
            <a:ext cx="210312" cy="210312"/>
          </a:xfrm>
          <a:prstGeom prst="rect">
            <a:avLst/>
          </a:prstGeom>
          <a:noFill/>
          <a:ln/>
        </p:spPr>
        <p:txBody>
          <a:bodyPr wrap="square" lIns="0" tIns="0" rIns="0" bIns="0" rtlCol="0" anchor="ctr">
            <a:normAutofit/>
          </a:bodyPr>
          <a:lstStyle/>
          <a:p>
            <a:pPr indent="0" marL="0">
              <a:buNone/>
            </a:pPr>
            <a:r>
              <a:rPr lang="en-US" altLang="en-US" sz="1300" dirty="0">
                <a:solidFill>
                  <a:srgbClr val="95909D"/>
                </a:solidFill>
                <a:latin typeface="Aptos" pitchFamily="34" charset="0"/>
                <a:ea typeface="Aptos" pitchFamily="34" charset="-122"/>
                <a:cs typeface="Aptos" pitchFamily="34" charset="-120"/>
              </a:rPr>
              <a:t>→</a:t>
            </a:r>
            <a:endParaRPr lang="en-US" sz="1300" dirty="0"/>
          </a:p>
        </p:txBody>
      </p:sp>
      <p:sp>
        <p:nvSpPr>
          <p:cNvPr id="28" name="Text 25"/>
          <p:cNvSpPr/>
          <p:nvPr/>
        </p:nvSpPr>
        <p:spPr>
          <a:xfrm>
            <a:off x="3456432" y="4654296"/>
            <a:ext cx="24231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06 / REMEDIATE</a:t>
            </a:r>
            <a:endParaRPr lang="en-US" sz="1000" dirty="0"/>
          </a:p>
        </p:txBody>
      </p:sp>
      <p:sp>
        <p:nvSpPr>
          <p:cNvPr id="29" name="Text 26"/>
          <p:cNvSpPr/>
          <p:nvPr/>
        </p:nvSpPr>
        <p:spPr>
          <a:xfrm>
            <a:off x="3456432" y="4983480"/>
            <a:ext cx="2377440" cy="585216"/>
          </a:xfrm>
          <a:prstGeom prst="rect">
            <a:avLst/>
          </a:prstGeom>
          <a:noFill/>
          <a:ln/>
        </p:spPr>
        <p:txBody>
          <a:bodyPr wrap="square" lIns="0" tIns="0" rIns="0" bIns="0" rtlCol="0" anchor="t">
            <a:normAutofit/>
          </a:bodyPr>
          <a:lstStyle/>
          <a:p>
            <a:pPr indent="0" marL="0">
              <a:buNone/>
            </a:pPr>
            <a:r>
              <a:rPr lang="en-US" altLang="en-US" sz="1310" dirty="0">
                <a:solidFill>
                  <a:srgbClr val="19171D"/>
                </a:solidFill>
                <a:latin typeface="Aptos" pitchFamily="34" charset="0"/>
                <a:ea typeface="Aptos" pitchFamily="34" charset="-122"/>
                <a:cs typeface="Aptos" pitchFamily="34" charset="-120"/>
              </a:rPr>
              <a:t>Detect → Diagnose</a:t>
            </a:r>
            <a:endParaRPr lang="en-US" sz="1310" dirty="0"/>
          </a:p>
          <a:p>
            <a:pPr indent="0" marL="0">
              <a:buNone/>
            </a:pPr>
            <a:r>
              <a:rPr lang="en-US" altLang="en-US" sz="1310" dirty="0">
                <a:solidFill>
                  <a:srgbClr val="19171D"/>
                </a:solidFill>
                <a:latin typeface="Aptos" pitchFamily="34" charset="0"/>
                <a:ea typeface="Aptos" pitchFamily="34" charset="-122"/>
                <a:cs typeface="Aptos" pitchFamily="34" charset="-120"/>
              </a:rPr>
              <a:t>Fix → Retry</a:t>
            </a:r>
            <a:endParaRPr lang="en-US" sz="1310" dirty="0"/>
          </a:p>
        </p:txBody>
      </p:sp>
      <p:sp>
        <p:nvSpPr>
          <p:cNvPr id="30" name="Text 27"/>
          <p:cNvSpPr/>
          <p:nvPr/>
        </p:nvSpPr>
        <p:spPr>
          <a:xfrm>
            <a:off x="5989320" y="4636008"/>
            <a:ext cx="210312" cy="210312"/>
          </a:xfrm>
          <a:prstGeom prst="rect">
            <a:avLst/>
          </a:prstGeom>
          <a:noFill/>
          <a:ln/>
        </p:spPr>
        <p:txBody>
          <a:bodyPr wrap="square" lIns="0" tIns="0" rIns="0" bIns="0" rtlCol="0" anchor="ctr">
            <a:normAutofit/>
          </a:bodyPr>
          <a:lstStyle/>
          <a:p>
            <a:pPr indent="0" marL="0">
              <a:buNone/>
            </a:pPr>
            <a:r>
              <a:rPr lang="en-US" altLang="en-US" sz="1300" dirty="0">
                <a:solidFill>
                  <a:srgbClr val="95909D"/>
                </a:solidFill>
                <a:latin typeface="Aptos" pitchFamily="34" charset="0"/>
                <a:ea typeface="Aptos" pitchFamily="34" charset="-122"/>
                <a:cs typeface="Aptos" pitchFamily="34" charset="-120"/>
              </a:rPr>
              <a:t>→</a:t>
            </a:r>
            <a:endParaRPr lang="en-US" sz="1300" dirty="0"/>
          </a:p>
        </p:txBody>
      </p:sp>
      <p:sp>
        <p:nvSpPr>
          <p:cNvPr id="31" name="Text 28"/>
          <p:cNvSpPr/>
          <p:nvPr/>
        </p:nvSpPr>
        <p:spPr>
          <a:xfrm>
            <a:off x="6291072" y="4654296"/>
            <a:ext cx="24231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07 / RECONCILE</a:t>
            </a:r>
            <a:endParaRPr lang="en-US" sz="1000" dirty="0"/>
          </a:p>
        </p:txBody>
      </p:sp>
      <p:sp>
        <p:nvSpPr>
          <p:cNvPr id="32" name="Text 29"/>
          <p:cNvSpPr/>
          <p:nvPr/>
        </p:nvSpPr>
        <p:spPr>
          <a:xfrm>
            <a:off x="6291072" y="4983480"/>
            <a:ext cx="2377440" cy="585216"/>
          </a:xfrm>
          <a:prstGeom prst="rect">
            <a:avLst/>
          </a:prstGeom>
          <a:noFill/>
          <a:ln/>
        </p:spPr>
        <p:txBody>
          <a:bodyPr wrap="square" lIns="0" tIns="0" rIns="0" bIns="0" rtlCol="0" anchor="t">
            <a:normAutofit/>
          </a:bodyPr>
          <a:lstStyle/>
          <a:p>
            <a:pPr indent="0" marL="0">
              <a:buNone/>
            </a:pPr>
            <a:r>
              <a:rPr lang="en-US" altLang="en-US" sz="1310" dirty="0">
                <a:solidFill>
                  <a:srgbClr val="19171D"/>
                </a:solidFill>
                <a:latin typeface="Aptos" pitchFamily="34" charset="0"/>
                <a:ea typeface="Aptos" pitchFamily="34" charset="-122"/>
                <a:cs typeface="Aptos" pitchFamily="34" charset="-120"/>
              </a:rPr>
              <a:t>Compare source vs target</a:t>
            </a:r>
            <a:endParaRPr lang="en-US" sz="1310" dirty="0"/>
          </a:p>
          <a:p>
            <a:pPr indent="0" marL="0">
              <a:buNone/>
            </a:pPr>
            <a:r>
              <a:rPr lang="en-US" altLang="en-US" sz="1310" dirty="0">
                <a:solidFill>
                  <a:srgbClr val="19171D"/>
                </a:solidFill>
                <a:latin typeface="Aptos" pitchFamily="34" charset="0"/>
                <a:ea typeface="Aptos" pitchFamily="34" charset="-122"/>
                <a:cs typeface="Aptos" pitchFamily="34" charset="-120"/>
              </a:rPr>
              <a:t>Identify remaining exceptions</a:t>
            </a:r>
            <a:endParaRPr lang="en-US" sz="1310" dirty="0"/>
          </a:p>
        </p:txBody>
      </p:sp>
      <p:sp>
        <p:nvSpPr>
          <p:cNvPr id="33" name="Text 30"/>
          <p:cNvSpPr/>
          <p:nvPr/>
        </p:nvSpPr>
        <p:spPr>
          <a:xfrm>
            <a:off x="8823960" y="4636008"/>
            <a:ext cx="210312" cy="210312"/>
          </a:xfrm>
          <a:prstGeom prst="rect">
            <a:avLst/>
          </a:prstGeom>
          <a:noFill/>
          <a:ln/>
        </p:spPr>
        <p:txBody>
          <a:bodyPr wrap="square" lIns="0" tIns="0" rIns="0" bIns="0" rtlCol="0" anchor="ctr">
            <a:normAutofit/>
          </a:bodyPr>
          <a:lstStyle/>
          <a:p>
            <a:pPr indent="0" marL="0">
              <a:buNone/>
            </a:pPr>
            <a:r>
              <a:rPr lang="en-US" altLang="en-US" sz="1300" dirty="0">
                <a:solidFill>
                  <a:srgbClr val="95909D"/>
                </a:solidFill>
                <a:latin typeface="Aptos" pitchFamily="34" charset="0"/>
                <a:ea typeface="Aptos" pitchFamily="34" charset="-122"/>
                <a:cs typeface="Aptos" pitchFamily="34" charset="-120"/>
              </a:rPr>
              <a:t>→</a:t>
            </a:r>
            <a:endParaRPr lang="en-US" sz="1300" dirty="0"/>
          </a:p>
        </p:txBody>
      </p:sp>
      <p:sp>
        <p:nvSpPr>
          <p:cNvPr id="34" name="Text 31"/>
          <p:cNvSpPr/>
          <p:nvPr/>
        </p:nvSpPr>
        <p:spPr>
          <a:xfrm>
            <a:off x="9125712" y="4654296"/>
            <a:ext cx="24231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08 / EXPLAIN</a:t>
            </a:r>
            <a:endParaRPr lang="en-US" sz="1000" dirty="0"/>
          </a:p>
        </p:txBody>
      </p:sp>
      <p:sp>
        <p:nvSpPr>
          <p:cNvPr id="35" name="Text 32"/>
          <p:cNvSpPr/>
          <p:nvPr/>
        </p:nvSpPr>
        <p:spPr>
          <a:xfrm>
            <a:off x="9125712" y="4983480"/>
            <a:ext cx="2377440" cy="585216"/>
          </a:xfrm>
          <a:prstGeom prst="rect">
            <a:avLst/>
          </a:prstGeom>
          <a:noFill/>
          <a:ln/>
        </p:spPr>
        <p:txBody>
          <a:bodyPr wrap="square" lIns="0" tIns="0" rIns="0" bIns="0" rtlCol="0" anchor="t">
            <a:normAutofit/>
          </a:bodyPr>
          <a:lstStyle/>
          <a:p>
            <a:pPr indent="0" marL="0">
              <a:buNone/>
            </a:pPr>
            <a:r>
              <a:rPr lang="en-US" altLang="en-US" sz="1310" dirty="0">
                <a:solidFill>
                  <a:srgbClr val="19171D"/>
                </a:solidFill>
                <a:latin typeface="Aptos" pitchFamily="34" charset="0"/>
                <a:ea typeface="Aptos" pitchFamily="34" charset="-122"/>
                <a:cs typeface="Aptos" pitchFamily="34" charset="-120"/>
              </a:rPr>
              <a:t>Claude summarizes outcomes,</a:t>
            </a:r>
            <a:endParaRPr lang="en-US" sz="1310" dirty="0"/>
          </a:p>
          <a:p>
            <a:pPr indent="0" marL="0">
              <a:buNone/>
            </a:pPr>
            <a:r>
              <a:rPr lang="en-US" altLang="en-US" sz="1310" dirty="0">
                <a:solidFill>
                  <a:srgbClr val="19171D"/>
                </a:solidFill>
                <a:latin typeface="Aptos" pitchFamily="34" charset="0"/>
                <a:ea typeface="Aptos" pitchFamily="34" charset="-122"/>
                <a:cs typeface="Aptos" pitchFamily="34" charset="-120"/>
              </a:rPr>
              <a:t>fixes and open issues</a:t>
            </a:r>
            <a:endParaRPr lang="en-US" sz="1310" dirty="0"/>
          </a:p>
        </p:txBody>
      </p:sp>
      <p:sp>
        <p:nvSpPr>
          <p:cNvPr id="36" name="Shape 33"/>
          <p:cNvSpPr/>
          <p:nvPr/>
        </p:nvSpPr>
        <p:spPr>
          <a:xfrm>
            <a:off x="11740896" y="3346704"/>
            <a:ext cx="128016" cy="0"/>
          </a:xfrm>
          <a:prstGeom prst="line">
            <a:avLst/>
          </a:prstGeom>
          <a:noFill/>
          <a:ln w="15240">
            <a:solidFill>
              <a:srgbClr val="E5E2E9"/>
            </a:solidFill>
            <a:prstDash val="solid"/>
          </a:ln>
        </p:spPr>
      </p:sp>
      <p:sp>
        <p:nvSpPr>
          <p:cNvPr id="37" name="Shape 34"/>
          <p:cNvSpPr/>
          <p:nvPr/>
        </p:nvSpPr>
        <p:spPr>
          <a:xfrm>
            <a:off x="11868912" y="3346704"/>
            <a:ext cx="0" cy="978408"/>
          </a:xfrm>
          <a:prstGeom prst="line">
            <a:avLst/>
          </a:prstGeom>
          <a:noFill/>
          <a:ln w="15240">
            <a:solidFill>
              <a:srgbClr val="E5E2E9"/>
            </a:solidFill>
            <a:prstDash val="solid"/>
          </a:ln>
        </p:spPr>
      </p:sp>
      <p:sp>
        <p:nvSpPr>
          <p:cNvPr id="38" name="Shape 35"/>
          <p:cNvSpPr/>
          <p:nvPr/>
        </p:nvSpPr>
        <p:spPr>
          <a:xfrm flipH="1">
            <a:off x="429768" y="4325112"/>
            <a:ext cx="11439144" cy="0"/>
          </a:xfrm>
          <a:prstGeom prst="line">
            <a:avLst/>
          </a:prstGeom>
          <a:noFill/>
          <a:ln w="15240">
            <a:solidFill>
              <a:srgbClr val="E5E2E9"/>
            </a:solidFill>
            <a:prstDash val="solid"/>
          </a:ln>
        </p:spPr>
      </p:sp>
      <p:sp>
        <p:nvSpPr>
          <p:cNvPr id="39" name="Shape 36"/>
          <p:cNvSpPr/>
          <p:nvPr/>
        </p:nvSpPr>
        <p:spPr>
          <a:xfrm>
            <a:off x="429768" y="4325112"/>
            <a:ext cx="0" cy="411480"/>
          </a:xfrm>
          <a:prstGeom prst="line">
            <a:avLst/>
          </a:prstGeom>
          <a:noFill/>
          <a:ln w="15240">
            <a:solidFill>
              <a:srgbClr val="E5E2E9"/>
            </a:solidFill>
            <a:prstDash val="solid"/>
          </a:ln>
        </p:spPr>
      </p:sp>
      <p:sp>
        <p:nvSpPr>
          <p:cNvPr id="40" name="Shape 37"/>
          <p:cNvSpPr/>
          <p:nvPr/>
        </p:nvSpPr>
        <p:spPr>
          <a:xfrm>
            <a:off x="429768" y="4736592"/>
            <a:ext cx="137160" cy="0"/>
          </a:xfrm>
          <a:prstGeom prst="line">
            <a:avLst/>
          </a:prstGeom>
          <a:noFill/>
          <a:ln w="15240">
            <a:solidFill>
              <a:srgbClr val="E5E2E9"/>
            </a:solidFill>
            <a:prstDash val="solid"/>
            <a:tailEnd type="triangle"/>
          </a:ln>
        </p:spPr>
      </p:sp>
      <p:sp>
        <p:nvSpPr>
          <p:cNvPr id="41" name="Text 38"/>
          <p:cNvSpPr/>
          <p:nvPr/>
        </p:nvSpPr>
        <p:spPr>
          <a:xfrm>
            <a:off x="9226296" y="4087368"/>
            <a:ext cx="2340864" cy="182880"/>
          </a:xfrm>
          <a:prstGeom prst="rect">
            <a:avLst/>
          </a:prstGeom>
          <a:noFill/>
          <a:ln/>
        </p:spPr>
        <p:txBody>
          <a:bodyPr wrap="square" lIns="0" tIns="0" rIns="0" bIns="0" rtlCol="0" anchor="ctr">
            <a:normAutofit/>
          </a:bodyPr>
          <a:lstStyle/>
          <a:p>
            <a:pPr algn="r" indent="0" marL="0">
              <a:buNone/>
            </a:pPr>
            <a:r>
              <a:rPr lang="en-US" altLang="en-US" sz="1000" b="1" dirty="0">
                <a:solidFill>
                  <a:srgbClr val="147E64"/>
                </a:solidFill>
                <a:latin typeface="Aptos" pitchFamily="34" charset="0"/>
                <a:ea typeface="Aptos" pitchFamily="34" charset="-122"/>
                <a:cs typeface="Aptos" pitchFamily="34" charset="-120"/>
              </a:rPr>
              <a:t>READY TO PROCEED</a:t>
            </a:r>
            <a:endParaRPr lang="en-US" sz="1000" dirty="0"/>
          </a:p>
        </p:txBody>
      </p:sp>
      <p:sp>
        <p:nvSpPr>
          <p:cNvPr id="42" name="Text 39"/>
          <p:cNvSpPr/>
          <p:nvPr/>
        </p:nvSpPr>
        <p:spPr>
          <a:xfrm>
            <a:off x="621792" y="5989320"/>
            <a:ext cx="10945368" cy="292608"/>
          </a:xfrm>
          <a:prstGeom prst="rect">
            <a:avLst/>
          </a:prstGeom>
          <a:noFill/>
          <a:ln/>
        </p:spPr>
        <p:txBody>
          <a:bodyPr wrap="square" lIns="0" tIns="0" rIns="0" bIns="0" rtlCol="0" anchor="ctr">
            <a:normAutofit/>
          </a:bodyPr>
          <a:lstStyle/>
          <a:p>
            <a:pPr indent="0" marL="0">
              <a:buNone/>
            </a:pPr>
            <a:r>
              <a:rPr lang="en-US" altLang="en-US" sz="1700" b="1" dirty="0">
                <a:solidFill>
                  <a:srgbClr val="19171D"/>
                </a:solidFill>
                <a:latin typeface="Aptos" pitchFamily="34" charset="0"/>
                <a:ea typeface="Aptos" pitchFamily="34" charset="-122"/>
                <a:cs typeface="Aptos" pitchFamily="34" charset="-120"/>
              </a:rPr>
              <a:t>Automate where confidence is high. Escalate where judgment is required.</a:t>
            </a:r>
            <a:endParaRPr lang="en-US" sz="1700" dirty="0"/>
          </a:p>
        </p:txBody>
      </p:sp>
      <p:sp>
        <p:nvSpPr>
          <p:cNvPr id="43" name="Text 40"/>
          <p:cNvSpPr/>
          <p:nvPr/>
        </p:nvSpPr>
        <p:spPr>
          <a:xfrm>
            <a:off x="621792" y="6336792"/>
            <a:ext cx="10945368" cy="118872"/>
          </a:xfrm>
          <a:prstGeom prst="rect">
            <a:avLst/>
          </a:prstGeom>
          <a:noFill/>
          <a:ln/>
        </p:spPr>
        <p:txBody>
          <a:bodyPr wrap="square" lIns="0" tIns="0" rIns="0" bIns="0" rtlCol="0" anchor="ctr">
            <a:normAutofit/>
          </a:bodyPr>
          <a:lstStyle/>
          <a:p>
            <a:pPr indent="0" marL="0">
              <a:buNone/>
            </a:pPr>
            <a:r>
              <a:rPr lang="en-US" altLang="en-US" sz="850" dirty="0">
                <a:solidFill>
                  <a:srgbClr val="95909D"/>
                </a:solidFill>
                <a:latin typeface="Aptos" pitchFamily="34" charset="0"/>
                <a:ea typeface="Aptos" pitchFamily="34" charset="-122"/>
                <a:cs typeface="Aptos" pitchFamily="34" charset="-120"/>
              </a:rPr>
              <a:t>Readiness score shown is an illustrative example.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9171D"/>
        </a:solidFill>
      </p:bgPr>
    </p:bg>
    <p:spTree>
      <p:nvGrpSpPr>
        <p:cNvPr id="1" name=""/>
        <p:cNvGrpSpPr/>
        <p:nvPr/>
      </p:nvGrpSpPr>
      <p:grpSpPr>
        <a:xfrm>
          <a:off x="0" y="0"/>
          <a:ext cx="0" cy="0"/>
          <a:chOff x="0" y="0"/>
          <a:chExt cx="0" cy="0"/>
        </a:xfrm>
      </p:grpSpPr>
      <p:sp>
        <p:nvSpPr>
          <p:cNvPr id="2" name="Shape 0"/>
          <p:cNvSpPr/>
          <p:nvPr/>
        </p:nvSpPr>
        <p:spPr>
          <a:xfrm>
            <a:off x="621792" y="6473952"/>
            <a:ext cx="10945368" cy="0"/>
          </a:xfrm>
          <a:prstGeom prst="line">
            <a:avLst/>
          </a:prstGeom>
          <a:noFill/>
          <a:ln w="8255">
            <a:solidFill>
              <a:srgbClr val="3A3542"/>
            </a:solidFill>
            <a:prstDash val="solid"/>
          </a:ln>
        </p:spPr>
      </p:sp>
      <p:sp>
        <p:nvSpPr>
          <p:cNvPr id="3" name="Text 1"/>
          <p:cNvSpPr/>
          <p:nvPr/>
        </p:nvSpPr>
        <p:spPr>
          <a:xfrm>
            <a:off x="621792" y="6592824"/>
            <a:ext cx="5486400" cy="137160"/>
          </a:xfrm>
          <a:prstGeom prst="rect">
            <a:avLst/>
          </a:prstGeom>
          <a:noFill/>
          <a:ln/>
        </p:spPr>
        <p:txBody>
          <a:bodyPr wrap="square" lIns="0" tIns="0" rIns="0" bIns="0" rtlCol="0" anchor="ctr">
            <a:normAutofit/>
          </a:bodyPr>
          <a:lstStyle/>
          <a:p>
            <a:pPr indent="0" marL="0">
              <a:buNone/>
            </a:pPr>
            <a:r>
              <a:rPr lang="en-US" altLang="en-US" sz="800" dirty="0">
                <a:solidFill>
                  <a:srgbClr val="B9B2C3"/>
                </a:solidFill>
                <a:latin typeface="Aptos" pitchFamily="34" charset="0"/>
                <a:ea typeface="Aptos" pitchFamily="34" charset="-122"/>
                <a:cs typeface="Aptos" pitchFamily="34" charset="-120"/>
              </a:rPr>
              <a:t>ZEN / AUTONOMOUS ENTERPRISE MIGRATION</a:t>
            </a:r>
            <a:endParaRPr lang="en-US" sz="800" dirty="0"/>
          </a:p>
        </p:txBody>
      </p:sp>
      <p:sp>
        <p:nvSpPr>
          <p:cNvPr id="4" name="Text 2"/>
          <p:cNvSpPr/>
          <p:nvPr/>
        </p:nvSpPr>
        <p:spPr>
          <a:xfrm>
            <a:off x="11137392" y="6583680"/>
            <a:ext cx="429768" cy="155448"/>
          </a:xfrm>
          <a:prstGeom prst="rect">
            <a:avLst/>
          </a:prstGeom>
          <a:noFill/>
          <a:ln/>
        </p:spPr>
        <p:txBody>
          <a:bodyPr wrap="square" lIns="0" tIns="0" rIns="0" bIns="0" rtlCol="0" anchor="ctr">
            <a:normAutofit/>
          </a:bodyPr>
          <a:lstStyle/>
          <a:p>
            <a:pPr algn="r" indent="0" marL="0">
              <a:buNone/>
            </a:pPr>
            <a:r>
              <a:rPr lang="en-US" altLang="en-US" sz="800" dirty="0">
                <a:solidFill>
                  <a:srgbClr val="B9B2C3"/>
                </a:solidFill>
                <a:latin typeface="Aptos" pitchFamily="34" charset="0"/>
                <a:ea typeface="Aptos" pitchFamily="34" charset="-122"/>
                <a:cs typeface="Aptos" pitchFamily="34" charset="-120"/>
              </a:rPr>
              <a:t>05</a:t>
            </a:r>
            <a:endParaRPr lang="en-US" sz="800" dirty="0"/>
          </a:p>
        </p:txBody>
      </p:sp>
      <p:sp>
        <p:nvSpPr>
          <p:cNvPr id="6" name="Text 3"/>
          <p:cNvSpPr/>
          <p:nvPr/>
        </p:nvSpPr>
        <p:spPr>
          <a:xfrm>
            <a:off x="621792" y="576072"/>
            <a:ext cx="108813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CDA6FF"/>
                </a:solidFill>
                <a:latin typeface="Aptos" pitchFamily="34" charset="0"/>
                <a:ea typeface="Aptos" pitchFamily="34" charset="-122"/>
                <a:cs typeface="Aptos" pitchFamily="34" charset="-120"/>
              </a:rPr>
              <a:t>05 / HOW ZEN WORKS</a:t>
            </a:r>
            <a:endParaRPr lang="en-US" sz="1000" dirty="0"/>
          </a:p>
        </p:txBody>
      </p:sp>
      <p:sp>
        <p:nvSpPr>
          <p:cNvPr id="7" name="Text 4"/>
          <p:cNvSpPr/>
          <p:nvPr/>
        </p:nvSpPr>
        <p:spPr>
          <a:xfrm>
            <a:off x="621792" y="905256"/>
            <a:ext cx="10945368" cy="603504"/>
          </a:xfrm>
          <a:prstGeom prst="rect">
            <a:avLst/>
          </a:prstGeom>
          <a:noFill/>
          <a:ln/>
        </p:spPr>
        <p:txBody>
          <a:bodyPr wrap="square" lIns="0" tIns="0" rIns="0" bIns="0" rtlCol="0" anchor="ctr">
            <a:normAutofit/>
          </a:bodyPr>
          <a:lstStyle/>
          <a:p>
            <a:pPr indent="0" marL="0">
              <a:buNone/>
            </a:pPr>
            <a:r>
              <a:rPr lang="en-US" altLang="en-US" sz="2900" b="1" dirty="0">
                <a:solidFill>
                  <a:srgbClr val="FFFFFF"/>
                </a:solidFill>
                <a:latin typeface="Aptos Display" pitchFamily="34" charset="0"/>
                <a:ea typeface="Aptos Display" pitchFamily="34" charset="-122"/>
                <a:cs typeface="Aptos Display" pitchFamily="34" charset="-120"/>
              </a:rPr>
              <a:t>From natural language → autonomous execution</a:t>
            </a:r>
            <a:endParaRPr lang="en-US" sz="2900" dirty="0"/>
          </a:p>
        </p:txBody>
      </p:sp>
      <p:sp>
        <p:nvSpPr>
          <p:cNvPr id="8" name="Text 5"/>
          <p:cNvSpPr/>
          <p:nvPr/>
        </p:nvSpPr>
        <p:spPr>
          <a:xfrm>
            <a:off x="621792" y="1554480"/>
            <a:ext cx="10945368" cy="347472"/>
          </a:xfrm>
          <a:prstGeom prst="rect">
            <a:avLst/>
          </a:prstGeom>
          <a:noFill/>
          <a:ln/>
        </p:spPr>
        <p:txBody>
          <a:bodyPr wrap="square" lIns="0" tIns="0" rIns="0" bIns="0" rtlCol="0" anchor="ctr">
            <a:normAutofit/>
          </a:bodyPr>
          <a:lstStyle/>
          <a:p>
            <a:pPr indent="0" marL="0">
              <a:buNone/>
            </a:pPr>
            <a:r>
              <a:rPr lang="en-US" altLang="en-US" sz="1350" dirty="0">
                <a:solidFill>
                  <a:srgbClr val="B9B2C3"/>
                </a:solidFill>
                <a:latin typeface="Aptos" pitchFamily="34" charset="0"/>
                <a:ea typeface="Aptos" pitchFamily="34" charset="-122"/>
                <a:cs typeface="Aptos" pitchFamily="34" charset="-120"/>
              </a:rPr>
              <a:t>Proposed architecture / A readiness gate and an explicit human-review path.</a:t>
            </a:r>
            <a:endParaRPr lang="en-US" sz="1350" dirty="0"/>
          </a:p>
        </p:txBody>
      </p:sp>
      <p:sp>
        <p:nvSpPr>
          <p:cNvPr id="9" name="Shape 6"/>
          <p:cNvSpPr/>
          <p:nvPr/>
        </p:nvSpPr>
        <p:spPr>
          <a:xfrm>
            <a:off x="3968496" y="2075688"/>
            <a:ext cx="3749040" cy="438912"/>
          </a:xfrm>
          <a:prstGeom prst="roundRect">
            <a:avLst>
              <a:gd name="adj" fmla="val 12500"/>
            </a:avLst>
          </a:prstGeom>
          <a:solidFill>
            <a:srgbClr val="853BDD"/>
          </a:solidFill>
          <a:ln w="8890">
            <a:solidFill>
              <a:srgbClr val="853BDD"/>
            </a:solidFill>
            <a:prstDash val="solid"/>
          </a:ln>
        </p:spPr>
      </p:sp>
      <p:sp>
        <p:nvSpPr>
          <p:cNvPr id="10" name="Text 7"/>
          <p:cNvSpPr/>
          <p:nvPr/>
        </p:nvSpPr>
        <p:spPr>
          <a:xfrm>
            <a:off x="4087368" y="2121408"/>
            <a:ext cx="3511296" cy="347472"/>
          </a:xfrm>
          <a:prstGeom prst="rect">
            <a:avLst/>
          </a:prstGeom>
          <a:noFill/>
          <a:ln/>
        </p:spPr>
        <p:txBody>
          <a:bodyPr wrap="square" lIns="0" tIns="0" rIns="0" bIns="0" rtlCol="0" anchor="ctr">
            <a:normAutofit/>
          </a:bodyPr>
          <a:lstStyle/>
          <a:p>
            <a:pPr algn="ctr" indent="0" marL="0">
              <a:buNone/>
            </a:pPr>
            <a:r>
              <a:rPr lang="en-US" altLang="en-US" sz="1300" b="1" dirty="0">
                <a:solidFill>
                  <a:srgbClr val="FFFFFF"/>
                </a:solidFill>
                <a:latin typeface="Aptos" pitchFamily="34" charset="0"/>
                <a:ea typeface="Aptos" pitchFamily="34" charset="-122"/>
                <a:cs typeface="Aptos" pitchFamily="34" charset="-120"/>
              </a:rPr>
              <a:t>USER: "Migrate JSM to Freshservice"</a:t>
            </a:r>
            <a:endParaRPr lang="en-US" sz="1300" dirty="0"/>
          </a:p>
        </p:txBody>
      </p:sp>
      <p:sp>
        <p:nvSpPr>
          <p:cNvPr id="11" name="Shape 8"/>
          <p:cNvSpPr/>
          <p:nvPr/>
        </p:nvSpPr>
        <p:spPr>
          <a:xfrm>
            <a:off x="4425696" y="2770632"/>
            <a:ext cx="2843784" cy="630936"/>
          </a:xfrm>
          <a:prstGeom prst="roundRect">
            <a:avLst>
              <a:gd name="adj" fmla="val 8696"/>
            </a:avLst>
          </a:prstGeom>
          <a:solidFill>
            <a:srgbClr val="242129"/>
          </a:solidFill>
          <a:ln w="8890">
            <a:solidFill>
              <a:srgbClr val="CDA6FF"/>
            </a:solidFill>
            <a:prstDash val="solid"/>
          </a:ln>
        </p:spPr>
      </p:sp>
      <p:sp>
        <p:nvSpPr>
          <p:cNvPr id="12" name="Text 9"/>
          <p:cNvSpPr/>
          <p:nvPr/>
        </p:nvSpPr>
        <p:spPr>
          <a:xfrm>
            <a:off x="4544568" y="2862072"/>
            <a:ext cx="2606040" cy="228600"/>
          </a:xfrm>
          <a:prstGeom prst="rect">
            <a:avLst/>
          </a:prstGeom>
          <a:noFill/>
          <a:ln/>
        </p:spPr>
        <p:txBody>
          <a:bodyPr wrap="square" lIns="0" tIns="0" rIns="0" bIns="0" rtlCol="0" anchor="ctr">
            <a:normAutofit/>
          </a:bodyPr>
          <a:lstStyle/>
          <a:p>
            <a:pPr algn="ctr" indent="0" marL="0">
              <a:buNone/>
            </a:pPr>
            <a:r>
              <a:rPr lang="en-US" altLang="en-US" sz="1300" b="1" dirty="0">
                <a:solidFill>
                  <a:srgbClr val="FFFFFF"/>
                </a:solidFill>
                <a:latin typeface="Aptos" pitchFamily="34" charset="0"/>
                <a:ea typeface="Aptos" pitchFamily="34" charset="-122"/>
                <a:cs typeface="Aptos" pitchFamily="34" charset="-120"/>
              </a:rPr>
              <a:t>ZEN AGENT</a:t>
            </a:r>
            <a:endParaRPr lang="en-US" sz="1300" dirty="0"/>
          </a:p>
        </p:txBody>
      </p:sp>
      <p:sp>
        <p:nvSpPr>
          <p:cNvPr id="13" name="Text 10"/>
          <p:cNvSpPr/>
          <p:nvPr/>
        </p:nvSpPr>
        <p:spPr>
          <a:xfrm>
            <a:off x="4544568" y="3136392"/>
            <a:ext cx="2606040" cy="192024"/>
          </a:xfrm>
          <a:prstGeom prst="rect">
            <a:avLst/>
          </a:prstGeom>
          <a:noFill/>
          <a:ln/>
        </p:spPr>
        <p:txBody>
          <a:bodyPr wrap="square" lIns="0" tIns="0" rIns="0" bIns="0" rtlCol="0" anchor="ctr">
            <a:normAutofit/>
          </a:bodyPr>
          <a:lstStyle/>
          <a:p>
            <a:pPr algn="ctr" indent="0" marL="0">
              <a:buNone/>
            </a:pPr>
            <a:r>
              <a:rPr lang="en-US" altLang="en-US" sz="1000" dirty="0">
                <a:solidFill>
                  <a:srgbClr val="B9B2C3"/>
                </a:solidFill>
                <a:latin typeface="Aptos" pitchFamily="34" charset="0"/>
                <a:ea typeface="Aptos" pitchFamily="34" charset="-122"/>
                <a:cs typeface="Aptos" pitchFamily="34" charset="-120"/>
              </a:rPr>
              <a:t>Goal interpreter / Zen Migration Engine</a:t>
            </a:r>
            <a:endParaRPr lang="en-US" sz="1000" dirty="0"/>
          </a:p>
        </p:txBody>
      </p:sp>
      <p:sp>
        <p:nvSpPr>
          <p:cNvPr id="14" name="Shape 11"/>
          <p:cNvSpPr/>
          <p:nvPr/>
        </p:nvSpPr>
        <p:spPr>
          <a:xfrm>
            <a:off x="621792" y="2889504"/>
            <a:ext cx="2176272" cy="795528"/>
          </a:xfrm>
          <a:prstGeom prst="roundRect">
            <a:avLst>
              <a:gd name="adj" fmla="val 6897"/>
            </a:avLst>
          </a:prstGeom>
          <a:solidFill>
            <a:srgbClr val="242129"/>
          </a:solidFill>
          <a:ln w="8890">
            <a:solidFill>
              <a:srgbClr val="3A3542"/>
            </a:solidFill>
            <a:prstDash val="solid"/>
          </a:ln>
        </p:spPr>
      </p:sp>
      <p:sp>
        <p:nvSpPr>
          <p:cNvPr id="15" name="Text 12"/>
          <p:cNvSpPr/>
          <p:nvPr/>
        </p:nvSpPr>
        <p:spPr>
          <a:xfrm>
            <a:off x="740664" y="2980944"/>
            <a:ext cx="1938528" cy="228600"/>
          </a:xfrm>
          <a:prstGeom prst="rect">
            <a:avLst/>
          </a:prstGeom>
          <a:noFill/>
          <a:ln/>
        </p:spPr>
        <p:txBody>
          <a:bodyPr wrap="square" lIns="0" tIns="0" rIns="0" bIns="0" rtlCol="0" anchor="ctr">
            <a:normAutofit/>
          </a:bodyPr>
          <a:lstStyle/>
          <a:p>
            <a:pPr algn="ctr" indent="0" marL="0">
              <a:buNone/>
            </a:pPr>
            <a:r>
              <a:rPr lang="en-US" altLang="en-US" sz="1300" b="1" dirty="0">
                <a:solidFill>
                  <a:srgbClr val="FFFFFF"/>
                </a:solidFill>
                <a:latin typeface="Aptos" pitchFamily="34" charset="0"/>
                <a:ea typeface="Aptos" pitchFamily="34" charset="-122"/>
                <a:cs typeface="Aptos" pitchFamily="34" charset="-120"/>
              </a:rPr>
              <a:t>JSM SOURCE</a:t>
            </a:r>
            <a:endParaRPr lang="en-US" sz="1300" dirty="0"/>
          </a:p>
        </p:txBody>
      </p:sp>
      <p:sp>
        <p:nvSpPr>
          <p:cNvPr id="16" name="Text 13"/>
          <p:cNvSpPr/>
          <p:nvPr/>
        </p:nvSpPr>
        <p:spPr>
          <a:xfrm>
            <a:off x="740664" y="3255264"/>
            <a:ext cx="1938528" cy="356616"/>
          </a:xfrm>
          <a:prstGeom prst="rect">
            <a:avLst/>
          </a:prstGeom>
          <a:noFill/>
          <a:ln/>
        </p:spPr>
        <p:txBody>
          <a:bodyPr wrap="square" lIns="0" tIns="0" rIns="0" bIns="0" rtlCol="0" anchor="ctr">
            <a:normAutofit/>
          </a:bodyPr>
          <a:lstStyle/>
          <a:p>
            <a:pPr algn="ctr" indent="0" marL="0">
              <a:buNone/>
            </a:pPr>
            <a:r>
              <a:rPr lang="en-US" altLang="en-US" sz="1050" dirty="0">
                <a:solidFill>
                  <a:srgbClr val="B9B2C3"/>
                </a:solidFill>
                <a:latin typeface="Aptos" pitchFamily="34" charset="0"/>
                <a:ea typeface="Aptos" pitchFamily="34" charset="-122"/>
                <a:cs typeface="Aptos" pitchFamily="34" charset="-120"/>
              </a:rPr>
              <a:t>Customers / Employees</a:t>
            </a:r>
            <a:endParaRPr lang="en-US" sz="1050" dirty="0"/>
          </a:p>
          <a:p>
            <a:pPr algn="ctr" indent="0" marL="0">
              <a:buNone/>
            </a:pPr>
            <a:r>
              <a:rPr lang="en-US" altLang="en-US" sz="1050" dirty="0">
                <a:solidFill>
                  <a:srgbClr val="B9B2C3"/>
                </a:solidFill>
                <a:latin typeface="Aptos" pitchFamily="34" charset="0"/>
                <a:ea typeface="Aptos" pitchFamily="34" charset="-122"/>
                <a:cs typeface="Aptos" pitchFamily="34" charset="-120"/>
              </a:rPr>
              <a:t>Tickets</a:t>
            </a:r>
            <a:endParaRPr lang="en-US" sz="1050" dirty="0"/>
          </a:p>
        </p:txBody>
      </p:sp>
      <p:sp>
        <p:nvSpPr>
          <p:cNvPr id="17" name="Shape 14"/>
          <p:cNvSpPr/>
          <p:nvPr/>
        </p:nvSpPr>
        <p:spPr>
          <a:xfrm>
            <a:off x="621792" y="4160520"/>
            <a:ext cx="2176272" cy="832104"/>
          </a:xfrm>
          <a:prstGeom prst="roundRect">
            <a:avLst>
              <a:gd name="adj" fmla="val 6593"/>
            </a:avLst>
          </a:prstGeom>
          <a:solidFill>
            <a:srgbClr val="242129"/>
          </a:solidFill>
          <a:ln w="8890">
            <a:solidFill>
              <a:srgbClr val="3A3542"/>
            </a:solidFill>
            <a:prstDash val="solid"/>
          </a:ln>
        </p:spPr>
      </p:sp>
      <p:sp>
        <p:nvSpPr>
          <p:cNvPr id="18" name="Text 15"/>
          <p:cNvSpPr/>
          <p:nvPr/>
        </p:nvSpPr>
        <p:spPr>
          <a:xfrm>
            <a:off x="740664" y="4251960"/>
            <a:ext cx="1938528" cy="228600"/>
          </a:xfrm>
          <a:prstGeom prst="rect">
            <a:avLst/>
          </a:prstGeom>
          <a:noFill/>
          <a:ln/>
        </p:spPr>
        <p:txBody>
          <a:bodyPr wrap="square" lIns="0" tIns="0" rIns="0" bIns="0" rtlCol="0" anchor="ctr">
            <a:normAutofit/>
          </a:bodyPr>
          <a:lstStyle/>
          <a:p>
            <a:pPr algn="ctr" indent="0" marL="0">
              <a:buNone/>
            </a:pPr>
            <a:r>
              <a:rPr lang="en-US" altLang="en-US" sz="1170" b="1" dirty="0">
                <a:solidFill>
                  <a:srgbClr val="FFFFFF"/>
                </a:solidFill>
                <a:latin typeface="Aptos" pitchFamily="34" charset="0"/>
                <a:ea typeface="Aptos" pitchFamily="34" charset="-122"/>
                <a:cs typeface="Aptos" pitchFamily="34" charset="-120"/>
              </a:rPr>
              <a:t>FRESHSERVICE TARGET</a:t>
            </a:r>
            <a:endParaRPr lang="en-US" sz="1170" dirty="0"/>
          </a:p>
        </p:txBody>
      </p:sp>
      <p:sp>
        <p:nvSpPr>
          <p:cNvPr id="19" name="Text 16"/>
          <p:cNvSpPr/>
          <p:nvPr/>
        </p:nvSpPr>
        <p:spPr>
          <a:xfrm>
            <a:off x="740664" y="4526280"/>
            <a:ext cx="1938528" cy="393192"/>
          </a:xfrm>
          <a:prstGeom prst="rect">
            <a:avLst/>
          </a:prstGeom>
          <a:noFill/>
          <a:ln/>
        </p:spPr>
        <p:txBody>
          <a:bodyPr wrap="square" lIns="0" tIns="0" rIns="0" bIns="0" rtlCol="0" anchor="ctr">
            <a:normAutofit/>
          </a:bodyPr>
          <a:lstStyle/>
          <a:p>
            <a:pPr algn="ctr" indent="0" marL="0">
              <a:buNone/>
            </a:pPr>
            <a:r>
              <a:rPr lang="en-US" altLang="en-US" sz="1050" dirty="0">
                <a:solidFill>
                  <a:srgbClr val="B9B2C3"/>
                </a:solidFill>
                <a:latin typeface="Aptos" pitchFamily="34" charset="0"/>
                <a:ea typeface="Aptos" pitchFamily="34" charset="-122"/>
                <a:cs typeface="Aptos" pitchFamily="34" charset="-120"/>
              </a:rPr>
              <a:t>Requesters / Tickets</a:t>
            </a:r>
            <a:endParaRPr lang="en-US" sz="1050" dirty="0"/>
          </a:p>
          <a:p>
            <a:pPr algn="ctr" indent="0" marL="0">
              <a:buNone/>
            </a:pPr>
            <a:r>
              <a:rPr lang="en-US" altLang="en-US" sz="1050" dirty="0">
                <a:solidFill>
                  <a:srgbClr val="B9B2C3"/>
                </a:solidFill>
                <a:latin typeface="Aptos" pitchFamily="34" charset="0"/>
                <a:ea typeface="Aptos" pitchFamily="34" charset="-122"/>
                <a:cs typeface="Aptos" pitchFamily="34" charset="-120"/>
              </a:rPr>
              <a:t>Workspaces / Departments</a:t>
            </a:r>
            <a:endParaRPr lang="en-US" sz="1050" dirty="0"/>
          </a:p>
        </p:txBody>
      </p:sp>
      <p:sp>
        <p:nvSpPr>
          <p:cNvPr id="20" name="Shape 17"/>
          <p:cNvSpPr/>
          <p:nvPr/>
        </p:nvSpPr>
        <p:spPr>
          <a:xfrm>
            <a:off x="4425696" y="3703320"/>
            <a:ext cx="2843784" cy="512064"/>
          </a:xfrm>
          <a:prstGeom prst="roundRect">
            <a:avLst>
              <a:gd name="adj" fmla="val 10714"/>
            </a:avLst>
          </a:prstGeom>
          <a:solidFill>
            <a:srgbClr val="242129"/>
          </a:solidFill>
          <a:ln w="8890">
            <a:solidFill>
              <a:srgbClr val="3A3542"/>
            </a:solidFill>
            <a:prstDash val="solid"/>
          </a:ln>
        </p:spPr>
      </p:sp>
      <p:sp>
        <p:nvSpPr>
          <p:cNvPr id="21" name="Text 18"/>
          <p:cNvSpPr/>
          <p:nvPr/>
        </p:nvSpPr>
        <p:spPr>
          <a:xfrm>
            <a:off x="4544568" y="3749040"/>
            <a:ext cx="2606040" cy="420624"/>
          </a:xfrm>
          <a:prstGeom prst="rect">
            <a:avLst/>
          </a:prstGeom>
          <a:noFill/>
          <a:ln/>
        </p:spPr>
        <p:txBody>
          <a:bodyPr wrap="square" lIns="0" tIns="0" rIns="0" bIns="0" rtlCol="0" anchor="ctr">
            <a:normAutofit/>
          </a:bodyPr>
          <a:lstStyle/>
          <a:p>
            <a:pPr algn="ctr" indent="0" marL="0">
              <a:buNone/>
            </a:pPr>
            <a:r>
              <a:rPr lang="en-US" altLang="en-US" sz="1250" b="1" dirty="0">
                <a:solidFill>
                  <a:srgbClr val="FFFFFF"/>
                </a:solidFill>
                <a:latin typeface="Aptos" pitchFamily="34" charset="0"/>
                <a:ea typeface="Aptos" pitchFamily="34" charset="-122"/>
                <a:cs typeface="Aptos" pitchFamily="34" charset="-120"/>
              </a:rPr>
              <a:t>Entity discovery + AI mapping</a:t>
            </a:r>
            <a:endParaRPr lang="en-US" sz="1250" dirty="0"/>
          </a:p>
        </p:txBody>
      </p:sp>
      <p:sp>
        <p:nvSpPr>
          <p:cNvPr id="22" name="Shape 19"/>
          <p:cNvSpPr/>
          <p:nvPr/>
        </p:nvSpPr>
        <p:spPr>
          <a:xfrm>
            <a:off x="4425696" y="4489704"/>
            <a:ext cx="2843784" cy="493776"/>
          </a:xfrm>
          <a:prstGeom prst="roundRect">
            <a:avLst>
              <a:gd name="adj" fmla="val 11111"/>
            </a:avLst>
          </a:prstGeom>
          <a:solidFill>
            <a:srgbClr val="242129"/>
          </a:solidFill>
          <a:ln w="8890">
            <a:solidFill>
              <a:srgbClr val="3A3542"/>
            </a:solidFill>
            <a:prstDash val="solid"/>
          </a:ln>
        </p:spPr>
      </p:sp>
      <p:sp>
        <p:nvSpPr>
          <p:cNvPr id="23" name="Text 20"/>
          <p:cNvSpPr/>
          <p:nvPr/>
        </p:nvSpPr>
        <p:spPr>
          <a:xfrm>
            <a:off x="4544568" y="4535424"/>
            <a:ext cx="2606040" cy="402336"/>
          </a:xfrm>
          <a:prstGeom prst="rect">
            <a:avLst/>
          </a:prstGeom>
          <a:noFill/>
          <a:ln/>
        </p:spPr>
        <p:txBody>
          <a:bodyPr wrap="square" lIns="0" tIns="0" rIns="0" bIns="0" rtlCol="0" anchor="ctr">
            <a:normAutofit/>
          </a:bodyPr>
          <a:lstStyle/>
          <a:p>
            <a:pPr algn="ctr" indent="0" marL="0">
              <a:buNone/>
            </a:pPr>
            <a:r>
              <a:rPr lang="en-US" altLang="en-US" sz="1300" b="1" dirty="0">
                <a:solidFill>
                  <a:srgbClr val="FFFFFF"/>
                </a:solidFill>
                <a:latin typeface="Aptos" pitchFamily="34" charset="0"/>
                <a:ea typeface="Aptos" pitchFamily="34" charset="-122"/>
                <a:cs typeface="Aptos" pitchFamily="34" charset="-120"/>
              </a:rPr>
              <a:t>Test migration</a:t>
            </a:r>
            <a:endParaRPr lang="en-US" sz="1300" dirty="0"/>
          </a:p>
        </p:txBody>
      </p:sp>
      <p:sp>
        <p:nvSpPr>
          <p:cNvPr id="24" name="Shape 21"/>
          <p:cNvSpPr/>
          <p:nvPr/>
        </p:nvSpPr>
        <p:spPr>
          <a:xfrm>
            <a:off x="4425696" y="5276088"/>
            <a:ext cx="2843784" cy="512064"/>
          </a:xfrm>
          <a:prstGeom prst="roundRect">
            <a:avLst>
              <a:gd name="adj" fmla="val 10714"/>
            </a:avLst>
          </a:prstGeom>
          <a:solidFill>
            <a:srgbClr val="173C31"/>
          </a:solidFill>
          <a:ln w="8890">
            <a:solidFill>
              <a:srgbClr val="B6EDCF"/>
            </a:solidFill>
            <a:prstDash val="solid"/>
          </a:ln>
        </p:spPr>
      </p:sp>
      <p:sp>
        <p:nvSpPr>
          <p:cNvPr id="25" name="Text 22"/>
          <p:cNvSpPr/>
          <p:nvPr/>
        </p:nvSpPr>
        <p:spPr>
          <a:xfrm>
            <a:off x="4544568" y="5321808"/>
            <a:ext cx="2606040" cy="420624"/>
          </a:xfrm>
          <a:prstGeom prst="rect">
            <a:avLst/>
          </a:prstGeom>
          <a:noFill/>
          <a:ln/>
        </p:spPr>
        <p:txBody>
          <a:bodyPr wrap="square" lIns="0" tIns="0" rIns="0" bIns="0" rtlCol="0" anchor="ctr">
            <a:normAutofit/>
          </a:bodyPr>
          <a:lstStyle/>
          <a:p>
            <a:pPr algn="ctr" indent="0" marL="0">
              <a:buNone/>
            </a:pPr>
            <a:r>
              <a:rPr lang="en-US" altLang="en-US" sz="1300" b="1" dirty="0">
                <a:solidFill>
                  <a:srgbClr val="B6EDCF"/>
                </a:solidFill>
                <a:latin typeface="Aptos" pitchFamily="34" charset="0"/>
                <a:ea typeface="Aptos" pitchFamily="34" charset="-122"/>
                <a:cs typeface="Aptos" pitchFamily="34" charset="-120"/>
              </a:rPr>
              <a:t>Migration readiness</a:t>
            </a:r>
            <a:endParaRPr lang="en-US" sz="1300" dirty="0"/>
          </a:p>
        </p:txBody>
      </p:sp>
      <p:sp>
        <p:nvSpPr>
          <p:cNvPr id="26" name="Shape 23"/>
          <p:cNvSpPr/>
          <p:nvPr/>
        </p:nvSpPr>
        <p:spPr>
          <a:xfrm>
            <a:off x="621792" y="5495544"/>
            <a:ext cx="2176272" cy="521208"/>
          </a:xfrm>
          <a:prstGeom prst="roundRect">
            <a:avLst>
              <a:gd name="adj" fmla="val 10526"/>
            </a:avLst>
          </a:prstGeom>
          <a:solidFill>
            <a:srgbClr val="242129"/>
          </a:solidFill>
          <a:ln w="8890">
            <a:solidFill>
              <a:srgbClr val="CDA6FF"/>
            </a:solidFill>
            <a:prstDash val="solid"/>
          </a:ln>
        </p:spPr>
      </p:sp>
      <p:sp>
        <p:nvSpPr>
          <p:cNvPr id="27" name="Text 24"/>
          <p:cNvSpPr/>
          <p:nvPr/>
        </p:nvSpPr>
        <p:spPr>
          <a:xfrm>
            <a:off x="740664" y="5541264"/>
            <a:ext cx="1938528" cy="429768"/>
          </a:xfrm>
          <a:prstGeom prst="rect">
            <a:avLst/>
          </a:prstGeom>
          <a:noFill/>
          <a:ln/>
        </p:spPr>
        <p:txBody>
          <a:bodyPr wrap="square" lIns="0" tIns="0" rIns="0" bIns="0" rtlCol="0" anchor="ctr">
            <a:normAutofit/>
          </a:bodyPr>
          <a:lstStyle/>
          <a:p>
            <a:pPr algn="ctr" indent="0" marL="0">
              <a:buNone/>
            </a:pPr>
            <a:r>
              <a:rPr lang="en-US" altLang="en-US" sz="1120" b="1" dirty="0">
                <a:solidFill>
                  <a:srgbClr val="CDA6FF"/>
                </a:solidFill>
                <a:latin typeface="Aptos" pitchFamily="34" charset="0"/>
                <a:ea typeface="Aptos" pitchFamily="34" charset="-122"/>
                <a:cs typeface="Aptos" pitchFamily="34" charset="-120"/>
              </a:rPr>
              <a:t>REMEDIATE + RETEST</a:t>
            </a:r>
            <a:endParaRPr lang="en-US" sz="1120" dirty="0"/>
          </a:p>
        </p:txBody>
      </p:sp>
      <p:sp>
        <p:nvSpPr>
          <p:cNvPr id="28" name="Shape 25"/>
          <p:cNvSpPr/>
          <p:nvPr/>
        </p:nvSpPr>
        <p:spPr>
          <a:xfrm>
            <a:off x="5843016" y="2514600"/>
            <a:ext cx="0" cy="237744"/>
          </a:xfrm>
          <a:prstGeom prst="line">
            <a:avLst/>
          </a:prstGeom>
          <a:noFill/>
          <a:ln w="15875">
            <a:solidFill>
              <a:srgbClr val="CDA6FF"/>
            </a:solidFill>
            <a:prstDash val="solid"/>
            <a:tailEnd type="triangle"/>
          </a:ln>
        </p:spPr>
      </p:sp>
      <p:sp>
        <p:nvSpPr>
          <p:cNvPr id="29" name="Shape 26"/>
          <p:cNvSpPr/>
          <p:nvPr/>
        </p:nvSpPr>
        <p:spPr>
          <a:xfrm>
            <a:off x="5843016" y="3401568"/>
            <a:ext cx="0" cy="283464"/>
          </a:xfrm>
          <a:prstGeom prst="line">
            <a:avLst/>
          </a:prstGeom>
          <a:noFill/>
          <a:ln w="15875">
            <a:solidFill>
              <a:srgbClr val="CDA6FF"/>
            </a:solidFill>
            <a:prstDash val="solid"/>
            <a:tailEnd type="triangle"/>
          </a:ln>
        </p:spPr>
      </p:sp>
      <p:sp>
        <p:nvSpPr>
          <p:cNvPr id="30" name="Shape 27"/>
          <p:cNvSpPr/>
          <p:nvPr/>
        </p:nvSpPr>
        <p:spPr>
          <a:xfrm>
            <a:off x="2798064" y="3282696"/>
            <a:ext cx="512064" cy="0"/>
          </a:xfrm>
          <a:prstGeom prst="line">
            <a:avLst/>
          </a:prstGeom>
          <a:noFill/>
          <a:ln w="15875">
            <a:solidFill>
              <a:srgbClr val="CDA6FF"/>
            </a:solidFill>
            <a:prstDash val="solid"/>
          </a:ln>
        </p:spPr>
      </p:sp>
      <p:sp>
        <p:nvSpPr>
          <p:cNvPr id="31" name="Shape 28"/>
          <p:cNvSpPr/>
          <p:nvPr/>
        </p:nvSpPr>
        <p:spPr>
          <a:xfrm>
            <a:off x="3310128" y="3282696"/>
            <a:ext cx="0" cy="676656"/>
          </a:xfrm>
          <a:prstGeom prst="line">
            <a:avLst/>
          </a:prstGeom>
          <a:noFill/>
          <a:ln w="15875">
            <a:solidFill>
              <a:srgbClr val="CDA6FF"/>
            </a:solidFill>
            <a:prstDash val="solid"/>
          </a:ln>
        </p:spPr>
      </p:sp>
      <p:sp>
        <p:nvSpPr>
          <p:cNvPr id="32" name="Shape 29"/>
          <p:cNvSpPr/>
          <p:nvPr/>
        </p:nvSpPr>
        <p:spPr>
          <a:xfrm>
            <a:off x="3310128" y="3959352"/>
            <a:ext cx="1088136" cy="0"/>
          </a:xfrm>
          <a:prstGeom prst="line">
            <a:avLst/>
          </a:prstGeom>
          <a:noFill/>
          <a:ln w="15875">
            <a:solidFill>
              <a:srgbClr val="CDA6FF"/>
            </a:solidFill>
            <a:prstDash val="solid"/>
            <a:tailEnd type="triangle"/>
          </a:ln>
        </p:spPr>
      </p:sp>
      <p:sp>
        <p:nvSpPr>
          <p:cNvPr id="33" name="Shape 30"/>
          <p:cNvSpPr/>
          <p:nvPr/>
        </p:nvSpPr>
        <p:spPr>
          <a:xfrm>
            <a:off x="2798064" y="4572000"/>
            <a:ext cx="512064" cy="0"/>
          </a:xfrm>
          <a:prstGeom prst="line">
            <a:avLst/>
          </a:prstGeom>
          <a:noFill/>
          <a:ln w="15875">
            <a:solidFill>
              <a:srgbClr val="CDA6FF"/>
            </a:solidFill>
            <a:prstDash val="solid"/>
          </a:ln>
        </p:spPr>
      </p:sp>
      <p:sp>
        <p:nvSpPr>
          <p:cNvPr id="34" name="Shape 31"/>
          <p:cNvSpPr/>
          <p:nvPr/>
        </p:nvSpPr>
        <p:spPr>
          <a:xfrm flipV="1">
            <a:off x="3310128" y="3959352"/>
            <a:ext cx="0" cy="612648"/>
          </a:xfrm>
          <a:prstGeom prst="line">
            <a:avLst/>
          </a:prstGeom>
          <a:noFill/>
          <a:ln w="15875">
            <a:solidFill>
              <a:srgbClr val="CDA6FF"/>
            </a:solidFill>
            <a:prstDash val="solid"/>
          </a:ln>
        </p:spPr>
      </p:sp>
      <p:sp>
        <p:nvSpPr>
          <p:cNvPr id="35" name="Shape 32"/>
          <p:cNvSpPr/>
          <p:nvPr/>
        </p:nvSpPr>
        <p:spPr>
          <a:xfrm>
            <a:off x="3310128" y="3959352"/>
            <a:ext cx="1088136" cy="0"/>
          </a:xfrm>
          <a:prstGeom prst="line">
            <a:avLst/>
          </a:prstGeom>
          <a:noFill/>
          <a:ln w="15875">
            <a:solidFill>
              <a:srgbClr val="CDA6FF"/>
            </a:solidFill>
            <a:prstDash val="solid"/>
            <a:tailEnd type="triangle"/>
          </a:ln>
        </p:spPr>
      </p:sp>
      <p:sp>
        <p:nvSpPr>
          <p:cNvPr id="36" name="Shape 33"/>
          <p:cNvSpPr/>
          <p:nvPr/>
        </p:nvSpPr>
        <p:spPr>
          <a:xfrm>
            <a:off x="5843016" y="4215384"/>
            <a:ext cx="0" cy="256032"/>
          </a:xfrm>
          <a:prstGeom prst="line">
            <a:avLst/>
          </a:prstGeom>
          <a:noFill/>
          <a:ln w="15875">
            <a:solidFill>
              <a:srgbClr val="CDA6FF"/>
            </a:solidFill>
            <a:prstDash val="solid"/>
            <a:tailEnd type="triangle"/>
          </a:ln>
        </p:spPr>
      </p:sp>
      <p:sp>
        <p:nvSpPr>
          <p:cNvPr id="37" name="Shape 34"/>
          <p:cNvSpPr/>
          <p:nvPr/>
        </p:nvSpPr>
        <p:spPr>
          <a:xfrm>
            <a:off x="5843016" y="4983480"/>
            <a:ext cx="0" cy="274320"/>
          </a:xfrm>
          <a:prstGeom prst="line">
            <a:avLst/>
          </a:prstGeom>
          <a:noFill/>
          <a:ln w="15875">
            <a:solidFill>
              <a:srgbClr val="CDA6FF"/>
            </a:solidFill>
            <a:prstDash val="solid"/>
            <a:tailEnd type="triangle"/>
          </a:ln>
        </p:spPr>
      </p:sp>
      <p:sp>
        <p:nvSpPr>
          <p:cNvPr id="38" name="Text 35"/>
          <p:cNvSpPr/>
          <p:nvPr/>
        </p:nvSpPr>
        <p:spPr>
          <a:xfrm>
            <a:off x="3118104" y="5193792"/>
            <a:ext cx="1115568" cy="182880"/>
          </a:xfrm>
          <a:prstGeom prst="rect">
            <a:avLst/>
          </a:prstGeom>
          <a:noFill/>
          <a:ln/>
        </p:spPr>
        <p:txBody>
          <a:bodyPr wrap="square" lIns="0" tIns="0" rIns="0" bIns="0" rtlCol="0" anchor="ctr">
            <a:normAutofit/>
          </a:bodyPr>
          <a:lstStyle/>
          <a:p>
            <a:pPr algn="ctr" indent="0" marL="0">
              <a:buNone/>
            </a:pPr>
            <a:r>
              <a:rPr lang="en-US" altLang="en-US" sz="1000" b="1" dirty="0">
                <a:solidFill>
                  <a:srgbClr val="CDA6FF"/>
                </a:solidFill>
                <a:latin typeface="Aptos" pitchFamily="34" charset="0"/>
                <a:ea typeface="Aptos" pitchFamily="34" charset="-122"/>
                <a:cs typeface="Aptos" pitchFamily="34" charset="-120"/>
              </a:rPr>
              <a:t>NOT READY</a:t>
            </a:r>
            <a:endParaRPr lang="en-US" sz="1000" dirty="0"/>
          </a:p>
        </p:txBody>
      </p:sp>
      <p:sp>
        <p:nvSpPr>
          <p:cNvPr id="39" name="Shape 36"/>
          <p:cNvSpPr/>
          <p:nvPr/>
        </p:nvSpPr>
        <p:spPr>
          <a:xfrm flipH="1">
            <a:off x="3355848" y="5532120"/>
            <a:ext cx="1069848" cy="0"/>
          </a:xfrm>
          <a:prstGeom prst="line">
            <a:avLst/>
          </a:prstGeom>
          <a:noFill/>
          <a:ln w="15875">
            <a:solidFill>
              <a:srgbClr val="CDA6FF"/>
            </a:solidFill>
            <a:prstDash val="solid"/>
          </a:ln>
        </p:spPr>
      </p:sp>
      <p:sp>
        <p:nvSpPr>
          <p:cNvPr id="40" name="Shape 37"/>
          <p:cNvSpPr/>
          <p:nvPr/>
        </p:nvSpPr>
        <p:spPr>
          <a:xfrm>
            <a:off x="3355848" y="5532120"/>
            <a:ext cx="0" cy="228600"/>
          </a:xfrm>
          <a:prstGeom prst="line">
            <a:avLst/>
          </a:prstGeom>
          <a:noFill/>
          <a:ln w="15875">
            <a:solidFill>
              <a:srgbClr val="CDA6FF"/>
            </a:solidFill>
            <a:prstDash val="solid"/>
          </a:ln>
        </p:spPr>
      </p:sp>
      <p:sp>
        <p:nvSpPr>
          <p:cNvPr id="41" name="Shape 38"/>
          <p:cNvSpPr/>
          <p:nvPr/>
        </p:nvSpPr>
        <p:spPr>
          <a:xfrm flipH="1">
            <a:off x="2825496" y="5760720"/>
            <a:ext cx="530352" cy="0"/>
          </a:xfrm>
          <a:prstGeom prst="line">
            <a:avLst/>
          </a:prstGeom>
          <a:noFill/>
          <a:ln w="15875">
            <a:solidFill>
              <a:srgbClr val="CDA6FF"/>
            </a:solidFill>
            <a:prstDash val="solid"/>
            <a:tailEnd type="triangle"/>
          </a:ln>
        </p:spPr>
      </p:sp>
      <p:sp>
        <p:nvSpPr>
          <p:cNvPr id="42" name="Shape 39"/>
          <p:cNvSpPr/>
          <p:nvPr/>
        </p:nvSpPr>
        <p:spPr>
          <a:xfrm flipH="1">
            <a:off x="374904" y="5760720"/>
            <a:ext cx="246888" cy="0"/>
          </a:xfrm>
          <a:prstGeom prst="line">
            <a:avLst/>
          </a:prstGeom>
          <a:noFill/>
          <a:ln w="10795">
            <a:solidFill>
              <a:srgbClr val="B9B2C3"/>
            </a:solidFill>
            <a:prstDash val="solid"/>
          </a:ln>
        </p:spPr>
      </p:sp>
      <p:sp>
        <p:nvSpPr>
          <p:cNvPr id="43" name="Shape 40"/>
          <p:cNvSpPr/>
          <p:nvPr/>
        </p:nvSpPr>
        <p:spPr>
          <a:xfrm flipV="1">
            <a:off x="374904" y="3959352"/>
            <a:ext cx="0" cy="1801368"/>
          </a:xfrm>
          <a:prstGeom prst="line">
            <a:avLst/>
          </a:prstGeom>
          <a:noFill/>
          <a:ln w="10795">
            <a:solidFill>
              <a:srgbClr val="B9B2C3"/>
            </a:solidFill>
            <a:prstDash val="solid"/>
          </a:ln>
        </p:spPr>
      </p:sp>
      <p:sp>
        <p:nvSpPr>
          <p:cNvPr id="44" name="Shape 41"/>
          <p:cNvSpPr/>
          <p:nvPr/>
        </p:nvSpPr>
        <p:spPr>
          <a:xfrm>
            <a:off x="374904" y="3959352"/>
            <a:ext cx="4023360" cy="0"/>
          </a:xfrm>
          <a:prstGeom prst="line">
            <a:avLst/>
          </a:prstGeom>
          <a:noFill/>
          <a:ln w="10795">
            <a:solidFill>
              <a:srgbClr val="B9B2C3"/>
            </a:solidFill>
            <a:prstDash val="solid"/>
            <a:tailEnd type="triangle"/>
          </a:ln>
        </p:spPr>
      </p:sp>
      <p:sp>
        <p:nvSpPr>
          <p:cNvPr id="45" name="Shape 42"/>
          <p:cNvSpPr/>
          <p:nvPr/>
        </p:nvSpPr>
        <p:spPr>
          <a:xfrm>
            <a:off x="8485632" y="2770632"/>
            <a:ext cx="3081528" cy="512064"/>
          </a:xfrm>
          <a:prstGeom prst="roundRect">
            <a:avLst>
              <a:gd name="adj" fmla="val 10714"/>
            </a:avLst>
          </a:prstGeom>
          <a:solidFill>
            <a:srgbClr val="242129"/>
          </a:solidFill>
          <a:ln w="8890">
            <a:solidFill>
              <a:srgbClr val="B6EDCF"/>
            </a:solidFill>
            <a:prstDash val="solid"/>
          </a:ln>
        </p:spPr>
      </p:sp>
      <p:sp>
        <p:nvSpPr>
          <p:cNvPr id="46" name="Text 43"/>
          <p:cNvSpPr/>
          <p:nvPr/>
        </p:nvSpPr>
        <p:spPr>
          <a:xfrm>
            <a:off x="8604504" y="2816352"/>
            <a:ext cx="2843784" cy="420624"/>
          </a:xfrm>
          <a:prstGeom prst="rect">
            <a:avLst/>
          </a:prstGeom>
          <a:noFill/>
          <a:ln/>
        </p:spPr>
        <p:txBody>
          <a:bodyPr wrap="square" lIns="0" tIns="0" rIns="0" bIns="0" rtlCol="0" anchor="ctr">
            <a:normAutofit/>
          </a:bodyPr>
          <a:lstStyle/>
          <a:p>
            <a:pPr algn="ctr" indent="0" marL="0">
              <a:buNone/>
            </a:pPr>
            <a:r>
              <a:rPr lang="en-US" altLang="en-US" sz="1300" b="1" dirty="0">
                <a:solidFill>
                  <a:srgbClr val="FFFFFF"/>
                </a:solidFill>
                <a:latin typeface="Aptos" pitchFamily="34" charset="0"/>
                <a:ea typeface="Aptos" pitchFamily="34" charset="-122"/>
                <a:cs typeface="Aptos" pitchFamily="34" charset="-120"/>
              </a:rPr>
              <a:t>Full migration</a:t>
            </a:r>
            <a:endParaRPr lang="en-US" sz="1300" dirty="0"/>
          </a:p>
        </p:txBody>
      </p:sp>
      <p:sp>
        <p:nvSpPr>
          <p:cNvPr id="47" name="Shape 44"/>
          <p:cNvSpPr/>
          <p:nvPr/>
        </p:nvSpPr>
        <p:spPr>
          <a:xfrm>
            <a:off x="8485632" y="3602736"/>
            <a:ext cx="3081528" cy="640080"/>
          </a:xfrm>
          <a:prstGeom prst="roundRect">
            <a:avLst>
              <a:gd name="adj" fmla="val 8571"/>
            </a:avLst>
          </a:prstGeom>
          <a:solidFill>
            <a:srgbClr val="242129"/>
          </a:solidFill>
          <a:ln w="8890">
            <a:solidFill>
              <a:srgbClr val="3A3542"/>
            </a:solidFill>
            <a:prstDash val="solid"/>
          </a:ln>
        </p:spPr>
      </p:sp>
      <p:sp>
        <p:nvSpPr>
          <p:cNvPr id="48" name="Text 45"/>
          <p:cNvSpPr/>
          <p:nvPr/>
        </p:nvSpPr>
        <p:spPr>
          <a:xfrm>
            <a:off x="8604504" y="3694176"/>
            <a:ext cx="2843784" cy="228600"/>
          </a:xfrm>
          <a:prstGeom prst="rect">
            <a:avLst/>
          </a:prstGeom>
          <a:noFill/>
          <a:ln/>
        </p:spPr>
        <p:txBody>
          <a:bodyPr wrap="square" lIns="0" tIns="0" rIns="0" bIns="0" rtlCol="0" anchor="ctr">
            <a:normAutofit/>
          </a:bodyPr>
          <a:lstStyle/>
          <a:p>
            <a:pPr algn="ctr" indent="0" marL="0">
              <a:buNone/>
            </a:pPr>
            <a:r>
              <a:rPr lang="en-US" altLang="en-US" sz="1300" b="1" dirty="0">
                <a:solidFill>
                  <a:srgbClr val="FFFFFF"/>
                </a:solidFill>
                <a:latin typeface="Aptos" pitchFamily="34" charset="0"/>
                <a:ea typeface="Aptos" pitchFamily="34" charset="-122"/>
                <a:cs typeface="Aptos" pitchFamily="34" charset="-120"/>
              </a:rPr>
              <a:t>Validate + reconcile</a:t>
            </a:r>
            <a:endParaRPr lang="en-US" sz="1300" dirty="0"/>
          </a:p>
        </p:txBody>
      </p:sp>
      <p:sp>
        <p:nvSpPr>
          <p:cNvPr id="49" name="Text 46"/>
          <p:cNvSpPr/>
          <p:nvPr/>
        </p:nvSpPr>
        <p:spPr>
          <a:xfrm>
            <a:off x="8604504" y="3968496"/>
            <a:ext cx="2843784" cy="201168"/>
          </a:xfrm>
          <a:prstGeom prst="rect">
            <a:avLst/>
          </a:prstGeom>
          <a:noFill/>
          <a:ln/>
        </p:spPr>
        <p:txBody>
          <a:bodyPr wrap="square" lIns="0" tIns="0" rIns="0" bIns="0" rtlCol="0" anchor="ctr">
            <a:normAutofit/>
          </a:bodyPr>
          <a:lstStyle/>
          <a:p>
            <a:pPr algn="ctr" indent="0" marL="0">
              <a:buNone/>
            </a:pPr>
            <a:r>
              <a:rPr lang="en-US" altLang="en-US" sz="1050" dirty="0">
                <a:solidFill>
                  <a:srgbClr val="B9B2C3"/>
                </a:solidFill>
                <a:latin typeface="Aptos" pitchFamily="34" charset="0"/>
                <a:ea typeface="Aptos" pitchFamily="34" charset="-122"/>
                <a:cs typeface="Aptos" pitchFamily="34" charset="-120"/>
              </a:rPr>
              <a:t>Source vs target</a:t>
            </a:r>
            <a:endParaRPr lang="en-US" sz="1050" dirty="0"/>
          </a:p>
        </p:txBody>
      </p:sp>
      <p:sp>
        <p:nvSpPr>
          <p:cNvPr id="50" name="Shape 47"/>
          <p:cNvSpPr/>
          <p:nvPr/>
        </p:nvSpPr>
        <p:spPr>
          <a:xfrm>
            <a:off x="8485632" y="4690872"/>
            <a:ext cx="1472184" cy="621792"/>
          </a:xfrm>
          <a:prstGeom prst="roundRect">
            <a:avLst>
              <a:gd name="adj" fmla="val 8824"/>
            </a:avLst>
          </a:prstGeom>
          <a:solidFill>
            <a:srgbClr val="242129"/>
          </a:solidFill>
          <a:ln w="8890">
            <a:solidFill>
              <a:srgbClr val="3A3542"/>
            </a:solidFill>
            <a:prstDash val="solid"/>
          </a:ln>
        </p:spPr>
      </p:sp>
      <p:sp>
        <p:nvSpPr>
          <p:cNvPr id="51" name="Text 48"/>
          <p:cNvSpPr/>
          <p:nvPr/>
        </p:nvSpPr>
        <p:spPr>
          <a:xfrm>
            <a:off x="8604504" y="4782312"/>
            <a:ext cx="1234440" cy="228600"/>
          </a:xfrm>
          <a:prstGeom prst="rect">
            <a:avLst/>
          </a:prstGeom>
          <a:noFill/>
          <a:ln/>
        </p:spPr>
        <p:txBody>
          <a:bodyPr wrap="square" lIns="0" tIns="0" rIns="0" bIns="0" rtlCol="0" anchor="ctr">
            <a:normAutofit/>
          </a:bodyPr>
          <a:lstStyle/>
          <a:p>
            <a:pPr algn="ctr" indent="0" marL="0">
              <a:buNone/>
            </a:pPr>
            <a:r>
              <a:rPr lang="en-US" altLang="en-US" sz="1060" b="1" dirty="0">
                <a:solidFill>
                  <a:srgbClr val="B6EDCF"/>
                </a:solidFill>
                <a:latin typeface="Aptos" pitchFamily="34" charset="0"/>
                <a:ea typeface="Aptos" pitchFamily="34" charset="-122"/>
                <a:cs typeface="Aptos" pitchFamily="34" charset="-120"/>
              </a:rPr>
              <a:t>AUTO-FIXED</a:t>
            </a:r>
            <a:endParaRPr lang="en-US" sz="1060" dirty="0"/>
          </a:p>
        </p:txBody>
      </p:sp>
      <p:sp>
        <p:nvSpPr>
          <p:cNvPr id="52" name="Text 49"/>
          <p:cNvSpPr/>
          <p:nvPr/>
        </p:nvSpPr>
        <p:spPr>
          <a:xfrm>
            <a:off x="8604504" y="5056632"/>
            <a:ext cx="1234440" cy="182880"/>
          </a:xfrm>
          <a:prstGeom prst="rect">
            <a:avLst/>
          </a:prstGeom>
          <a:noFill/>
          <a:ln/>
        </p:spPr>
        <p:txBody>
          <a:bodyPr wrap="square" lIns="0" tIns="0" rIns="0" bIns="0" rtlCol="0" anchor="ctr">
            <a:normAutofit/>
          </a:bodyPr>
          <a:lstStyle/>
          <a:p>
            <a:pPr algn="ctr" indent="0" marL="0">
              <a:buNone/>
            </a:pPr>
            <a:r>
              <a:rPr lang="en-US" altLang="en-US" sz="1020" dirty="0">
                <a:solidFill>
                  <a:srgbClr val="B9B2C3"/>
                </a:solidFill>
                <a:latin typeface="Aptos" pitchFamily="34" charset="0"/>
                <a:ea typeface="Aptos" pitchFamily="34" charset="-122"/>
                <a:cs typeface="Aptos" pitchFamily="34" charset="-120"/>
              </a:rPr>
              <a:t>Fix + retry</a:t>
            </a:r>
            <a:endParaRPr lang="en-US" sz="1020" dirty="0"/>
          </a:p>
        </p:txBody>
      </p:sp>
      <p:sp>
        <p:nvSpPr>
          <p:cNvPr id="53" name="Shape 50"/>
          <p:cNvSpPr/>
          <p:nvPr/>
        </p:nvSpPr>
        <p:spPr>
          <a:xfrm>
            <a:off x="10094976" y="4690872"/>
            <a:ext cx="1472184" cy="621792"/>
          </a:xfrm>
          <a:prstGeom prst="roundRect">
            <a:avLst>
              <a:gd name="adj" fmla="val 8824"/>
            </a:avLst>
          </a:prstGeom>
          <a:solidFill>
            <a:srgbClr val="242129"/>
          </a:solidFill>
          <a:ln w="8890">
            <a:solidFill>
              <a:srgbClr val="3A3542"/>
            </a:solidFill>
            <a:prstDash val="solid"/>
          </a:ln>
        </p:spPr>
      </p:sp>
      <p:sp>
        <p:nvSpPr>
          <p:cNvPr id="54" name="Text 51"/>
          <p:cNvSpPr/>
          <p:nvPr/>
        </p:nvSpPr>
        <p:spPr>
          <a:xfrm>
            <a:off x="10213848" y="4782312"/>
            <a:ext cx="1234440" cy="228600"/>
          </a:xfrm>
          <a:prstGeom prst="rect">
            <a:avLst/>
          </a:prstGeom>
          <a:noFill/>
          <a:ln/>
        </p:spPr>
        <p:txBody>
          <a:bodyPr wrap="square" lIns="0" tIns="0" rIns="0" bIns="0" rtlCol="0" anchor="ctr">
            <a:normAutofit/>
          </a:bodyPr>
          <a:lstStyle/>
          <a:p>
            <a:pPr algn="ctr" indent="0" marL="0">
              <a:buNone/>
            </a:pPr>
            <a:r>
              <a:rPr lang="en-US" altLang="en-US" sz="1030" b="1" dirty="0">
                <a:solidFill>
                  <a:srgbClr val="F0C786"/>
                </a:solidFill>
                <a:latin typeface="Aptos" pitchFamily="34" charset="0"/>
                <a:ea typeface="Aptos" pitchFamily="34" charset="-122"/>
                <a:cs typeface="Aptos" pitchFamily="34" charset="-120"/>
              </a:rPr>
              <a:t>HUMAN REVIEW</a:t>
            </a:r>
            <a:endParaRPr lang="en-US" sz="1030" dirty="0"/>
          </a:p>
        </p:txBody>
      </p:sp>
      <p:sp>
        <p:nvSpPr>
          <p:cNvPr id="55" name="Text 52"/>
          <p:cNvSpPr/>
          <p:nvPr/>
        </p:nvSpPr>
        <p:spPr>
          <a:xfrm>
            <a:off x="10213848" y="5056632"/>
            <a:ext cx="1234440" cy="182880"/>
          </a:xfrm>
          <a:prstGeom prst="rect">
            <a:avLst/>
          </a:prstGeom>
          <a:noFill/>
          <a:ln/>
        </p:spPr>
        <p:txBody>
          <a:bodyPr wrap="square" lIns="0" tIns="0" rIns="0" bIns="0" rtlCol="0" anchor="ctr">
            <a:normAutofit/>
          </a:bodyPr>
          <a:lstStyle/>
          <a:p>
            <a:pPr algn="ctr" indent="0" marL="0">
              <a:buNone/>
            </a:pPr>
            <a:r>
              <a:rPr lang="en-US" altLang="en-US" sz="940" dirty="0">
                <a:solidFill>
                  <a:srgbClr val="B9B2C3"/>
                </a:solidFill>
                <a:latin typeface="Aptos" pitchFamily="34" charset="0"/>
                <a:ea typeface="Aptos" pitchFamily="34" charset="-122"/>
                <a:cs typeface="Aptos" pitchFamily="34" charset="-120"/>
              </a:rPr>
              <a:t>Unresolved records</a:t>
            </a:r>
            <a:endParaRPr lang="en-US" sz="940" dirty="0"/>
          </a:p>
        </p:txBody>
      </p:sp>
      <p:sp>
        <p:nvSpPr>
          <p:cNvPr id="56" name="Shape 53"/>
          <p:cNvSpPr/>
          <p:nvPr/>
        </p:nvSpPr>
        <p:spPr>
          <a:xfrm>
            <a:off x="8485632" y="5623560"/>
            <a:ext cx="3081528" cy="411480"/>
          </a:xfrm>
          <a:prstGeom prst="roundRect">
            <a:avLst>
              <a:gd name="adj" fmla="val 13333"/>
            </a:avLst>
          </a:prstGeom>
          <a:solidFill>
            <a:srgbClr val="853BDD"/>
          </a:solidFill>
          <a:ln w="8890">
            <a:solidFill>
              <a:srgbClr val="853BDD"/>
            </a:solidFill>
            <a:prstDash val="solid"/>
          </a:ln>
        </p:spPr>
      </p:sp>
      <p:sp>
        <p:nvSpPr>
          <p:cNvPr id="57" name="Text 54"/>
          <p:cNvSpPr/>
          <p:nvPr/>
        </p:nvSpPr>
        <p:spPr>
          <a:xfrm>
            <a:off x="8604504" y="5669280"/>
            <a:ext cx="2843784" cy="320040"/>
          </a:xfrm>
          <a:prstGeom prst="rect">
            <a:avLst/>
          </a:prstGeom>
          <a:noFill/>
          <a:ln/>
        </p:spPr>
        <p:txBody>
          <a:bodyPr wrap="square" lIns="0" tIns="0" rIns="0" bIns="0" rtlCol="0" anchor="ctr">
            <a:normAutofit/>
          </a:bodyPr>
          <a:lstStyle/>
          <a:p>
            <a:pPr algn="ctr" indent="0" marL="0">
              <a:buNone/>
            </a:pPr>
            <a:r>
              <a:rPr lang="en-US" altLang="en-US" sz="1200" b="1" dirty="0">
                <a:solidFill>
                  <a:srgbClr val="FFFFFF"/>
                </a:solidFill>
                <a:latin typeface="Aptos" pitchFamily="34" charset="0"/>
                <a:ea typeface="Aptos" pitchFamily="34" charset="-122"/>
                <a:cs typeface="Aptos" pitchFamily="34" charset="-120"/>
              </a:rPr>
              <a:t>CLAUDE INSIGHTS</a:t>
            </a:r>
            <a:endParaRPr lang="en-US" sz="1200" dirty="0"/>
          </a:p>
        </p:txBody>
      </p:sp>
      <p:sp>
        <p:nvSpPr>
          <p:cNvPr id="58" name="Text 55"/>
          <p:cNvSpPr/>
          <p:nvPr/>
        </p:nvSpPr>
        <p:spPr>
          <a:xfrm>
            <a:off x="7306056" y="5184648"/>
            <a:ext cx="594360" cy="182880"/>
          </a:xfrm>
          <a:prstGeom prst="rect">
            <a:avLst/>
          </a:prstGeom>
          <a:noFill/>
          <a:ln/>
        </p:spPr>
        <p:txBody>
          <a:bodyPr wrap="square" lIns="0" tIns="0" rIns="0" bIns="0" rtlCol="0" anchor="ctr">
            <a:normAutofit/>
          </a:bodyPr>
          <a:lstStyle/>
          <a:p>
            <a:pPr algn="ctr" indent="0" marL="0">
              <a:buNone/>
            </a:pPr>
            <a:r>
              <a:rPr lang="en-US" altLang="en-US" sz="1000" b="1" dirty="0">
                <a:solidFill>
                  <a:srgbClr val="B6EDCF"/>
                </a:solidFill>
                <a:latin typeface="Aptos" pitchFamily="34" charset="0"/>
                <a:ea typeface="Aptos" pitchFamily="34" charset="-122"/>
                <a:cs typeface="Aptos" pitchFamily="34" charset="-120"/>
              </a:rPr>
              <a:t>READY</a:t>
            </a:r>
            <a:endParaRPr lang="en-US" sz="1000" dirty="0"/>
          </a:p>
        </p:txBody>
      </p:sp>
      <p:sp>
        <p:nvSpPr>
          <p:cNvPr id="59" name="Shape 56"/>
          <p:cNvSpPr/>
          <p:nvPr/>
        </p:nvSpPr>
        <p:spPr>
          <a:xfrm>
            <a:off x="7269480" y="5532120"/>
            <a:ext cx="594360" cy="0"/>
          </a:xfrm>
          <a:prstGeom prst="line">
            <a:avLst/>
          </a:prstGeom>
          <a:noFill/>
          <a:ln w="15875">
            <a:solidFill>
              <a:srgbClr val="B6EDCF"/>
            </a:solidFill>
            <a:prstDash val="solid"/>
          </a:ln>
        </p:spPr>
      </p:sp>
      <p:sp>
        <p:nvSpPr>
          <p:cNvPr id="60" name="Shape 57"/>
          <p:cNvSpPr/>
          <p:nvPr/>
        </p:nvSpPr>
        <p:spPr>
          <a:xfrm flipV="1">
            <a:off x="7863840" y="3026664"/>
            <a:ext cx="0" cy="2505456"/>
          </a:xfrm>
          <a:prstGeom prst="line">
            <a:avLst/>
          </a:prstGeom>
          <a:noFill/>
          <a:ln w="15875">
            <a:solidFill>
              <a:srgbClr val="B6EDCF"/>
            </a:solidFill>
            <a:prstDash val="solid"/>
          </a:ln>
        </p:spPr>
      </p:sp>
      <p:sp>
        <p:nvSpPr>
          <p:cNvPr id="61" name="Shape 58"/>
          <p:cNvSpPr/>
          <p:nvPr/>
        </p:nvSpPr>
        <p:spPr>
          <a:xfrm>
            <a:off x="7863840" y="3026664"/>
            <a:ext cx="594360" cy="0"/>
          </a:xfrm>
          <a:prstGeom prst="line">
            <a:avLst/>
          </a:prstGeom>
          <a:noFill/>
          <a:ln w="15875">
            <a:solidFill>
              <a:srgbClr val="B6EDCF"/>
            </a:solidFill>
            <a:prstDash val="solid"/>
            <a:tailEnd type="triangle"/>
          </a:ln>
        </p:spPr>
      </p:sp>
      <p:sp>
        <p:nvSpPr>
          <p:cNvPr id="62" name="Shape 59"/>
          <p:cNvSpPr/>
          <p:nvPr/>
        </p:nvSpPr>
        <p:spPr>
          <a:xfrm>
            <a:off x="10030968" y="3282696"/>
            <a:ext cx="0" cy="301752"/>
          </a:xfrm>
          <a:prstGeom prst="line">
            <a:avLst/>
          </a:prstGeom>
          <a:noFill/>
          <a:ln w="15875">
            <a:solidFill>
              <a:srgbClr val="B6EDCF"/>
            </a:solidFill>
            <a:prstDash val="solid"/>
            <a:tailEnd type="triangle"/>
          </a:ln>
        </p:spPr>
      </p:sp>
      <p:sp>
        <p:nvSpPr>
          <p:cNvPr id="63" name="Shape 60"/>
          <p:cNvSpPr/>
          <p:nvPr/>
        </p:nvSpPr>
        <p:spPr>
          <a:xfrm>
            <a:off x="10030968" y="4242816"/>
            <a:ext cx="0" cy="228600"/>
          </a:xfrm>
          <a:prstGeom prst="line">
            <a:avLst/>
          </a:prstGeom>
          <a:noFill/>
          <a:ln w="15875">
            <a:solidFill>
              <a:srgbClr val="B6EDCF"/>
            </a:solidFill>
            <a:prstDash val="solid"/>
          </a:ln>
        </p:spPr>
      </p:sp>
      <p:sp>
        <p:nvSpPr>
          <p:cNvPr id="64" name="Shape 61"/>
          <p:cNvSpPr/>
          <p:nvPr/>
        </p:nvSpPr>
        <p:spPr>
          <a:xfrm flipH="1">
            <a:off x="9217152" y="4471416"/>
            <a:ext cx="813816" cy="0"/>
          </a:xfrm>
          <a:prstGeom prst="line">
            <a:avLst/>
          </a:prstGeom>
          <a:noFill/>
          <a:ln w="15875">
            <a:solidFill>
              <a:srgbClr val="B6EDCF"/>
            </a:solidFill>
            <a:prstDash val="solid"/>
          </a:ln>
        </p:spPr>
      </p:sp>
      <p:sp>
        <p:nvSpPr>
          <p:cNvPr id="65" name="Shape 62"/>
          <p:cNvSpPr/>
          <p:nvPr/>
        </p:nvSpPr>
        <p:spPr>
          <a:xfrm>
            <a:off x="9217152" y="4471416"/>
            <a:ext cx="0" cy="192024"/>
          </a:xfrm>
          <a:prstGeom prst="line">
            <a:avLst/>
          </a:prstGeom>
          <a:noFill/>
          <a:ln w="15875">
            <a:solidFill>
              <a:srgbClr val="B6EDCF"/>
            </a:solidFill>
            <a:prstDash val="solid"/>
            <a:tailEnd type="triangle"/>
          </a:ln>
        </p:spPr>
      </p:sp>
      <p:sp>
        <p:nvSpPr>
          <p:cNvPr id="66" name="Shape 63"/>
          <p:cNvSpPr/>
          <p:nvPr/>
        </p:nvSpPr>
        <p:spPr>
          <a:xfrm>
            <a:off x="10030968" y="4242816"/>
            <a:ext cx="0" cy="228600"/>
          </a:xfrm>
          <a:prstGeom prst="line">
            <a:avLst/>
          </a:prstGeom>
          <a:noFill/>
          <a:ln w="15875">
            <a:solidFill>
              <a:srgbClr val="F0C786"/>
            </a:solidFill>
            <a:prstDash val="solid"/>
          </a:ln>
        </p:spPr>
      </p:sp>
      <p:sp>
        <p:nvSpPr>
          <p:cNvPr id="67" name="Shape 64"/>
          <p:cNvSpPr/>
          <p:nvPr/>
        </p:nvSpPr>
        <p:spPr>
          <a:xfrm>
            <a:off x="10030968" y="4471416"/>
            <a:ext cx="804672" cy="0"/>
          </a:xfrm>
          <a:prstGeom prst="line">
            <a:avLst/>
          </a:prstGeom>
          <a:noFill/>
          <a:ln w="15875">
            <a:solidFill>
              <a:srgbClr val="F0C786"/>
            </a:solidFill>
            <a:prstDash val="solid"/>
          </a:ln>
        </p:spPr>
      </p:sp>
      <p:sp>
        <p:nvSpPr>
          <p:cNvPr id="68" name="Shape 65"/>
          <p:cNvSpPr/>
          <p:nvPr/>
        </p:nvSpPr>
        <p:spPr>
          <a:xfrm>
            <a:off x="10835640" y="4471416"/>
            <a:ext cx="0" cy="192024"/>
          </a:xfrm>
          <a:prstGeom prst="line">
            <a:avLst/>
          </a:prstGeom>
          <a:noFill/>
          <a:ln w="15875">
            <a:solidFill>
              <a:srgbClr val="F0C786"/>
            </a:solidFill>
            <a:prstDash val="solid"/>
            <a:tailEnd type="triangle"/>
          </a:ln>
        </p:spPr>
      </p:sp>
      <p:sp>
        <p:nvSpPr>
          <p:cNvPr id="69" name="Shape 66"/>
          <p:cNvSpPr/>
          <p:nvPr/>
        </p:nvSpPr>
        <p:spPr>
          <a:xfrm>
            <a:off x="9217152" y="5312664"/>
            <a:ext cx="0" cy="155448"/>
          </a:xfrm>
          <a:prstGeom prst="line">
            <a:avLst/>
          </a:prstGeom>
          <a:noFill/>
          <a:ln w="15875">
            <a:solidFill>
              <a:srgbClr val="B9B2C3"/>
            </a:solidFill>
            <a:prstDash val="solid"/>
          </a:ln>
        </p:spPr>
      </p:sp>
      <p:sp>
        <p:nvSpPr>
          <p:cNvPr id="70" name="Shape 67"/>
          <p:cNvSpPr/>
          <p:nvPr/>
        </p:nvSpPr>
        <p:spPr>
          <a:xfrm>
            <a:off x="9217152" y="5468112"/>
            <a:ext cx="813816" cy="0"/>
          </a:xfrm>
          <a:prstGeom prst="line">
            <a:avLst/>
          </a:prstGeom>
          <a:noFill/>
          <a:ln w="15875">
            <a:solidFill>
              <a:srgbClr val="B9B2C3"/>
            </a:solidFill>
            <a:prstDash val="solid"/>
          </a:ln>
        </p:spPr>
      </p:sp>
      <p:sp>
        <p:nvSpPr>
          <p:cNvPr id="71" name="Shape 68"/>
          <p:cNvSpPr/>
          <p:nvPr/>
        </p:nvSpPr>
        <p:spPr>
          <a:xfrm>
            <a:off x="10030968" y="5468112"/>
            <a:ext cx="0" cy="128016"/>
          </a:xfrm>
          <a:prstGeom prst="line">
            <a:avLst/>
          </a:prstGeom>
          <a:noFill/>
          <a:ln w="15875">
            <a:solidFill>
              <a:srgbClr val="B9B2C3"/>
            </a:solidFill>
            <a:prstDash val="solid"/>
            <a:tailEnd type="triangle"/>
          </a:ln>
        </p:spPr>
      </p:sp>
      <p:sp>
        <p:nvSpPr>
          <p:cNvPr id="72" name="Shape 69"/>
          <p:cNvSpPr/>
          <p:nvPr/>
        </p:nvSpPr>
        <p:spPr>
          <a:xfrm>
            <a:off x="10835640" y="5312664"/>
            <a:ext cx="0" cy="155448"/>
          </a:xfrm>
          <a:prstGeom prst="line">
            <a:avLst/>
          </a:prstGeom>
          <a:noFill/>
          <a:ln w="15875">
            <a:solidFill>
              <a:srgbClr val="B9B2C3"/>
            </a:solidFill>
            <a:prstDash val="solid"/>
          </a:ln>
        </p:spPr>
      </p:sp>
      <p:sp>
        <p:nvSpPr>
          <p:cNvPr id="73" name="Shape 70"/>
          <p:cNvSpPr/>
          <p:nvPr/>
        </p:nvSpPr>
        <p:spPr>
          <a:xfrm flipH="1">
            <a:off x="10030968" y="5468112"/>
            <a:ext cx="804672" cy="0"/>
          </a:xfrm>
          <a:prstGeom prst="line">
            <a:avLst/>
          </a:prstGeom>
          <a:noFill/>
          <a:ln w="15875">
            <a:solidFill>
              <a:srgbClr val="B9B2C3"/>
            </a:solidFill>
            <a:prstDash val="solid"/>
          </a:ln>
        </p:spPr>
      </p:sp>
      <p:sp>
        <p:nvSpPr>
          <p:cNvPr id="74" name="Shape 71"/>
          <p:cNvSpPr/>
          <p:nvPr/>
        </p:nvSpPr>
        <p:spPr>
          <a:xfrm>
            <a:off x="10030968" y="5468112"/>
            <a:ext cx="0" cy="128016"/>
          </a:xfrm>
          <a:prstGeom prst="line">
            <a:avLst/>
          </a:prstGeom>
          <a:noFill/>
          <a:ln w="15875">
            <a:solidFill>
              <a:srgbClr val="B9B2C3"/>
            </a:solidFill>
            <a:prstDash val="solid"/>
            <a:tailEnd type="triangle"/>
          </a:ln>
        </p:spPr>
      </p:sp>
      <p:sp>
        <p:nvSpPr>
          <p:cNvPr id="75" name="Text 72"/>
          <p:cNvSpPr/>
          <p:nvPr/>
        </p:nvSpPr>
        <p:spPr>
          <a:xfrm>
            <a:off x="621792" y="6245352"/>
            <a:ext cx="2798064" cy="164592"/>
          </a:xfrm>
          <a:prstGeom prst="rect">
            <a:avLst/>
          </a:prstGeom>
          <a:noFill/>
          <a:ln/>
        </p:spPr>
        <p:txBody>
          <a:bodyPr wrap="square" lIns="0" tIns="0" rIns="0" bIns="0" rtlCol="0" anchor="ctr">
            <a:normAutofit/>
          </a:bodyPr>
          <a:lstStyle/>
          <a:p>
            <a:pPr indent="0" marL="0">
              <a:buNone/>
            </a:pPr>
            <a:r>
              <a:rPr lang="en-US" altLang="en-US" sz="920" dirty="0">
                <a:solidFill>
                  <a:srgbClr val="B9B2C3"/>
                </a:solidFill>
                <a:latin typeface="Aptos" pitchFamily="34" charset="0"/>
                <a:ea typeface="Aptos" pitchFamily="34" charset="-122"/>
                <a:cs typeface="Aptos" pitchFamily="34" charset="-120"/>
              </a:rPr>
              <a:t>SOURCE  JSM API / Adapter</a:t>
            </a:r>
            <a:endParaRPr lang="en-US" sz="920" dirty="0"/>
          </a:p>
        </p:txBody>
      </p:sp>
      <p:sp>
        <p:nvSpPr>
          <p:cNvPr id="76" name="Text 73"/>
          <p:cNvSpPr/>
          <p:nvPr/>
        </p:nvSpPr>
        <p:spPr>
          <a:xfrm>
            <a:off x="3456432" y="6245352"/>
            <a:ext cx="4389120" cy="164592"/>
          </a:xfrm>
          <a:prstGeom prst="rect">
            <a:avLst/>
          </a:prstGeom>
          <a:noFill/>
          <a:ln/>
        </p:spPr>
        <p:txBody>
          <a:bodyPr wrap="square" lIns="0" tIns="0" rIns="0" bIns="0" rtlCol="0" anchor="ctr">
            <a:normAutofit/>
          </a:bodyPr>
          <a:lstStyle/>
          <a:p>
            <a:pPr indent="0" marL="0">
              <a:buNone/>
            </a:pPr>
            <a:r>
              <a:rPr lang="en-US" altLang="en-US" sz="920" dirty="0">
                <a:solidFill>
                  <a:srgbClr val="B9B2C3"/>
                </a:solidFill>
                <a:latin typeface="Aptos" pitchFamily="34" charset="0"/>
                <a:ea typeface="Aptos" pitchFamily="34" charset="-122"/>
                <a:cs typeface="Aptos" pitchFamily="34" charset="-120"/>
              </a:rPr>
              <a:t>TARGET  Freshservice Product MCP / REST API v2</a:t>
            </a:r>
            <a:endParaRPr lang="en-US" sz="920" dirty="0"/>
          </a:p>
        </p:txBody>
      </p:sp>
      <p:sp>
        <p:nvSpPr>
          <p:cNvPr id="77" name="Text 74"/>
          <p:cNvSpPr/>
          <p:nvPr/>
        </p:nvSpPr>
        <p:spPr>
          <a:xfrm>
            <a:off x="8019288" y="6245352"/>
            <a:ext cx="3547872" cy="164592"/>
          </a:xfrm>
          <a:prstGeom prst="rect">
            <a:avLst/>
          </a:prstGeom>
          <a:noFill/>
          <a:ln/>
        </p:spPr>
        <p:txBody>
          <a:bodyPr wrap="square" lIns="0" tIns="0" rIns="0" bIns="0" rtlCol="0" anchor="ctr">
            <a:normAutofit/>
          </a:bodyPr>
          <a:lstStyle/>
          <a:p>
            <a:pPr algn="r" indent="0" marL="0">
              <a:buNone/>
            </a:pPr>
            <a:r>
              <a:rPr lang="en-US" altLang="en-US" sz="920" dirty="0">
                <a:solidFill>
                  <a:srgbClr val="B9B2C3"/>
                </a:solidFill>
                <a:latin typeface="Aptos" pitchFamily="34" charset="0"/>
                <a:ea typeface="Aptos" pitchFamily="34" charset="-122"/>
                <a:cs typeface="Aptos" pitchFamily="34" charset="-120"/>
              </a:rPr>
              <a:t>AI  Claude   |   ORCHESTRATION  Zen MCP</a:t>
            </a:r>
            <a:endParaRPr lang="en-US" sz="9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6473952"/>
            <a:ext cx="10945368" cy="0"/>
          </a:xfrm>
          <a:prstGeom prst="line">
            <a:avLst/>
          </a:prstGeom>
          <a:noFill/>
          <a:ln w="8255">
            <a:solidFill>
              <a:srgbClr val="E5E2E9"/>
            </a:solidFill>
            <a:prstDash val="solid"/>
          </a:ln>
        </p:spPr>
      </p:sp>
      <p:sp>
        <p:nvSpPr>
          <p:cNvPr id="3" name="Text 1"/>
          <p:cNvSpPr/>
          <p:nvPr/>
        </p:nvSpPr>
        <p:spPr>
          <a:xfrm>
            <a:off x="621792" y="6592824"/>
            <a:ext cx="5486400" cy="137160"/>
          </a:xfrm>
          <a:prstGeom prst="rect">
            <a:avLst/>
          </a:prstGeom>
          <a:noFill/>
          <a:ln/>
        </p:spPr>
        <p:txBody>
          <a:bodyPr wrap="square" lIns="0" tIns="0" rIns="0" bIns="0" rtlCol="0" anchor="ctr">
            <a:normAutofit/>
          </a:bodyPr>
          <a:lstStyle/>
          <a:p>
            <a:pPr indent="0" marL="0">
              <a:buNone/>
            </a:pPr>
            <a:r>
              <a:rPr lang="en-US" altLang="en-US" sz="800" dirty="0">
                <a:solidFill>
                  <a:srgbClr val="95909D"/>
                </a:solidFill>
                <a:latin typeface="Aptos" pitchFamily="34" charset="0"/>
                <a:ea typeface="Aptos" pitchFamily="34" charset="-122"/>
                <a:cs typeface="Aptos" pitchFamily="34" charset="-120"/>
              </a:rPr>
              <a:t>ZEN / AUTONOMOUS ENTERPRISE MIGRATION</a:t>
            </a:r>
            <a:endParaRPr lang="en-US" sz="800" dirty="0"/>
          </a:p>
        </p:txBody>
      </p:sp>
      <p:sp>
        <p:nvSpPr>
          <p:cNvPr id="4" name="Text 2"/>
          <p:cNvSpPr/>
          <p:nvPr/>
        </p:nvSpPr>
        <p:spPr>
          <a:xfrm>
            <a:off x="11137392" y="6583680"/>
            <a:ext cx="429768" cy="155448"/>
          </a:xfrm>
          <a:prstGeom prst="rect">
            <a:avLst/>
          </a:prstGeom>
          <a:noFill/>
          <a:ln/>
        </p:spPr>
        <p:txBody>
          <a:bodyPr wrap="square" lIns="0" tIns="0" rIns="0" bIns="0" rtlCol="0" anchor="ctr">
            <a:normAutofit/>
          </a:bodyPr>
          <a:lstStyle/>
          <a:p>
            <a:pPr algn="r" indent="0" marL="0">
              <a:buNone/>
            </a:pPr>
            <a:r>
              <a:rPr lang="en-US" altLang="en-US" sz="800" dirty="0">
                <a:solidFill>
                  <a:srgbClr val="95909D"/>
                </a:solidFill>
                <a:latin typeface="Aptos" pitchFamily="34" charset="0"/>
                <a:ea typeface="Aptos" pitchFamily="34" charset="-122"/>
                <a:cs typeface="Aptos" pitchFamily="34" charset="-120"/>
              </a:rPr>
              <a:t>06</a:t>
            </a:r>
            <a:endParaRPr lang="en-US" sz="800" dirty="0"/>
          </a:p>
        </p:txBody>
      </p:sp>
      <p:sp>
        <p:nvSpPr>
          <p:cNvPr id="6" name="Text 3"/>
          <p:cNvSpPr/>
          <p:nvPr/>
        </p:nvSpPr>
        <p:spPr>
          <a:xfrm>
            <a:off x="621792" y="576072"/>
            <a:ext cx="108813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06 / THE AGENTIC EXPERIENCE</a:t>
            </a:r>
            <a:endParaRPr lang="en-US" sz="1000" dirty="0"/>
          </a:p>
        </p:txBody>
      </p:sp>
      <p:sp>
        <p:nvSpPr>
          <p:cNvPr id="7" name="Text 4"/>
          <p:cNvSpPr/>
          <p:nvPr/>
        </p:nvSpPr>
        <p:spPr>
          <a:xfrm>
            <a:off x="621792" y="905256"/>
            <a:ext cx="10945368" cy="603504"/>
          </a:xfrm>
          <a:prstGeom prst="rect">
            <a:avLst/>
          </a:prstGeom>
          <a:noFill/>
          <a:ln/>
        </p:spPr>
        <p:txBody>
          <a:bodyPr wrap="square" lIns="0" tIns="0" rIns="0" bIns="0" rtlCol="0" anchor="ctr">
            <a:normAutofit/>
          </a:bodyPr>
          <a:lstStyle/>
          <a:p>
            <a:pPr indent="0" marL="0">
              <a:buNone/>
            </a:pPr>
            <a:r>
              <a:rPr lang="en-US" altLang="en-US" sz="2900" b="1" dirty="0">
                <a:solidFill>
                  <a:srgbClr val="19171D"/>
                </a:solidFill>
                <a:latin typeface="Aptos Display" pitchFamily="34" charset="0"/>
                <a:ea typeface="Aptos Display" pitchFamily="34" charset="-122"/>
                <a:cs typeface="Aptos Display" pitchFamily="34" charset="-120"/>
              </a:rPr>
              <a:t>One goal. End-to-end migration.</a:t>
            </a:r>
            <a:endParaRPr lang="en-US" sz="2900" dirty="0"/>
          </a:p>
        </p:txBody>
      </p:sp>
      <p:sp>
        <p:nvSpPr>
          <p:cNvPr id="8" name="Text 5"/>
          <p:cNvSpPr/>
          <p:nvPr/>
        </p:nvSpPr>
        <p:spPr>
          <a:xfrm>
            <a:off x="621792" y="1554480"/>
            <a:ext cx="10945368" cy="347472"/>
          </a:xfrm>
          <a:prstGeom prst="rect">
            <a:avLst/>
          </a:prstGeom>
          <a:noFill/>
          <a:ln/>
        </p:spPr>
        <p:txBody>
          <a:bodyPr wrap="square" lIns="0" tIns="0" rIns="0" bIns="0" rtlCol="0" anchor="ctr">
            <a:normAutofit/>
          </a:bodyPr>
          <a:lstStyle/>
          <a:p>
            <a:pPr indent="0" marL="0">
              <a:buNone/>
            </a:pPr>
            <a:r>
              <a:rPr lang="en-US" altLang="en-US" sz="1350" dirty="0">
                <a:solidFill>
                  <a:srgbClr val="66636D"/>
                </a:solidFill>
                <a:latin typeface="Aptos" pitchFamily="34" charset="0"/>
                <a:ea typeface="Aptos" pitchFamily="34" charset="-122"/>
                <a:cs typeface="Aptos" pitchFamily="34" charset="-120"/>
              </a:rPr>
              <a:t>Illustrative walkthrough / Jira Service Management to Freshservice</a:t>
            </a:r>
            <a:endParaRPr lang="en-US" sz="1350" dirty="0"/>
          </a:p>
        </p:txBody>
      </p:sp>
      <p:sp>
        <p:nvSpPr>
          <p:cNvPr id="9" name="Shape 6"/>
          <p:cNvSpPr/>
          <p:nvPr/>
        </p:nvSpPr>
        <p:spPr>
          <a:xfrm>
            <a:off x="621792" y="2020824"/>
            <a:ext cx="10945368" cy="475488"/>
          </a:xfrm>
          <a:prstGeom prst="rect">
            <a:avLst>
              <a:gd name="adj" fmla="val 11538"/>
            </a:avLst>
          </a:prstGeom>
          <a:solidFill>
            <a:srgbClr val="F3EBFC"/>
          </a:solidFill>
          <a:ln w="8890">
            <a:solidFill>
              <a:srgbClr val="F3EBFC"/>
            </a:solidFill>
            <a:prstDash val="solid"/>
          </a:ln>
        </p:spPr>
      </p:sp>
      <p:sp>
        <p:nvSpPr>
          <p:cNvPr id="10" name="Text 7"/>
          <p:cNvSpPr/>
          <p:nvPr/>
        </p:nvSpPr>
        <p:spPr>
          <a:xfrm>
            <a:off x="822960" y="2121408"/>
            <a:ext cx="10543032" cy="256032"/>
          </a:xfrm>
          <a:prstGeom prst="rect">
            <a:avLst/>
          </a:prstGeom>
          <a:noFill/>
          <a:ln/>
        </p:spPr>
        <p:txBody>
          <a:bodyPr wrap="square" lIns="0" tIns="0" rIns="0" bIns="0" rtlCol="0" anchor="ctr">
            <a:normAutofit/>
          </a:bodyPr>
          <a:lstStyle/>
          <a:p>
            <a:pPr indent="0" marL="0">
              <a:buNone/>
            </a:pPr>
            <a:r>
              <a:rPr lang="en-US" altLang="en-US" sz="1500" b="1" dirty="0">
                <a:solidFill>
                  <a:srgbClr val="19171D"/>
                </a:solidFill>
                <a:latin typeface="Aptos" pitchFamily="34" charset="0"/>
                <a:ea typeface="Aptos" pitchFamily="34" charset="-122"/>
                <a:cs typeface="Aptos" pitchFamily="34" charset="-120"/>
              </a:rPr>
              <a:t>"Migrate all employees and tickets from JSM to Freshservice."</a:t>
            </a:r>
            <a:endParaRPr lang="en-US" sz="1500" dirty="0"/>
          </a:p>
        </p:txBody>
      </p:sp>
      <p:sp>
        <p:nvSpPr>
          <p:cNvPr id="11" name="Text 8"/>
          <p:cNvSpPr/>
          <p:nvPr/>
        </p:nvSpPr>
        <p:spPr>
          <a:xfrm>
            <a:off x="621792" y="2761488"/>
            <a:ext cx="388620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ZEN DISCOVERS</a:t>
            </a:r>
            <a:endParaRPr lang="en-US" sz="1000" dirty="0"/>
          </a:p>
        </p:txBody>
      </p:sp>
      <p:sp>
        <p:nvSpPr>
          <p:cNvPr id="12" name="Text 9"/>
          <p:cNvSpPr/>
          <p:nvPr/>
        </p:nvSpPr>
        <p:spPr>
          <a:xfrm>
            <a:off x="621792" y="3054096"/>
            <a:ext cx="3886200" cy="548640"/>
          </a:xfrm>
          <a:prstGeom prst="rect">
            <a:avLst/>
          </a:prstGeom>
          <a:noFill/>
          <a:ln/>
        </p:spPr>
        <p:txBody>
          <a:bodyPr wrap="square" lIns="0" tIns="0" rIns="0" bIns="0" rtlCol="0" anchor="ctr">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Customers + tickets → Requesters + tickets</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Workspaces and departments discovered</a:t>
            </a:r>
            <a:endParaRPr lang="en-US" sz="1320" dirty="0"/>
          </a:p>
        </p:txBody>
      </p:sp>
      <p:sp>
        <p:nvSpPr>
          <p:cNvPr id="13" name="Text 10"/>
          <p:cNvSpPr/>
          <p:nvPr/>
        </p:nvSpPr>
        <p:spPr>
          <a:xfrm>
            <a:off x="621792" y="3785616"/>
            <a:ext cx="388620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ZEN MAPS</a:t>
            </a:r>
            <a:endParaRPr lang="en-US" sz="1000" dirty="0"/>
          </a:p>
        </p:txBody>
      </p:sp>
      <p:sp>
        <p:nvSpPr>
          <p:cNvPr id="14" name="Text 11"/>
          <p:cNvSpPr/>
          <p:nvPr/>
        </p:nvSpPr>
        <p:spPr>
          <a:xfrm>
            <a:off x="621792" y="4069080"/>
            <a:ext cx="3886200" cy="521208"/>
          </a:xfrm>
          <a:prstGeom prst="rect">
            <a:avLst/>
          </a:prstGeom>
          <a:noFill/>
          <a:ln/>
        </p:spPr>
        <p:txBody>
          <a:bodyPr wrap="square" lIns="0" tIns="0" rIns="0" bIns="0" rtlCol="0" anchor="ctr">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42 fields: 36 high-confidence</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5 medium-confidence / 1 requires review</a:t>
            </a:r>
            <a:endParaRPr lang="en-US" sz="1320" dirty="0"/>
          </a:p>
        </p:txBody>
      </p:sp>
      <p:sp>
        <p:nvSpPr>
          <p:cNvPr id="15" name="Text 12"/>
          <p:cNvSpPr/>
          <p:nvPr/>
        </p:nvSpPr>
        <p:spPr>
          <a:xfrm>
            <a:off x="621792" y="4764024"/>
            <a:ext cx="388620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ZEN TESTS</a:t>
            </a:r>
            <a:endParaRPr lang="en-US" sz="1000" dirty="0"/>
          </a:p>
        </p:txBody>
      </p:sp>
      <p:sp>
        <p:nvSpPr>
          <p:cNvPr id="16" name="Text 13"/>
          <p:cNvSpPr/>
          <p:nvPr/>
        </p:nvSpPr>
        <p:spPr>
          <a:xfrm>
            <a:off x="621792" y="5047488"/>
            <a:ext cx="3886200" cy="256032"/>
          </a:xfrm>
          <a:prstGeom prst="rect">
            <a:avLst/>
          </a:prstGeom>
          <a:noFill/>
          <a:ln/>
        </p:spPr>
        <p:txBody>
          <a:bodyPr wrap="square" lIns="0" tIns="0" rIns="0" bIns="0" rtlCol="0" anchor="ctr">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100 records: 98 passed + 2 auto-fixed</a:t>
            </a:r>
            <a:endParaRPr lang="en-US" sz="1320" dirty="0"/>
          </a:p>
        </p:txBody>
      </p:sp>
      <p:sp>
        <p:nvSpPr>
          <p:cNvPr id="17" name="Text 14"/>
          <p:cNvSpPr/>
          <p:nvPr/>
        </p:nvSpPr>
        <p:spPr>
          <a:xfrm>
            <a:off x="621792" y="5394960"/>
            <a:ext cx="3886200" cy="256032"/>
          </a:xfrm>
          <a:prstGeom prst="rect">
            <a:avLst/>
          </a:prstGeom>
          <a:noFill/>
          <a:ln/>
        </p:spPr>
        <p:txBody>
          <a:bodyPr wrap="square" lIns="0" tIns="0" rIns="0" bIns="0" rtlCol="0" anchor="ctr">
            <a:normAutofit/>
          </a:bodyPr>
          <a:lstStyle/>
          <a:p>
            <a:pPr indent="0" marL="0">
              <a:buNone/>
            </a:pPr>
            <a:r>
              <a:rPr lang="en-US" altLang="en-US" sz="1280" b="1" dirty="0">
                <a:solidFill>
                  <a:srgbClr val="147E64"/>
                </a:solidFill>
                <a:latin typeface="Aptos" pitchFamily="34" charset="0"/>
                <a:ea typeface="Aptos" pitchFamily="34" charset="-122"/>
                <a:cs typeface="Aptos" pitchFamily="34" charset="-120"/>
              </a:rPr>
              <a:t>0 critical errors → MIGRATION READY</a:t>
            </a:r>
            <a:endParaRPr lang="en-US" sz="1280" dirty="0"/>
          </a:p>
        </p:txBody>
      </p:sp>
      <p:sp>
        <p:nvSpPr>
          <p:cNvPr id="18" name="Shape 15"/>
          <p:cNvSpPr/>
          <p:nvPr/>
        </p:nvSpPr>
        <p:spPr>
          <a:xfrm>
            <a:off x="4636008" y="2752344"/>
            <a:ext cx="0" cy="2889504"/>
          </a:xfrm>
          <a:prstGeom prst="line">
            <a:avLst/>
          </a:prstGeom>
          <a:noFill/>
          <a:ln w="12700">
            <a:solidFill>
              <a:srgbClr val="E5E2E9"/>
            </a:solidFill>
            <a:prstDash val="solid"/>
          </a:ln>
        </p:spPr>
      </p:sp>
      <p:sp>
        <p:nvSpPr>
          <p:cNvPr id="19" name="Text 16"/>
          <p:cNvSpPr/>
          <p:nvPr/>
        </p:nvSpPr>
        <p:spPr>
          <a:xfrm>
            <a:off x="5001768" y="2761488"/>
            <a:ext cx="320040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ZEN EXECUTES</a:t>
            </a:r>
            <a:endParaRPr lang="en-US" sz="1000" dirty="0"/>
          </a:p>
        </p:txBody>
      </p:sp>
      <p:sp>
        <p:nvSpPr>
          <p:cNvPr id="20" name="Text 17"/>
          <p:cNvSpPr/>
          <p:nvPr/>
        </p:nvSpPr>
        <p:spPr>
          <a:xfrm>
            <a:off x="4983480" y="2980944"/>
            <a:ext cx="3108960" cy="777240"/>
          </a:xfrm>
          <a:prstGeom prst="rect">
            <a:avLst/>
          </a:prstGeom>
          <a:noFill/>
          <a:ln/>
        </p:spPr>
        <p:txBody>
          <a:bodyPr wrap="square" lIns="0" tIns="0" rIns="0" bIns="0" rtlCol="0" anchor="ctr">
            <a:normAutofit/>
          </a:bodyPr>
          <a:lstStyle/>
          <a:p>
            <a:pPr indent="0" marL="0">
              <a:buNone/>
            </a:pPr>
            <a:r>
              <a:rPr lang="en-US" altLang="en-US" sz="4800" b="1" dirty="0">
                <a:solidFill>
                  <a:srgbClr val="19171D"/>
                </a:solidFill>
                <a:latin typeface="Aptos Display" pitchFamily="34" charset="0"/>
                <a:ea typeface="Aptos Display" pitchFamily="34" charset="-122"/>
                <a:cs typeface="Aptos Display" pitchFamily="34" charset="-120"/>
              </a:rPr>
              <a:t>10,000</a:t>
            </a:r>
            <a:endParaRPr lang="en-US" sz="4800" dirty="0"/>
          </a:p>
        </p:txBody>
      </p:sp>
      <p:sp>
        <p:nvSpPr>
          <p:cNvPr id="21" name="Text 18"/>
          <p:cNvSpPr/>
          <p:nvPr/>
        </p:nvSpPr>
        <p:spPr>
          <a:xfrm>
            <a:off x="5020056" y="3767328"/>
            <a:ext cx="3255264" cy="228600"/>
          </a:xfrm>
          <a:prstGeom prst="rect">
            <a:avLst/>
          </a:prstGeom>
          <a:noFill/>
          <a:ln/>
        </p:spPr>
        <p:txBody>
          <a:bodyPr wrap="square" lIns="0" tIns="0" rIns="0" bIns="0" rtlCol="0" anchor="ctr">
            <a:normAutofit/>
          </a:bodyPr>
          <a:lstStyle/>
          <a:p>
            <a:pPr indent="0" marL="0">
              <a:buNone/>
            </a:pPr>
            <a:r>
              <a:rPr lang="en-US" altLang="en-US" sz="1230" dirty="0">
                <a:solidFill>
                  <a:srgbClr val="66636D"/>
                </a:solidFill>
                <a:latin typeface="Aptos" pitchFamily="34" charset="0"/>
                <a:ea typeface="Aptos" pitchFamily="34" charset="-122"/>
                <a:cs typeface="Aptos" pitchFamily="34" charset="-120"/>
              </a:rPr>
              <a:t>records in this example</a:t>
            </a:r>
            <a:endParaRPr lang="en-US" sz="1230" dirty="0"/>
          </a:p>
        </p:txBody>
      </p:sp>
      <p:sp>
        <p:nvSpPr>
          <p:cNvPr id="22" name="Text 19"/>
          <p:cNvSpPr/>
          <p:nvPr/>
        </p:nvSpPr>
        <p:spPr>
          <a:xfrm>
            <a:off x="8778240" y="3099816"/>
            <a:ext cx="2779776" cy="603504"/>
          </a:xfrm>
          <a:prstGeom prst="rect">
            <a:avLst/>
          </a:prstGeom>
          <a:noFill/>
          <a:ln/>
        </p:spPr>
        <p:txBody>
          <a:bodyPr wrap="square" lIns="0" tIns="0" rIns="0" bIns="0" rtlCol="0" anchor="ctr">
            <a:normAutofit/>
          </a:bodyPr>
          <a:lstStyle/>
          <a:p>
            <a:pPr algn="r" indent="0" marL="0">
              <a:buNone/>
            </a:pPr>
            <a:r>
              <a:rPr lang="en-US" altLang="en-US" sz="3700" b="1" dirty="0">
                <a:solidFill>
                  <a:srgbClr val="147E64"/>
                </a:solidFill>
                <a:latin typeface="Aptos" pitchFamily="34" charset="0"/>
                <a:ea typeface="Aptos" pitchFamily="34" charset="-122"/>
                <a:cs typeface="Aptos" pitchFamily="34" charset="-120"/>
              </a:rPr>
              <a:t>96.5%</a:t>
            </a:r>
            <a:endParaRPr lang="en-US" sz="3700" dirty="0"/>
          </a:p>
        </p:txBody>
      </p:sp>
      <p:sp>
        <p:nvSpPr>
          <p:cNvPr id="23" name="Text 20"/>
          <p:cNvSpPr/>
          <p:nvPr/>
        </p:nvSpPr>
        <p:spPr>
          <a:xfrm>
            <a:off x="8787384" y="3767328"/>
            <a:ext cx="2779776" cy="228600"/>
          </a:xfrm>
          <a:prstGeom prst="rect">
            <a:avLst/>
          </a:prstGeom>
          <a:noFill/>
          <a:ln/>
        </p:spPr>
        <p:txBody>
          <a:bodyPr wrap="square" lIns="0" tIns="0" rIns="0" bIns="0" rtlCol="0" anchor="ctr">
            <a:normAutofit/>
          </a:bodyPr>
          <a:lstStyle/>
          <a:p>
            <a:pPr algn="r" indent="0" marL="0">
              <a:buNone/>
            </a:pPr>
            <a:r>
              <a:rPr lang="en-US" altLang="en-US" sz="1230" dirty="0">
                <a:solidFill>
                  <a:srgbClr val="66636D"/>
                </a:solidFill>
                <a:latin typeface="Aptos" pitchFamily="34" charset="0"/>
                <a:ea typeface="Aptos" pitchFamily="34" charset="-122"/>
                <a:cs typeface="Aptos" pitchFamily="34" charset="-120"/>
              </a:rPr>
              <a:t>first-pass success</a:t>
            </a:r>
            <a:endParaRPr lang="en-US" sz="1230" dirty="0"/>
          </a:p>
        </p:txBody>
      </p:sp>
      <p:sp>
        <p:nvSpPr>
          <p:cNvPr id="24" name="Shape 21"/>
          <p:cNvSpPr/>
          <p:nvPr/>
        </p:nvSpPr>
        <p:spPr>
          <a:xfrm>
            <a:off x="5020056" y="4206240"/>
            <a:ext cx="6317955" cy="137160"/>
          </a:xfrm>
          <a:prstGeom prst="rect">
            <a:avLst>
              <a:gd name="adj" fmla="val 40000"/>
            </a:avLst>
          </a:prstGeom>
          <a:solidFill>
            <a:srgbClr val="147E64"/>
          </a:solidFill>
          <a:ln w="8890">
            <a:solidFill>
              <a:srgbClr val="147E64"/>
            </a:solidFill>
            <a:prstDash val="solid"/>
          </a:ln>
        </p:spPr>
      </p:sp>
      <p:sp>
        <p:nvSpPr>
          <p:cNvPr id="25" name="Shape 22"/>
          <p:cNvSpPr/>
          <p:nvPr/>
        </p:nvSpPr>
        <p:spPr>
          <a:xfrm>
            <a:off x="11338011" y="4206240"/>
            <a:ext cx="183319" cy="137160"/>
          </a:xfrm>
          <a:prstGeom prst="rect">
            <a:avLst>
              <a:gd name="adj" fmla="val 40000"/>
            </a:avLst>
          </a:prstGeom>
          <a:solidFill>
            <a:srgbClr val="853BDD"/>
          </a:solidFill>
          <a:ln w="8890">
            <a:solidFill>
              <a:srgbClr val="853BDD"/>
            </a:solidFill>
            <a:prstDash val="solid"/>
          </a:ln>
        </p:spPr>
      </p:sp>
      <p:sp>
        <p:nvSpPr>
          <p:cNvPr id="26" name="Shape 23"/>
          <p:cNvSpPr/>
          <p:nvPr/>
        </p:nvSpPr>
        <p:spPr>
          <a:xfrm>
            <a:off x="11521330" y="4206240"/>
            <a:ext cx="45830" cy="137160"/>
          </a:xfrm>
          <a:prstGeom prst="rect">
            <a:avLst>
              <a:gd name="adj" fmla="val 119712"/>
            </a:avLst>
          </a:prstGeom>
          <a:solidFill>
            <a:srgbClr val="A56611"/>
          </a:solidFill>
          <a:ln w="8890">
            <a:solidFill>
              <a:srgbClr val="A56611"/>
            </a:solidFill>
            <a:prstDash val="solid"/>
          </a:ln>
        </p:spPr>
      </p:sp>
      <p:sp>
        <p:nvSpPr>
          <p:cNvPr id="27" name="Shape 24"/>
          <p:cNvSpPr/>
          <p:nvPr/>
        </p:nvSpPr>
        <p:spPr>
          <a:xfrm>
            <a:off x="5020056" y="4604004"/>
            <a:ext cx="91440" cy="91440"/>
          </a:xfrm>
          <a:prstGeom prst="rect">
            <a:avLst>
              <a:gd name="adj" fmla="val 60000"/>
            </a:avLst>
          </a:prstGeom>
          <a:solidFill>
            <a:srgbClr val="147E64"/>
          </a:solidFill>
          <a:ln w="8890">
            <a:solidFill>
              <a:srgbClr val="147E64"/>
            </a:solidFill>
            <a:prstDash val="solid"/>
          </a:ln>
        </p:spPr>
      </p:sp>
      <p:sp>
        <p:nvSpPr>
          <p:cNvPr id="28" name="Text 25"/>
          <p:cNvSpPr/>
          <p:nvPr/>
        </p:nvSpPr>
        <p:spPr>
          <a:xfrm>
            <a:off x="5276088" y="4562856"/>
            <a:ext cx="4910328" cy="219456"/>
          </a:xfrm>
          <a:prstGeom prst="rect">
            <a:avLst/>
          </a:prstGeom>
          <a:noFill/>
          <a:ln/>
        </p:spPr>
        <p:txBody>
          <a:bodyPr wrap="square" lIns="0" tIns="0" rIns="0" bIns="0" rtlCol="0" anchor="ctr">
            <a:normAutofit/>
          </a:bodyPr>
          <a:lstStyle/>
          <a:p>
            <a:pPr indent="0" marL="0">
              <a:buNone/>
            </a:pPr>
            <a:r>
              <a:rPr lang="en-US" altLang="en-US" sz="1300" dirty="0">
                <a:solidFill>
                  <a:srgbClr val="66636D"/>
                </a:solidFill>
                <a:latin typeface="Aptos" pitchFamily="34" charset="0"/>
                <a:ea typeface="Aptos" pitchFamily="34" charset="-122"/>
                <a:cs typeface="Aptos" pitchFamily="34" charset="-120"/>
              </a:rPr>
              <a:t>Successfully migrated first pass</a:t>
            </a:r>
            <a:endParaRPr lang="en-US" sz="1300" dirty="0"/>
          </a:p>
        </p:txBody>
      </p:sp>
      <p:sp>
        <p:nvSpPr>
          <p:cNvPr id="29" name="Text 26"/>
          <p:cNvSpPr/>
          <p:nvPr/>
        </p:nvSpPr>
        <p:spPr>
          <a:xfrm>
            <a:off x="10561320" y="4562856"/>
            <a:ext cx="1005840" cy="219456"/>
          </a:xfrm>
          <a:prstGeom prst="rect">
            <a:avLst/>
          </a:prstGeom>
          <a:noFill/>
          <a:ln/>
        </p:spPr>
        <p:txBody>
          <a:bodyPr wrap="square" lIns="0" tIns="0" rIns="0" bIns="0" rtlCol="0" anchor="ctr">
            <a:normAutofit/>
          </a:bodyPr>
          <a:lstStyle/>
          <a:p>
            <a:pPr algn="r" indent="0" marL="0">
              <a:buNone/>
            </a:pPr>
            <a:r>
              <a:rPr lang="en-US" altLang="en-US" sz="1350" b="1" dirty="0">
                <a:solidFill>
                  <a:srgbClr val="19171D"/>
                </a:solidFill>
                <a:latin typeface="Aptos" pitchFamily="34" charset="0"/>
                <a:ea typeface="Aptos" pitchFamily="34" charset="-122"/>
                <a:cs typeface="Aptos" pitchFamily="34" charset="-120"/>
              </a:rPr>
              <a:t>9,650</a:t>
            </a:r>
            <a:endParaRPr lang="en-US" sz="1350" dirty="0"/>
          </a:p>
        </p:txBody>
      </p:sp>
      <p:sp>
        <p:nvSpPr>
          <p:cNvPr id="30" name="Shape 27"/>
          <p:cNvSpPr/>
          <p:nvPr/>
        </p:nvSpPr>
        <p:spPr>
          <a:xfrm>
            <a:off x="5020056" y="4924044"/>
            <a:ext cx="91440" cy="91440"/>
          </a:xfrm>
          <a:prstGeom prst="rect">
            <a:avLst>
              <a:gd name="adj" fmla="val 60000"/>
            </a:avLst>
          </a:prstGeom>
          <a:solidFill>
            <a:srgbClr val="853BDD"/>
          </a:solidFill>
          <a:ln w="8890">
            <a:solidFill>
              <a:srgbClr val="853BDD"/>
            </a:solidFill>
            <a:prstDash val="solid"/>
          </a:ln>
        </p:spPr>
      </p:sp>
      <p:sp>
        <p:nvSpPr>
          <p:cNvPr id="31" name="Text 28"/>
          <p:cNvSpPr/>
          <p:nvPr/>
        </p:nvSpPr>
        <p:spPr>
          <a:xfrm>
            <a:off x="5276088" y="4882896"/>
            <a:ext cx="4910328" cy="219456"/>
          </a:xfrm>
          <a:prstGeom prst="rect">
            <a:avLst/>
          </a:prstGeom>
          <a:noFill/>
          <a:ln/>
        </p:spPr>
        <p:txBody>
          <a:bodyPr wrap="square" lIns="0" tIns="0" rIns="0" bIns="0" rtlCol="0" anchor="ctr">
            <a:normAutofit/>
          </a:bodyPr>
          <a:lstStyle/>
          <a:p>
            <a:pPr indent="0" marL="0">
              <a:buNone/>
            </a:pPr>
            <a:r>
              <a:rPr lang="en-US" altLang="en-US" sz="1300" dirty="0">
                <a:solidFill>
                  <a:srgbClr val="66636D"/>
                </a:solidFill>
                <a:latin typeface="Aptos" pitchFamily="34" charset="0"/>
                <a:ea typeface="Aptos" pitchFamily="34" charset="-122"/>
                <a:cs typeface="Aptos" pitchFamily="34" charset="-120"/>
              </a:rPr>
              <a:t>Automatically remediated</a:t>
            </a:r>
            <a:endParaRPr lang="en-US" sz="1300" dirty="0"/>
          </a:p>
        </p:txBody>
      </p:sp>
      <p:sp>
        <p:nvSpPr>
          <p:cNvPr id="32" name="Text 29"/>
          <p:cNvSpPr/>
          <p:nvPr/>
        </p:nvSpPr>
        <p:spPr>
          <a:xfrm>
            <a:off x="10561320" y="4882896"/>
            <a:ext cx="1005840" cy="219456"/>
          </a:xfrm>
          <a:prstGeom prst="rect">
            <a:avLst/>
          </a:prstGeom>
          <a:noFill/>
          <a:ln/>
        </p:spPr>
        <p:txBody>
          <a:bodyPr wrap="square" lIns="0" tIns="0" rIns="0" bIns="0" rtlCol="0" anchor="ctr">
            <a:normAutofit/>
          </a:bodyPr>
          <a:lstStyle/>
          <a:p>
            <a:pPr algn="r" indent="0" marL="0">
              <a:buNone/>
            </a:pPr>
            <a:r>
              <a:rPr lang="en-US" altLang="en-US" sz="1350" b="1" dirty="0">
                <a:solidFill>
                  <a:srgbClr val="19171D"/>
                </a:solidFill>
                <a:latin typeface="Aptos" pitchFamily="34" charset="0"/>
                <a:ea typeface="Aptos" pitchFamily="34" charset="-122"/>
                <a:cs typeface="Aptos" pitchFamily="34" charset="-120"/>
              </a:rPr>
              <a:t>280</a:t>
            </a:r>
            <a:endParaRPr lang="en-US" sz="1350" dirty="0"/>
          </a:p>
        </p:txBody>
      </p:sp>
      <p:sp>
        <p:nvSpPr>
          <p:cNvPr id="33" name="Shape 30"/>
          <p:cNvSpPr/>
          <p:nvPr/>
        </p:nvSpPr>
        <p:spPr>
          <a:xfrm>
            <a:off x="5020056" y="5244084"/>
            <a:ext cx="91440" cy="91440"/>
          </a:xfrm>
          <a:prstGeom prst="rect">
            <a:avLst>
              <a:gd name="adj" fmla="val 60000"/>
            </a:avLst>
          </a:prstGeom>
          <a:solidFill>
            <a:srgbClr val="A56611"/>
          </a:solidFill>
          <a:ln w="8890">
            <a:solidFill>
              <a:srgbClr val="A56611"/>
            </a:solidFill>
            <a:prstDash val="solid"/>
          </a:ln>
        </p:spPr>
      </p:sp>
      <p:sp>
        <p:nvSpPr>
          <p:cNvPr id="34" name="Text 31"/>
          <p:cNvSpPr/>
          <p:nvPr/>
        </p:nvSpPr>
        <p:spPr>
          <a:xfrm>
            <a:off x="5276088" y="5202936"/>
            <a:ext cx="4910328" cy="219456"/>
          </a:xfrm>
          <a:prstGeom prst="rect">
            <a:avLst/>
          </a:prstGeom>
          <a:noFill/>
          <a:ln/>
        </p:spPr>
        <p:txBody>
          <a:bodyPr wrap="square" lIns="0" tIns="0" rIns="0" bIns="0" rtlCol="0" anchor="ctr">
            <a:normAutofit/>
          </a:bodyPr>
          <a:lstStyle/>
          <a:p>
            <a:pPr indent="0" marL="0">
              <a:buNone/>
            </a:pPr>
            <a:r>
              <a:rPr lang="en-US" altLang="en-US" sz="1300" dirty="0">
                <a:solidFill>
                  <a:srgbClr val="66636D"/>
                </a:solidFill>
                <a:latin typeface="Aptos" pitchFamily="34" charset="0"/>
                <a:ea typeface="Aptos" pitchFamily="34" charset="-122"/>
                <a:cs typeface="Aptos" pitchFamily="34" charset="-120"/>
              </a:rPr>
              <a:t>Human review</a:t>
            </a:r>
            <a:endParaRPr lang="en-US" sz="1300" dirty="0"/>
          </a:p>
        </p:txBody>
      </p:sp>
      <p:sp>
        <p:nvSpPr>
          <p:cNvPr id="35" name="Text 32"/>
          <p:cNvSpPr/>
          <p:nvPr/>
        </p:nvSpPr>
        <p:spPr>
          <a:xfrm>
            <a:off x="10561320" y="5202936"/>
            <a:ext cx="1005840" cy="219456"/>
          </a:xfrm>
          <a:prstGeom prst="rect">
            <a:avLst/>
          </a:prstGeom>
          <a:noFill/>
          <a:ln/>
        </p:spPr>
        <p:txBody>
          <a:bodyPr wrap="square" lIns="0" tIns="0" rIns="0" bIns="0" rtlCol="0" anchor="ctr">
            <a:normAutofit/>
          </a:bodyPr>
          <a:lstStyle/>
          <a:p>
            <a:pPr algn="r" indent="0" marL="0">
              <a:buNone/>
            </a:pPr>
            <a:r>
              <a:rPr lang="en-US" altLang="en-US" sz="1350" b="1" dirty="0">
                <a:solidFill>
                  <a:srgbClr val="19171D"/>
                </a:solidFill>
                <a:latin typeface="Aptos" pitchFamily="34" charset="0"/>
                <a:ea typeface="Aptos" pitchFamily="34" charset="-122"/>
                <a:cs typeface="Aptos" pitchFamily="34" charset="-120"/>
              </a:rPr>
              <a:t>70</a:t>
            </a:r>
            <a:endParaRPr lang="en-US" sz="1350" dirty="0"/>
          </a:p>
        </p:txBody>
      </p:sp>
      <p:sp>
        <p:nvSpPr>
          <p:cNvPr id="36" name="Text 33"/>
          <p:cNvSpPr/>
          <p:nvPr/>
        </p:nvSpPr>
        <p:spPr>
          <a:xfrm>
            <a:off x="5020056" y="5504688"/>
            <a:ext cx="6547104" cy="237744"/>
          </a:xfrm>
          <a:prstGeom prst="rect">
            <a:avLst/>
          </a:prstGeom>
          <a:noFill/>
          <a:ln/>
        </p:spPr>
        <p:txBody>
          <a:bodyPr wrap="square" lIns="0" tIns="0" rIns="0" bIns="0" rtlCol="0" anchor="ctr">
            <a:normAutofit/>
          </a:bodyPr>
          <a:lstStyle/>
          <a:p>
            <a:pPr indent="0" marL="0">
              <a:buNone/>
            </a:pPr>
            <a:r>
              <a:rPr lang="en-US" altLang="en-US" sz="1380" b="1" dirty="0">
                <a:solidFill>
                  <a:srgbClr val="147E64"/>
                </a:solidFill>
                <a:latin typeface="Aptos" pitchFamily="34" charset="0"/>
                <a:ea typeface="Aptos" pitchFamily="34" charset="-122"/>
                <a:cs typeface="Aptos" pitchFamily="34" charset="-120"/>
              </a:rPr>
              <a:t>99.3% migrated after remediation</a:t>
            </a:r>
            <a:endParaRPr lang="en-US" sz="1380" dirty="0"/>
          </a:p>
        </p:txBody>
      </p:sp>
      <p:sp>
        <p:nvSpPr>
          <p:cNvPr id="37" name="Shape 34"/>
          <p:cNvSpPr/>
          <p:nvPr/>
        </p:nvSpPr>
        <p:spPr>
          <a:xfrm>
            <a:off x="621792" y="5888736"/>
            <a:ext cx="10945368" cy="521208"/>
          </a:xfrm>
          <a:prstGeom prst="rect">
            <a:avLst>
              <a:gd name="adj" fmla="val 10526"/>
            </a:avLst>
          </a:prstGeom>
          <a:solidFill>
            <a:srgbClr val="F7F6F9"/>
          </a:solidFill>
          <a:ln w="8890">
            <a:solidFill>
              <a:srgbClr val="F7F6F9"/>
            </a:solidFill>
            <a:prstDash val="solid"/>
          </a:ln>
        </p:spPr>
      </p:sp>
      <p:sp>
        <p:nvSpPr>
          <p:cNvPr id="38" name="Text 35"/>
          <p:cNvSpPr/>
          <p:nvPr/>
        </p:nvSpPr>
        <p:spPr>
          <a:xfrm>
            <a:off x="758952" y="5961888"/>
            <a:ext cx="3429000" cy="146304"/>
          </a:xfrm>
          <a:prstGeom prst="rect">
            <a:avLst/>
          </a:prstGeom>
          <a:noFill/>
          <a:ln/>
        </p:spPr>
        <p:txBody>
          <a:bodyPr wrap="square" lIns="0" tIns="0" rIns="0" bIns="0" rtlCol="0" anchor="ctr">
            <a:normAutofit/>
          </a:bodyPr>
          <a:lstStyle/>
          <a:p>
            <a:pPr indent="0" marL="0">
              <a:buNone/>
            </a:pPr>
            <a:r>
              <a:rPr lang="en-US" altLang="en-US" sz="880" b="1" dirty="0">
                <a:solidFill>
                  <a:srgbClr val="853BDD"/>
                </a:solidFill>
                <a:latin typeface="Aptos" pitchFamily="34" charset="0"/>
                <a:ea typeface="Aptos" pitchFamily="34" charset="-122"/>
                <a:cs typeface="Aptos" pitchFamily="34" charset="-120"/>
              </a:rPr>
              <a:t>CLAUDE / WHAT WENT WRONG?</a:t>
            </a:r>
            <a:endParaRPr lang="en-US" sz="880" dirty="0"/>
          </a:p>
        </p:txBody>
      </p:sp>
      <p:sp>
        <p:nvSpPr>
          <p:cNvPr id="39" name="Text 36"/>
          <p:cNvSpPr/>
          <p:nvPr/>
        </p:nvSpPr>
        <p:spPr>
          <a:xfrm>
            <a:off x="758952" y="6190488"/>
            <a:ext cx="3429000" cy="146304"/>
          </a:xfrm>
          <a:prstGeom prst="rect">
            <a:avLst/>
          </a:prstGeom>
          <a:noFill/>
          <a:ln/>
        </p:spPr>
        <p:txBody>
          <a:bodyPr wrap="square" lIns="0" tIns="0" rIns="0" bIns="0" rtlCol="0" anchor="ctr">
            <a:normAutofit/>
          </a:bodyPr>
          <a:lstStyle/>
          <a:p>
            <a:pPr indent="0" marL="0">
              <a:buNone/>
            </a:pPr>
            <a:r>
              <a:rPr lang="en-US" altLang="en-US" sz="1010" dirty="0">
                <a:solidFill>
                  <a:srgbClr val="66636D"/>
                </a:solidFill>
                <a:latin typeface="Aptos" pitchFamily="34" charset="0"/>
                <a:ea typeface="Aptos" pitchFamily="34" charset="-122"/>
                <a:cs typeface="Aptos" pitchFamily="34" charset="-120"/>
              </a:rPr>
              <a:t>Missing requester information.</a:t>
            </a:r>
            <a:endParaRPr lang="en-US" sz="1010" dirty="0"/>
          </a:p>
        </p:txBody>
      </p:sp>
      <p:sp>
        <p:nvSpPr>
          <p:cNvPr id="40" name="Text 37"/>
          <p:cNvSpPr/>
          <p:nvPr/>
        </p:nvSpPr>
        <p:spPr>
          <a:xfrm>
            <a:off x="4416552" y="5961888"/>
            <a:ext cx="3429000" cy="146304"/>
          </a:xfrm>
          <a:prstGeom prst="rect">
            <a:avLst/>
          </a:prstGeom>
          <a:noFill/>
          <a:ln/>
        </p:spPr>
        <p:txBody>
          <a:bodyPr wrap="square" lIns="0" tIns="0" rIns="0" bIns="0" rtlCol="0" anchor="ctr">
            <a:normAutofit/>
          </a:bodyPr>
          <a:lstStyle/>
          <a:p>
            <a:pPr indent="0" marL="0">
              <a:buNone/>
            </a:pPr>
            <a:r>
              <a:rPr lang="en-US" altLang="en-US" sz="880" b="1" dirty="0">
                <a:solidFill>
                  <a:srgbClr val="853BDD"/>
                </a:solidFill>
                <a:latin typeface="Aptos" pitchFamily="34" charset="0"/>
                <a:ea typeface="Aptos" pitchFamily="34" charset="-122"/>
                <a:cs typeface="Aptos" pitchFamily="34" charset="-120"/>
              </a:rPr>
              <a:t>WHAT ZEN FIXED</a:t>
            </a:r>
            <a:endParaRPr lang="en-US" sz="880" dirty="0"/>
          </a:p>
        </p:txBody>
      </p:sp>
      <p:sp>
        <p:nvSpPr>
          <p:cNvPr id="41" name="Text 38"/>
          <p:cNvSpPr/>
          <p:nvPr/>
        </p:nvSpPr>
        <p:spPr>
          <a:xfrm>
            <a:off x="4416552" y="6190488"/>
            <a:ext cx="3429000" cy="146304"/>
          </a:xfrm>
          <a:prstGeom prst="rect">
            <a:avLst/>
          </a:prstGeom>
          <a:noFill/>
          <a:ln/>
        </p:spPr>
        <p:txBody>
          <a:bodyPr wrap="square" lIns="0" tIns="0" rIns="0" bIns="0" rtlCol="0" anchor="ctr">
            <a:normAutofit/>
          </a:bodyPr>
          <a:lstStyle/>
          <a:p>
            <a:pPr indent="0" marL="0">
              <a:buNone/>
            </a:pPr>
            <a:r>
              <a:rPr lang="en-US" altLang="en-US" sz="1010" dirty="0">
                <a:solidFill>
                  <a:srgbClr val="66636D"/>
                </a:solidFill>
                <a:latin typeface="Aptos" pitchFamily="34" charset="0"/>
                <a:ea typeface="Aptos" pitchFamily="34" charset="-122"/>
                <a:cs typeface="Aptos" pitchFamily="34" charset="-120"/>
              </a:rPr>
              <a:t>Reliable email matches + department values.</a:t>
            </a:r>
            <a:endParaRPr lang="en-US" sz="1010" dirty="0"/>
          </a:p>
        </p:txBody>
      </p:sp>
      <p:sp>
        <p:nvSpPr>
          <p:cNvPr id="42" name="Text 39"/>
          <p:cNvSpPr/>
          <p:nvPr/>
        </p:nvSpPr>
        <p:spPr>
          <a:xfrm>
            <a:off x="8074152" y="5961888"/>
            <a:ext cx="3429000" cy="146304"/>
          </a:xfrm>
          <a:prstGeom prst="rect">
            <a:avLst/>
          </a:prstGeom>
          <a:noFill/>
          <a:ln/>
        </p:spPr>
        <p:txBody>
          <a:bodyPr wrap="square" lIns="0" tIns="0" rIns="0" bIns="0" rtlCol="0" anchor="ctr">
            <a:normAutofit/>
          </a:bodyPr>
          <a:lstStyle/>
          <a:p>
            <a:pPr indent="0" marL="0">
              <a:buNone/>
            </a:pPr>
            <a:r>
              <a:rPr lang="en-US" altLang="en-US" sz="880" b="1" dirty="0">
                <a:solidFill>
                  <a:srgbClr val="853BDD"/>
                </a:solidFill>
                <a:latin typeface="Aptos" pitchFamily="34" charset="0"/>
                <a:ea typeface="Aptos" pitchFamily="34" charset="-122"/>
                <a:cs typeface="Aptos" pitchFamily="34" charset="-120"/>
              </a:rPr>
              <a:t>WHAT REMAINS</a:t>
            </a:r>
            <a:endParaRPr lang="en-US" sz="880" dirty="0"/>
          </a:p>
        </p:txBody>
      </p:sp>
      <p:sp>
        <p:nvSpPr>
          <p:cNvPr id="43" name="Text 40"/>
          <p:cNvSpPr/>
          <p:nvPr/>
        </p:nvSpPr>
        <p:spPr>
          <a:xfrm>
            <a:off x="8074152" y="6190488"/>
            <a:ext cx="3429000" cy="146304"/>
          </a:xfrm>
          <a:prstGeom prst="rect">
            <a:avLst/>
          </a:prstGeom>
          <a:noFill/>
          <a:ln/>
        </p:spPr>
        <p:txBody>
          <a:bodyPr wrap="square" lIns="0" tIns="0" rIns="0" bIns="0" rtlCol="0" anchor="ctr">
            <a:normAutofit/>
          </a:bodyPr>
          <a:lstStyle/>
          <a:p>
            <a:pPr indent="0" marL="0">
              <a:buNone/>
            </a:pPr>
            <a:r>
              <a:rPr lang="en-US" altLang="en-US" sz="1010" dirty="0">
                <a:solidFill>
                  <a:srgbClr val="66636D"/>
                </a:solidFill>
                <a:latin typeface="Aptos" pitchFamily="34" charset="0"/>
                <a:ea typeface="Aptos" pitchFamily="34" charset="-122"/>
                <a:cs typeface="Aptos" pitchFamily="34" charset="-120"/>
              </a:rPr>
              <a:t>70 records without a reliable requester match.</a:t>
            </a:r>
            <a:endParaRPr lang="en-US" sz="10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6473952"/>
            <a:ext cx="10945368" cy="0"/>
          </a:xfrm>
          <a:prstGeom prst="line">
            <a:avLst/>
          </a:prstGeom>
          <a:noFill/>
          <a:ln w="8255">
            <a:solidFill>
              <a:srgbClr val="E5E2E9"/>
            </a:solidFill>
            <a:prstDash val="solid"/>
          </a:ln>
        </p:spPr>
      </p:sp>
      <p:sp>
        <p:nvSpPr>
          <p:cNvPr id="3" name="Text 1"/>
          <p:cNvSpPr/>
          <p:nvPr/>
        </p:nvSpPr>
        <p:spPr>
          <a:xfrm>
            <a:off x="621792" y="6592824"/>
            <a:ext cx="5486400" cy="137160"/>
          </a:xfrm>
          <a:prstGeom prst="rect">
            <a:avLst/>
          </a:prstGeom>
          <a:noFill/>
          <a:ln/>
        </p:spPr>
        <p:txBody>
          <a:bodyPr wrap="square" lIns="0" tIns="0" rIns="0" bIns="0" rtlCol="0" anchor="ctr">
            <a:normAutofit/>
          </a:bodyPr>
          <a:lstStyle/>
          <a:p>
            <a:pPr indent="0" marL="0">
              <a:buNone/>
            </a:pPr>
            <a:r>
              <a:rPr lang="en-US" altLang="en-US" sz="800" dirty="0">
                <a:solidFill>
                  <a:srgbClr val="95909D"/>
                </a:solidFill>
                <a:latin typeface="Aptos" pitchFamily="34" charset="0"/>
                <a:ea typeface="Aptos" pitchFamily="34" charset="-122"/>
                <a:cs typeface="Aptos" pitchFamily="34" charset="-120"/>
              </a:rPr>
              <a:t>ZEN / AUTONOMOUS ENTERPRISE MIGRATION</a:t>
            </a:r>
            <a:endParaRPr lang="en-US" sz="800" dirty="0"/>
          </a:p>
        </p:txBody>
      </p:sp>
      <p:sp>
        <p:nvSpPr>
          <p:cNvPr id="4" name="Text 2"/>
          <p:cNvSpPr/>
          <p:nvPr/>
        </p:nvSpPr>
        <p:spPr>
          <a:xfrm>
            <a:off x="11137392" y="6583680"/>
            <a:ext cx="429768" cy="155448"/>
          </a:xfrm>
          <a:prstGeom prst="rect">
            <a:avLst/>
          </a:prstGeom>
          <a:noFill/>
          <a:ln/>
        </p:spPr>
        <p:txBody>
          <a:bodyPr wrap="square" lIns="0" tIns="0" rIns="0" bIns="0" rtlCol="0" anchor="ctr">
            <a:normAutofit/>
          </a:bodyPr>
          <a:lstStyle/>
          <a:p>
            <a:pPr algn="r" indent="0" marL="0">
              <a:buNone/>
            </a:pPr>
            <a:r>
              <a:rPr lang="en-US" altLang="en-US" sz="800" dirty="0">
                <a:solidFill>
                  <a:srgbClr val="95909D"/>
                </a:solidFill>
                <a:latin typeface="Aptos" pitchFamily="34" charset="0"/>
                <a:ea typeface="Aptos" pitchFamily="34" charset="-122"/>
                <a:cs typeface="Aptos" pitchFamily="34" charset="-120"/>
              </a:rPr>
              <a:t>07</a:t>
            </a:r>
            <a:endParaRPr lang="en-US" sz="800" dirty="0"/>
          </a:p>
        </p:txBody>
      </p:sp>
      <p:sp>
        <p:nvSpPr>
          <p:cNvPr id="6" name="Text 3"/>
          <p:cNvSpPr/>
          <p:nvPr/>
        </p:nvSpPr>
        <p:spPr>
          <a:xfrm>
            <a:off x="621792" y="576072"/>
            <a:ext cx="108813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07 / WHAT MAKES ZEN DIFFERENT?</a:t>
            </a:r>
            <a:endParaRPr lang="en-US" sz="1000" dirty="0"/>
          </a:p>
        </p:txBody>
      </p:sp>
      <p:sp>
        <p:nvSpPr>
          <p:cNvPr id="7" name="Text 4"/>
          <p:cNvSpPr/>
          <p:nvPr/>
        </p:nvSpPr>
        <p:spPr>
          <a:xfrm>
            <a:off x="621792" y="905256"/>
            <a:ext cx="10945368" cy="603504"/>
          </a:xfrm>
          <a:prstGeom prst="rect">
            <a:avLst/>
          </a:prstGeom>
          <a:noFill/>
          <a:ln/>
        </p:spPr>
        <p:txBody>
          <a:bodyPr wrap="square" lIns="0" tIns="0" rIns="0" bIns="0" rtlCol="0" anchor="ctr">
            <a:normAutofit/>
          </a:bodyPr>
          <a:lstStyle/>
          <a:p>
            <a:pPr indent="0" marL="0">
              <a:buNone/>
            </a:pPr>
            <a:r>
              <a:rPr lang="en-US" altLang="en-US" sz="2900" b="1" dirty="0">
                <a:solidFill>
                  <a:srgbClr val="19171D"/>
                </a:solidFill>
                <a:latin typeface="Aptos Display" pitchFamily="34" charset="0"/>
                <a:ea typeface="Aptos Display" pitchFamily="34" charset="-122"/>
                <a:cs typeface="Aptos Display" pitchFamily="34" charset="-120"/>
              </a:rPr>
              <a:t>From migration execution → migration autonomy</a:t>
            </a:r>
            <a:endParaRPr lang="en-US" sz="2900" dirty="0"/>
          </a:p>
        </p:txBody>
      </p:sp>
      <p:sp>
        <p:nvSpPr>
          <p:cNvPr id="8" name="Text 5"/>
          <p:cNvSpPr/>
          <p:nvPr/>
        </p:nvSpPr>
        <p:spPr>
          <a:xfrm>
            <a:off x="621792" y="1554480"/>
            <a:ext cx="10945368" cy="347472"/>
          </a:xfrm>
          <a:prstGeom prst="rect">
            <a:avLst/>
          </a:prstGeom>
          <a:noFill/>
          <a:ln/>
        </p:spPr>
        <p:txBody>
          <a:bodyPr wrap="square" lIns="0" tIns="0" rIns="0" bIns="0" rtlCol="0" anchor="ctr">
            <a:normAutofit/>
          </a:bodyPr>
          <a:lstStyle/>
          <a:p>
            <a:pPr indent="0" marL="0">
              <a:buNone/>
            </a:pPr>
            <a:r>
              <a:rPr lang="en-US" altLang="en-US" sz="1350" dirty="0">
                <a:solidFill>
                  <a:srgbClr val="66636D"/>
                </a:solidFill>
                <a:latin typeface="Aptos" pitchFamily="34" charset="0"/>
                <a:ea typeface="Aptos" pitchFamily="34" charset="-122"/>
                <a:cs typeface="Aptos" pitchFamily="34" charset="-120"/>
              </a:rPr>
              <a:t>A goal-driven operating model, with people involved where judgment matters.</a:t>
            </a:r>
            <a:endParaRPr lang="en-US" sz="1350" dirty="0"/>
          </a:p>
        </p:txBody>
      </p:sp>
      <p:sp>
        <p:nvSpPr>
          <p:cNvPr id="9" name="Shape 6"/>
          <p:cNvSpPr/>
          <p:nvPr/>
        </p:nvSpPr>
        <p:spPr>
          <a:xfrm>
            <a:off x="621792" y="2103120"/>
            <a:ext cx="10945368" cy="411480"/>
          </a:xfrm>
          <a:prstGeom prst="rect">
            <a:avLst>
              <a:gd name="adj" fmla="val 13333"/>
            </a:avLst>
          </a:prstGeom>
          <a:solidFill>
            <a:srgbClr val="19171D"/>
          </a:solidFill>
          <a:ln w="8890">
            <a:solidFill>
              <a:srgbClr val="19171D"/>
            </a:solidFill>
            <a:prstDash val="solid"/>
          </a:ln>
        </p:spPr>
      </p:sp>
      <p:sp>
        <p:nvSpPr>
          <p:cNvPr id="10" name="Text 7"/>
          <p:cNvSpPr/>
          <p:nvPr/>
        </p:nvSpPr>
        <p:spPr>
          <a:xfrm>
            <a:off x="841248" y="2221992"/>
            <a:ext cx="4946904"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B9B2C3"/>
                </a:solidFill>
                <a:latin typeface="Aptos" pitchFamily="34" charset="0"/>
                <a:ea typeface="Aptos" pitchFamily="34" charset="-122"/>
                <a:cs typeface="Aptos" pitchFamily="34" charset="-120"/>
              </a:rPr>
              <a:t>MANUAL / SCRIPT-LED WORKFLOW</a:t>
            </a:r>
            <a:endParaRPr lang="en-US" sz="1000" dirty="0"/>
          </a:p>
        </p:txBody>
      </p:sp>
      <p:sp>
        <p:nvSpPr>
          <p:cNvPr id="11" name="Text 8"/>
          <p:cNvSpPr/>
          <p:nvPr/>
        </p:nvSpPr>
        <p:spPr>
          <a:xfrm>
            <a:off x="6318504" y="2221992"/>
            <a:ext cx="502920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B6EDCF"/>
                </a:solidFill>
                <a:latin typeface="Aptos" pitchFamily="34" charset="0"/>
                <a:ea typeface="Aptos" pitchFamily="34" charset="-122"/>
                <a:cs typeface="Aptos" pitchFamily="34" charset="-120"/>
              </a:rPr>
              <a:t>ZEN</a:t>
            </a:r>
            <a:endParaRPr lang="en-US" sz="1000" dirty="0"/>
          </a:p>
        </p:txBody>
      </p:sp>
      <p:sp>
        <p:nvSpPr>
          <p:cNvPr id="12" name="Shape 9"/>
          <p:cNvSpPr/>
          <p:nvPr/>
        </p:nvSpPr>
        <p:spPr>
          <a:xfrm>
            <a:off x="621792" y="2532888"/>
            <a:ext cx="10945368" cy="333756"/>
          </a:xfrm>
          <a:prstGeom prst="rect">
            <a:avLst>
              <a:gd name="adj" fmla="val 16438"/>
            </a:avLst>
          </a:prstGeom>
          <a:solidFill>
            <a:srgbClr val="F7F6F9"/>
          </a:solidFill>
          <a:ln w="8890">
            <a:solidFill>
              <a:srgbClr val="F7F6F9"/>
            </a:solidFill>
            <a:prstDash val="solid"/>
          </a:ln>
        </p:spPr>
      </p:sp>
      <p:sp>
        <p:nvSpPr>
          <p:cNvPr id="13" name="Text 10"/>
          <p:cNvSpPr/>
          <p:nvPr/>
        </p:nvSpPr>
        <p:spPr>
          <a:xfrm>
            <a:off x="841248" y="2560320"/>
            <a:ext cx="4892040" cy="256032"/>
          </a:xfrm>
          <a:prstGeom prst="rect">
            <a:avLst/>
          </a:prstGeom>
          <a:noFill/>
          <a:ln/>
        </p:spPr>
        <p:txBody>
          <a:bodyPr wrap="square" lIns="0" tIns="0" rIns="0" bIns="0" rtlCol="0" anchor="ctr">
            <a:normAutofit/>
          </a:bodyPr>
          <a:lstStyle/>
          <a:p>
            <a:pPr indent="0" marL="0">
              <a:buNone/>
            </a:pPr>
            <a:r>
              <a:rPr lang="en-US" altLang="en-US" sz="1330" dirty="0">
                <a:solidFill>
                  <a:srgbClr val="66636D"/>
                </a:solidFill>
                <a:latin typeface="Aptos" pitchFamily="34" charset="0"/>
                <a:ea typeface="Aptos" pitchFamily="34" charset="-122"/>
                <a:cs typeface="Aptos" pitchFamily="34" charset="-120"/>
              </a:rPr>
              <a:t>Human defines every step</a:t>
            </a:r>
            <a:endParaRPr lang="en-US" sz="1330" dirty="0"/>
          </a:p>
        </p:txBody>
      </p:sp>
      <p:sp>
        <p:nvSpPr>
          <p:cNvPr id="14" name="Text 11"/>
          <p:cNvSpPr/>
          <p:nvPr/>
        </p:nvSpPr>
        <p:spPr>
          <a:xfrm>
            <a:off x="6318504" y="2560320"/>
            <a:ext cx="5010912" cy="256032"/>
          </a:xfrm>
          <a:prstGeom prst="rect">
            <a:avLst/>
          </a:prstGeom>
          <a:noFill/>
          <a:ln/>
        </p:spPr>
        <p:txBody>
          <a:bodyPr wrap="square" lIns="0" tIns="0" rIns="0" bIns="0" rtlCol="0" anchor="ctr">
            <a:normAutofit/>
          </a:bodyPr>
          <a:lstStyle/>
          <a:p>
            <a:pPr indent="0" marL="0">
              <a:buNone/>
            </a:pPr>
            <a:r>
              <a:rPr lang="en-US" altLang="en-US" sz="1330" b="1" dirty="0">
                <a:solidFill>
                  <a:srgbClr val="19171D"/>
                </a:solidFill>
                <a:latin typeface="Aptos" pitchFamily="34" charset="0"/>
                <a:ea typeface="Aptos" pitchFamily="34" charset="-122"/>
                <a:cs typeface="Aptos" pitchFamily="34" charset="-120"/>
              </a:rPr>
              <a:t>User defines the goal</a:t>
            </a:r>
            <a:endParaRPr lang="en-US" sz="1330" dirty="0"/>
          </a:p>
        </p:txBody>
      </p:sp>
      <p:sp>
        <p:nvSpPr>
          <p:cNvPr id="15" name="Text 12"/>
          <p:cNvSpPr/>
          <p:nvPr/>
        </p:nvSpPr>
        <p:spPr>
          <a:xfrm>
            <a:off x="841248" y="2894076"/>
            <a:ext cx="4892040" cy="256032"/>
          </a:xfrm>
          <a:prstGeom prst="rect">
            <a:avLst/>
          </a:prstGeom>
          <a:noFill/>
          <a:ln/>
        </p:spPr>
        <p:txBody>
          <a:bodyPr wrap="square" lIns="0" tIns="0" rIns="0" bIns="0" rtlCol="0" anchor="ctr">
            <a:normAutofit/>
          </a:bodyPr>
          <a:lstStyle/>
          <a:p>
            <a:pPr indent="0" marL="0">
              <a:buNone/>
            </a:pPr>
            <a:r>
              <a:rPr lang="en-US" altLang="en-US" sz="1330" dirty="0">
                <a:solidFill>
                  <a:srgbClr val="66636D"/>
                </a:solidFill>
                <a:latin typeface="Aptos" pitchFamily="34" charset="0"/>
                <a:ea typeface="Aptos" pitchFamily="34" charset="-122"/>
                <a:cs typeface="Aptos" pitchFamily="34" charset="-120"/>
              </a:rPr>
              <a:t>Manual schema discovery</a:t>
            </a:r>
            <a:endParaRPr lang="en-US" sz="1330" dirty="0"/>
          </a:p>
        </p:txBody>
      </p:sp>
      <p:sp>
        <p:nvSpPr>
          <p:cNvPr id="16" name="Text 13"/>
          <p:cNvSpPr/>
          <p:nvPr/>
        </p:nvSpPr>
        <p:spPr>
          <a:xfrm>
            <a:off x="6318504" y="2894076"/>
            <a:ext cx="5010912" cy="256032"/>
          </a:xfrm>
          <a:prstGeom prst="rect">
            <a:avLst/>
          </a:prstGeom>
          <a:noFill/>
          <a:ln/>
        </p:spPr>
        <p:txBody>
          <a:bodyPr wrap="square" lIns="0" tIns="0" rIns="0" bIns="0" rtlCol="0" anchor="ctr">
            <a:normAutofit/>
          </a:bodyPr>
          <a:lstStyle/>
          <a:p>
            <a:pPr indent="0" marL="0">
              <a:buNone/>
            </a:pPr>
            <a:r>
              <a:rPr lang="en-US" altLang="en-US" sz="1330" b="1" dirty="0">
                <a:solidFill>
                  <a:srgbClr val="19171D"/>
                </a:solidFill>
                <a:latin typeface="Aptos" pitchFamily="34" charset="0"/>
                <a:ea typeface="Aptos" pitchFamily="34" charset="-122"/>
                <a:cs typeface="Aptos" pitchFamily="34" charset="-120"/>
              </a:rPr>
              <a:t>Automatic discovery</a:t>
            </a:r>
            <a:endParaRPr lang="en-US" sz="1330" dirty="0"/>
          </a:p>
        </p:txBody>
      </p:sp>
      <p:sp>
        <p:nvSpPr>
          <p:cNvPr id="17" name="Shape 14"/>
          <p:cNvSpPr/>
          <p:nvPr/>
        </p:nvSpPr>
        <p:spPr>
          <a:xfrm>
            <a:off x="621792" y="3200400"/>
            <a:ext cx="10945368" cy="333756"/>
          </a:xfrm>
          <a:prstGeom prst="rect">
            <a:avLst>
              <a:gd name="adj" fmla="val 16438"/>
            </a:avLst>
          </a:prstGeom>
          <a:solidFill>
            <a:srgbClr val="F7F6F9"/>
          </a:solidFill>
          <a:ln w="8890">
            <a:solidFill>
              <a:srgbClr val="F7F6F9"/>
            </a:solidFill>
            <a:prstDash val="solid"/>
          </a:ln>
        </p:spPr>
      </p:sp>
      <p:sp>
        <p:nvSpPr>
          <p:cNvPr id="18" name="Text 15"/>
          <p:cNvSpPr/>
          <p:nvPr/>
        </p:nvSpPr>
        <p:spPr>
          <a:xfrm>
            <a:off x="841248" y="3227832"/>
            <a:ext cx="4892040" cy="256032"/>
          </a:xfrm>
          <a:prstGeom prst="rect">
            <a:avLst/>
          </a:prstGeom>
          <a:noFill/>
          <a:ln/>
        </p:spPr>
        <p:txBody>
          <a:bodyPr wrap="square" lIns="0" tIns="0" rIns="0" bIns="0" rtlCol="0" anchor="ctr">
            <a:normAutofit/>
          </a:bodyPr>
          <a:lstStyle/>
          <a:p>
            <a:pPr indent="0" marL="0">
              <a:buNone/>
            </a:pPr>
            <a:r>
              <a:rPr lang="en-US" altLang="en-US" sz="1330" dirty="0">
                <a:solidFill>
                  <a:srgbClr val="66636D"/>
                </a:solidFill>
                <a:latin typeface="Aptos" pitchFamily="34" charset="0"/>
                <a:ea typeface="Aptos" pitchFamily="34" charset="-122"/>
                <a:cs typeface="Aptos" pitchFamily="34" charset="-120"/>
              </a:rPr>
              <a:t>Manual field mapping</a:t>
            </a:r>
            <a:endParaRPr lang="en-US" sz="1330" dirty="0"/>
          </a:p>
        </p:txBody>
      </p:sp>
      <p:sp>
        <p:nvSpPr>
          <p:cNvPr id="19" name="Text 16"/>
          <p:cNvSpPr/>
          <p:nvPr/>
        </p:nvSpPr>
        <p:spPr>
          <a:xfrm>
            <a:off x="6318504" y="3227832"/>
            <a:ext cx="5010912" cy="256032"/>
          </a:xfrm>
          <a:prstGeom prst="rect">
            <a:avLst/>
          </a:prstGeom>
          <a:noFill/>
          <a:ln/>
        </p:spPr>
        <p:txBody>
          <a:bodyPr wrap="square" lIns="0" tIns="0" rIns="0" bIns="0" rtlCol="0" anchor="ctr">
            <a:normAutofit/>
          </a:bodyPr>
          <a:lstStyle/>
          <a:p>
            <a:pPr indent="0" marL="0">
              <a:buNone/>
            </a:pPr>
            <a:r>
              <a:rPr lang="en-US" altLang="en-US" sz="1330" b="1" dirty="0">
                <a:solidFill>
                  <a:srgbClr val="19171D"/>
                </a:solidFill>
                <a:latin typeface="Aptos" pitchFamily="34" charset="0"/>
                <a:ea typeface="Aptos" pitchFamily="34" charset="-122"/>
                <a:cs typeface="Aptos" pitchFamily="34" charset="-120"/>
              </a:rPr>
              <a:t>AI-assisted mapping</a:t>
            </a:r>
            <a:endParaRPr lang="en-US" sz="1330" dirty="0"/>
          </a:p>
        </p:txBody>
      </p:sp>
      <p:sp>
        <p:nvSpPr>
          <p:cNvPr id="20" name="Text 17"/>
          <p:cNvSpPr/>
          <p:nvPr/>
        </p:nvSpPr>
        <p:spPr>
          <a:xfrm>
            <a:off x="841248" y="3561588"/>
            <a:ext cx="4892040" cy="256032"/>
          </a:xfrm>
          <a:prstGeom prst="rect">
            <a:avLst/>
          </a:prstGeom>
          <a:noFill/>
          <a:ln/>
        </p:spPr>
        <p:txBody>
          <a:bodyPr wrap="square" lIns="0" tIns="0" rIns="0" bIns="0" rtlCol="0" anchor="ctr">
            <a:normAutofit/>
          </a:bodyPr>
          <a:lstStyle/>
          <a:p>
            <a:pPr indent="0" marL="0">
              <a:buNone/>
            </a:pPr>
            <a:r>
              <a:rPr lang="en-US" altLang="en-US" sz="1330" dirty="0">
                <a:solidFill>
                  <a:srgbClr val="66636D"/>
                </a:solidFill>
                <a:latin typeface="Aptos" pitchFamily="34" charset="0"/>
                <a:ea typeface="Aptos" pitchFamily="34" charset="-122"/>
                <a:cs typeface="Aptos" pitchFamily="34" charset="-120"/>
              </a:rPr>
              <a:t>Import and hope</a:t>
            </a:r>
            <a:endParaRPr lang="en-US" sz="1330" dirty="0"/>
          </a:p>
        </p:txBody>
      </p:sp>
      <p:sp>
        <p:nvSpPr>
          <p:cNvPr id="21" name="Text 18"/>
          <p:cNvSpPr/>
          <p:nvPr/>
        </p:nvSpPr>
        <p:spPr>
          <a:xfrm>
            <a:off x="6318504" y="3561588"/>
            <a:ext cx="5010912" cy="256032"/>
          </a:xfrm>
          <a:prstGeom prst="rect">
            <a:avLst/>
          </a:prstGeom>
          <a:noFill/>
          <a:ln/>
        </p:spPr>
        <p:txBody>
          <a:bodyPr wrap="square" lIns="0" tIns="0" rIns="0" bIns="0" rtlCol="0" anchor="ctr">
            <a:normAutofit/>
          </a:bodyPr>
          <a:lstStyle/>
          <a:p>
            <a:pPr indent="0" marL="0">
              <a:buNone/>
            </a:pPr>
            <a:r>
              <a:rPr lang="en-US" altLang="en-US" sz="1330" b="1" dirty="0">
                <a:solidFill>
                  <a:srgbClr val="19171D"/>
                </a:solidFill>
                <a:latin typeface="Aptos" pitchFamily="34" charset="0"/>
                <a:ea typeface="Aptos" pitchFamily="34" charset="-122"/>
                <a:cs typeface="Aptos" pitchFamily="34" charset="-120"/>
              </a:rPr>
              <a:t>Test before full migration</a:t>
            </a:r>
            <a:endParaRPr lang="en-US" sz="1330" dirty="0"/>
          </a:p>
        </p:txBody>
      </p:sp>
      <p:sp>
        <p:nvSpPr>
          <p:cNvPr id="22" name="Shape 19"/>
          <p:cNvSpPr/>
          <p:nvPr/>
        </p:nvSpPr>
        <p:spPr>
          <a:xfrm>
            <a:off x="621792" y="3867912"/>
            <a:ext cx="10945368" cy="333756"/>
          </a:xfrm>
          <a:prstGeom prst="rect">
            <a:avLst>
              <a:gd name="adj" fmla="val 16438"/>
            </a:avLst>
          </a:prstGeom>
          <a:solidFill>
            <a:srgbClr val="F7F6F9"/>
          </a:solidFill>
          <a:ln w="8890">
            <a:solidFill>
              <a:srgbClr val="F7F6F9"/>
            </a:solidFill>
            <a:prstDash val="solid"/>
          </a:ln>
        </p:spPr>
      </p:sp>
      <p:sp>
        <p:nvSpPr>
          <p:cNvPr id="23" name="Text 20"/>
          <p:cNvSpPr/>
          <p:nvPr/>
        </p:nvSpPr>
        <p:spPr>
          <a:xfrm>
            <a:off x="841248" y="3895344"/>
            <a:ext cx="4892040" cy="256032"/>
          </a:xfrm>
          <a:prstGeom prst="rect">
            <a:avLst/>
          </a:prstGeom>
          <a:noFill/>
          <a:ln/>
        </p:spPr>
        <p:txBody>
          <a:bodyPr wrap="square" lIns="0" tIns="0" rIns="0" bIns="0" rtlCol="0" anchor="ctr">
            <a:normAutofit/>
          </a:bodyPr>
          <a:lstStyle/>
          <a:p>
            <a:pPr indent="0" marL="0">
              <a:buNone/>
            </a:pPr>
            <a:r>
              <a:rPr lang="en-US" altLang="en-US" sz="1330" dirty="0">
                <a:solidFill>
                  <a:srgbClr val="66636D"/>
                </a:solidFill>
                <a:latin typeface="Aptos" pitchFamily="34" charset="0"/>
                <a:ea typeface="Aptos" pitchFamily="34" charset="-122"/>
                <a:cs typeface="Aptos" pitchFamily="34" charset="-120"/>
              </a:rPr>
              <a:t>Monitor failures manually</a:t>
            </a:r>
            <a:endParaRPr lang="en-US" sz="1330" dirty="0"/>
          </a:p>
        </p:txBody>
      </p:sp>
      <p:sp>
        <p:nvSpPr>
          <p:cNvPr id="24" name="Text 21"/>
          <p:cNvSpPr/>
          <p:nvPr/>
        </p:nvSpPr>
        <p:spPr>
          <a:xfrm>
            <a:off x="6318504" y="3895344"/>
            <a:ext cx="5010912" cy="256032"/>
          </a:xfrm>
          <a:prstGeom prst="rect">
            <a:avLst/>
          </a:prstGeom>
          <a:noFill/>
          <a:ln/>
        </p:spPr>
        <p:txBody>
          <a:bodyPr wrap="square" lIns="0" tIns="0" rIns="0" bIns="0" rtlCol="0" anchor="ctr">
            <a:normAutofit/>
          </a:bodyPr>
          <a:lstStyle/>
          <a:p>
            <a:pPr indent="0" marL="0">
              <a:buNone/>
            </a:pPr>
            <a:r>
              <a:rPr lang="en-US" altLang="en-US" sz="1330" b="1" dirty="0">
                <a:solidFill>
                  <a:srgbClr val="19171D"/>
                </a:solidFill>
                <a:latin typeface="Aptos" pitchFamily="34" charset="0"/>
                <a:ea typeface="Aptos" pitchFamily="34" charset="-122"/>
                <a:cs typeface="Aptos" pitchFamily="34" charset="-120"/>
              </a:rPr>
              <a:t>Agent detects failures</a:t>
            </a:r>
            <a:endParaRPr lang="en-US" sz="1330" dirty="0"/>
          </a:p>
        </p:txBody>
      </p:sp>
      <p:sp>
        <p:nvSpPr>
          <p:cNvPr id="25" name="Text 22"/>
          <p:cNvSpPr/>
          <p:nvPr/>
        </p:nvSpPr>
        <p:spPr>
          <a:xfrm>
            <a:off x="841248" y="4229100"/>
            <a:ext cx="4892040" cy="256032"/>
          </a:xfrm>
          <a:prstGeom prst="rect">
            <a:avLst/>
          </a:prstGeom>
          <a:noFill/>
          <a:ln/>
        </p:spPr>
        <p:txBody>
          <a:bodyPr wrap="square" lIns="0" tIns="0" rIns="0" bIns="0" rtlCol="0" anchor="ctr">
            <a:normAutofit/>
          </a:bodyPr>
          <a:lstStyle/>
          <a:p>
            <a:pPr indent="0" marL="0">
              <a:buNone/>
            </a:pPr>
            <a:r>
              <a:rPr lang="en-US" altLang="en-US" sz="1330" dirty="0">
                <a:solidFill>
                  <a:srgbClr val="66636D"/>
                </a:solidFill>
                <a:latin typeface="Aptos" pitchFamily="34" charset="0"/>
                <a:ea typeface="Aptos" pitchFamily="34" charset="-122"/>
                <a:cs typeface="Aptos" pitchFamily="34" charset="-120"/>
              </a:rPr>
              <a:t>Manually troubleshoot</a:t>
            </a:r>
            <a:endParaRPr lang="en-US" sz="1330" dirty="0"/>
          </a:p>
        </p:txBody>
      </p:sp>
      <p:sp>
        <p:nvSpPr>
          <p:cNvPr id="26" name="Text 23"/>
          <p:cNvSpPr/>
          <p:nvPr/>
        </p:nvSpPr>
        <p:spPr>
          <a:xfrm>
            <a:off x="6318504" y="4229100"/>
            <a:ext cx="5010912" cy="256032"/>
          </a:xfrm>
          <a:prstGeom prst="rect">
            <a:avLst/>
          </a:prstGeom>
          <a:noFill/>
          <a:ln/>
        </p:spPr>
        <p:txBody>
          <a:bodyPr wrap="square" lIns="0" tIns="0" rIns="0" bIns="0" rtlCol="0" anchor="ctr">
            <a:normAutofit/>
          </a:bodyPr>
          <a:lstStyle/>
          <a:p>
            <a:pPr indent="0" marL="0">
              <a:buNone/>
            </a:pPr>
            <a:r>
              <a:rPr lang="en-US" altLang="en-US" sz="1330" b="1" dirty="0">
                <a:solidFill>
                  <a:srgbClr val="19171D"/>
                </a:solidFill>
                <a:latin typeface="Aptos" pitchFamily="34" charset="0"/>
                <a:ea typeface="Aptos" pitchFamily="34" charset="-122"/>
                <a:cs typeface="Aptos" pitchFamily="34" charset="-120"/>
              </a:rPr>
              <a:t>AI remediation + retry</a:t>
            </a:r>
            <a:endParaRPr lang="en-US" sz="1330" dirty="0"/>
          </a:p>
        </p:txBody>
      </p:sp>
      <p:sp>
        <p:nvSpPr>
          <p:cNvPr id="27" name="Shape 24"/>
          <p:cNvSpPr/>
          <p:nvPr/>
        </p:nvSpPr>
        <p:spPr>
          <a:xfrm>
            <a:off x="621792" y="4535424"/>
            <a:ext cx="10945368" cy="333756"/>
          </a:xfrm>
          <a:prstGeom prst="rect">
            <a:avLst>
              <a:gd name="adj" fmla="val 16438"/>
            </a:avLst>
          </a:prstGeom>
          <a:solidFill>
            <a:srgbClr val="F7F6F9"/>
          </a:solidFill>
          <a:ln w="8890">
            <a:solidFill>
              <a:srgbClr val="F7F6F9"/>
            </a:solidFill>
            <a:prstDash val="solid"/>
          </a:ln>
        </p:spPr>
      </p:sp>
      <p:sp>
        <p:nvSpPr>
          <p:cNvPr id="28" name="Text 25"/>
          <p:cNvSpPr/>
          <p:nvPr/>
        </p:nvSpPr>
        <p:spPr>
          <a:xfrm>
            <a:off x="841248" y="4562856"/>
            <a:ext cx="4892040" cy="256032"/>
          </a:xfrm>
          <a:prstGeom prst="rect">
            <a:avLst/>
          </a:prstGeom>
          <a:noFill/>
          <a:ln/>
        </p:spPr>
        <p:txBody>
          <a:bodyPr wrap="square" lIns="0" tIns="0" rIns="0" bIns="0" rtlCol="0" anchor="ctr">
            <a:normAutofit/>
          </a:bodyPr>
          <a:lstStyle/>
          <a:p>
            <a:pPr indent="0" marL="0">
              <a:buNone/>
            </a:pPr>
            <a:r>
              <a:rPr lang="en-US" altLang="en-US" sz="1330" dirty="0">
                <a:solidFill>
                  <a:srgbClr val="66636D"/>
                </a:solidFill>
                <a:latin typeface="Aptos" pitchFamily="34" charset="0"/>
                <a:ea typeface="Aptos" pitchFamily="34" charset="-122"/>
                <a:cs typeface="Aptos" pitchFamily="34" charset="-120"/>
              </a:rPr>
              <a:t>Manual reconciliation</a:t>
            </a:r>
            <a:endParaRPr lang="en-US" sz="1330" dirty="0"/>
          </a:p>
        </p:txBody>
      </p:sp>
      <p:sp>
        <p:nvSpPr>
          <p:cNvPr id="29" name="Text 26"/>
          <p:cNvSpPr/>
          <p:nvPr/>
        </p:nvSpPr>
        <p:spPr>
          <a:xfrm>
            <a:off x="6318504" y="4562856"/>
            <a:ext cx="5010912" cy="256032"/>
          </a:xfrm>
          <a:prstGeom prst="rect">
            <a:avLst/>
          </a:prstGeom>
          <a:noFill/>
          <a:ln/>
        </p:spPr>
        <p:txBody>
          <a:bodyPr wrap="square" lIns="0" tIns="0" rIns="0" bIns="0" rtlCol="0" anchor="ctr">
            <a:normAutofit/>
          </a:bodyPr>
          <a:lstStyle/>
          <a:p>
            <a:pPr indent="0" marL="0">
              <a:buNone/>
            </a:pPr>
            <a:r>
              <a:rPr lang="en-US" altLang="en-US" sz="1330" b="1" dirty="0">
                <a:solidFill>
                  <a:srgbClr val="19171D"/>
                </a:solidFill>
                <a:latin typeface="Aptos" pitchFamily="34" charset="0"/>
                <a:ea typeface="Aptos" pitchFamily="34" charset="-122"/>
                <a:cs typeface="Aptos" pitchFamily="34" charset="-120"/>
              </a:rPr>
              <a:t>Automated reconciliation</a:t>
            </a:r>
            <a:endParaRPr lang="en-US" sz="1330" dirty="0"/>
          </a:p>
        </p:txBody>
      </p:sp>
      <p:sp>
        <p:nvSpPr>
          <p:cNvPr id="30" name="Text 27"/>
          <p:cNvSpPr/>
          <p:nvPr/>
        </p:nvSpPr>
        <p:spPr>
          <a:xfrm>
            <a:off x="841248" y="4896612"/>
            <a:ext cx="4892040" cy="256032"/>
          </a:xfrm>
          <a:prstGeom prst="rect">
            <a:avLst/>
          </a:prstGeom>
          <a:noFill/>
          <a:ln/>
        </p:spPr>
        <p:txBody>
          <a:bodyPr wrap="square" lIns="0" tIns="0" rIns="0" bIns="0" rtlCol="0" anchor="ctr">
            <a:normAutofit/>
          </a:bodyPr>
          <a:lstStyle/>
          <a:p>
            <a:pPr indent="0" marL="0">
              <a:buNone/>
            </a:pPr>
            <a:r>
              <a:rPr lang="en-US" altLang="en-US" sz="1330" dirty="0">
                <a:solidFill>
                  <a:srgbClr val="66636D"/>
                </a:solidFill>
                <a:latin typeface="Aptos" pitchFamily="34" charset="0"/>
                <a:ea typeface="Aptos" pitchFamily="34" charset="-122"/>
                <a:cs typeface="Aptos" pitchFamily="34" charset="-120"/>
              </a:rPr>
              <a:t>Human involved throughout</a:t>
            </a:r>
            <a:endParaRPr lang="en-US" sz="1330" dirty="0"/>
          </a:p>
        </p:txBody>
      </p:sp>
      <p:sp>
        <p:nvSpPr>
          <p:cNvPr id="31" name="Text 28"/>
          <p:cNvSpPr/>
          <p:nvPr/>
        </p:nvSpPr>
        <p:spPr>
          <a:xfrm>
            <a:off x="6318504" y="4896612"/>
            <a:ext cx="5010912" cy="256032"/>
          </a:xfrm>
          <a:prstGeom prst="rect">
            <a:avLst/>
          </a:prstGeom>
          <a:noFill/>
          <a:ln/>
        </p:spPr>
        <p:txBody>
          <a:bodyPr wrap="square" lIns="0" tIns="0" rIns="0" bIns="0" rtlCol="0" anchor="ctr">
            <a:normAutofit/>
          </a:bodyPr>
          <a:lstStyle/>
          <a:p>
            <a:pPr indent="0" marL="0">
              <a:buNone/>
            </a:pPr>
            <a:r>
              <a:rPr lang="en-US" altLang="en-US" sz="1330" b="1" dirty="0">
                <a:solidFill>
                  <a:srgbClr val="19171D"/>
                </a:solidFill>
                <a:latin typeface="Aptos" pitchFamily="34" charset="0"/>
                <a:ea typeface="Aptos" pitchFamily="34" charset="-122"/>
                <a:cs typeface="Aptos" pitchFamily="34" charset="-120"/>
              </a:rPr>
              <a:t>Human only for exceptions</a:t>
            </a:r>
            <a:endParaRPr lang="en-US" sz="1330" dirty="0"/>
          </a:p>
        </p:txBody>
      </p:sp>
      <p:sp>
        <p:nvSpPr>
          <p:cNvPr id="32" name="Shape 29"/>
          <p:cNvSpPr/>
          <p:nvPr/>
        </p:nvSpPr>
        <p:spPr>
          <a:xfrm>
            <a:off x="621792" y="5202936"/>
            <a:ext cx="10945368" cy="333756"/>
          </a:xfrm>
          <a:prstGeom prst="rect">
            <a:avLst>
              <a:gd name="adj" fmla="val 16438"/>
            </a:avLst>
          </a:prstGeom>
          <a:solidFill>
            <a:srgbClr val="F7F6F9"/>
          </a:solidFill>
          <a:ln w="8890">
            <a:solidFill>
              <a:srgbClr val="F7F6F9"/>
            </a:solidFill>
            <a:prstDash val="solid"/>
          </a:ln>
        </p:spPr>
      </p:sp>
      <p:sp>
        <p:nvSpPr>
          <p:cNvPr id="33" name="Text 30"/>
          <p:cNvSpPr/>
          <p:nvPr/>
        </p:nvSpPr>
        <p:spPr>
          <a:xfrm>
            <a:off x="841248" y="5230368"/>
            <a:ext cx="4892040" cy="256032"/>
          </a:xfrm>
          <a:prstGeom prst="rect">
            <a:avLst/>
          </a:prstGeom>
          <a:noFill/>
          <a:ln/>
        </p:spPr>
        <p:txBody>
          <a:bodyPr wrap="square" lIns="0" tIns="0" rIns="0" bIns="0" rtlCol="0" anchor="ctr">
            <a:normAutofit/>
          </a:bodyPr>
          <a:lstStyle/>
          <a:p>
            <a:pPr indent="0" marL="0">
              <a:buNone/>
            </a:pPr>
            <a:r>
              <a:rPr lang="en-US" altLang="en-US" sz="1330" dirty="0">
                <a:solidFill>
                  <a:srgbClr val="66636D"/>
                </a:solidFill>
                <a:latin typeface="Aptos" pitchFamily="34" charset="0"/>
                <a:ea typeface="Aptos" pitchFamily="34" charset="-122"/>
                <a:cs typeface="Aptos" pitchFamily="34" charset="-120"/>
              </a:rPr>
              <a:t>Static migration report</a:t>
            </a:r>
            <a:endParaRPr lang="en-US" sz="1330" dirty="0"/>
          </a:p>
        </p:txBody>
      </p:sp>
      <p:sp>
        <p:nvSpPr>
          <p:cNvPr id="34" name="Text 31"/>
          <p:cNvSpPr/>
          <p:nvPr/>
        </p:nvSpPr>
        <p:spPr>
          <a:xfrm>
            <a:off x="6318504" y="5230368"/>
            <a:ext cx="5010912" cy="256032"/>
          </a:xfrm>
          <a:prstGeom prst="rect">
            <a:avLst/>
          </a:prstGeom>
          <a:noFill/>
          <a:ln/>
        </p:spPr>
        <p:txBody>
          <a:bodyPr wrap="square" lIns="0" tIns="0" rIns="0" bIns="0" rtlCol="0" anchor="ctr">
            <a:normAutofit/>
          </a:bodyPr>
          <a:lstStyle/>
          <a:p>
            <a:pPr indent="0" marL="0">
              <a:buNone/>
            </a:pPr>
            <a:r>
              <a:rPr lang="en-US" altLang="en-US" sz="1330" b="1" dirty="0">
                <a:solidFill>
                  <a:srgbClr val="19171D"/>
                </a:solidFill>
                <a:latin typeface="Aptos" pitchFamily="34" charset="0"/>
                <a:ea typeface="Aptos" pitchFamily="34" charset="-122"/>
                <a:cs typeface="Aptos" pitchFamily="34" charset="-120"/>
              </a:rPr>
              <a:t>Claude-generated insights</a:t>
            </a:r>
            <a:endParaRPr lang="en-US" sz="1330" dirty="0"/>
          </a:p>
        </p:txBody>
      </p:sp>
      <p:sp>
        <p:nvSpPr>
          <p:cNvPr id="35" name="Shape 32"/>
          <p:cNvSpPr/>
          <p:nvPr/>
        </p:nvSpPr>
        <p:spPr>
          <a:xfrm>
            <a:off x="5961888" y="2560320"/>
            <a:ext cx="0" cy="2971800"/>
          </a:xfrm>
          <a:prstGeom prst="line">
            <a:avLst/>
          </a:prstGeom>
          <a:noFill/>
          <a:ln w="12700">
            <a:solidFill>
              <a:srgbClr val="E5E2E9"/>
            </a:solidFill>
            <a:prstDash val="solid"/>
          </a:ln>
        </p:spPr>
      </p:sp>
      <p:sp>
        <p:nvSpPr>
          <p:cNvPr id="36" name="Text 33"/>
          <p:cNvSpPr/>
          <p:nvPr/>
        </p:nvSpPr>
        <p:spPr>
          <a:xfrm>
            <a:off x="621792" y="5779008"/>
            <a:ext cx="10945368" cy="320040"/>
          </a:xfrm>
          <a:prstGeom prst="rect">
            <a:avLst/>
          </a:prstGeom>
          <a:noFill/>
          <a:ln/>
        </p:spPr>
        <p:txBody>
          <a:bodyPr wrap="square" lIns="0" tIns="0" rIns="0" bIns="0" rtlCol="0" anchor="ctr">
            <a:normAutofit/>
          </a:bodyPr>
          <a:lstStyle/>
          <a:p>
            <a:pPr indent="0" marL="0">
              <a:buNone/>
            </a:pPr>
            <a:r>
              <a:rPr lang="en-US" altLang="en-US" sz="1870" b="1" dirty="0">
                <a:solidFill>
                  <a:srgbClr val="147E64"/>
                </a:solidFill>
                <a:latin typeface="Aptos" pitchFamily="34" charset="0"/>
                <a:ea typeface="Aptos" pitchFamily="34" charset="-122"/>
                <a:cs typeface="Aptos" pitchFamily="34" charset="-120"/>
              </a:rPr>
              <a:t>Automate where confidence is high. Escalate where judgment is required.</a:t>
            </a:r>
            <a:endParaRPr lang="en-US" sz="1870" dirty="0"/>
          </a:p>
        </p:txBody>
      </p:sp>
      <p:sp>
        <p:nvSpPr>
          <p:cNvPr id="37" name="Text 34"/>
          <p:cNvSpPr/>
          <p:nvPr/>
        </p:nvSpPr>
        <p:spPr>
          <a:xfrm>
            <a:off x="621792" y="6245352"/>
            <a:ext cx="10945368" cy="173736"/>
          </a:xfrm>
          <a:prstGeom prst="rect">
            <a:avLst/>
          </a:prstGeom>
          <a:noFill/>
          <a:ln/>
        </p:spPr>
        <p:txBody>
          <a:bodyPr wrap="square" lIns="0" tIns="0" rIns="0" bIns="0" rtlCol="0" anchor="ctr">
            <a:normAutofit/>
          </a:bodyPr>
          <a:lstStyle/>
          <a:p>
            <a:pPr indent="0" marL="0">
              <a:buNone/>
            </a:pPr>
            <a:r>
              <a:rPr lang="en-US" altLang="en-US" sz="1080" dirty="0">
                <a:solidFill>
                  <a:srgbClr val="66636D"/>
                </a:solidFill>
                <a:latin typeface="Aptos" pitchFamily="34" charset="0"/>
                <a:ea typeface="Aptos" pitchFamily="34" charset="-122"/>
                <a:cs typeface="Aptos" pitchFamily="34" charset="-120"/>
              </a:rPr>
              <a:t>Migration providers already offer mapping, tests and validation. Zen brings them together in one goal-driven agent.</a:t>
            </a:r>
            <a:endParaRPr lang="en-US" sz="10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6473952"/>
            <a:ext cx="10945368" cy="0"/>
          </a:xfrm>
          <a:prstGeom prst="line">
            <a:avLst/>
          </a:prstGeom>
          <a:noFill/>
          <a:ln w="8255">
            <a:solidFill>
              <a:srgbClr val="E5E2E9"/>
            </a:solidFill>
            <a:prstDash val="solid"/>
          </a:ln>
        </p:spPr>
      </p:sp>
      <p:sp>
        <p:nvSpPr>
          <p:cNvPr id="3" name="Text 1"/>
          <p:cNvSpPr/>
          <p:nvPr/>
        </p:nvSpPr>
        <p:spPr>
          <a:xfrm>
            <a:off x="621792" y="6592824"/>
            <a:ext cx="5486400" cy="137160"/>
          </a:xfrm>
          <a:prstGeom prst="rect">
            <a:avLst/>
          </a:prstGeom>
          <a:noFill/>
          <a:ln/>
        </p:spPr>
        <p:txBody>
          <a:bodyPr wrap="square" lIns="0" tIns="0" rIns="0" bIns="0" rtlCol="0" anchor="ctr">
            <a:normAutofit/>
          </a:bodyPr>
          <a:lstStyle/>
          <a:p>
            <a:pPr indent="0" marL="0">
              <a:buNone/>
            </a:pPr>
            <a:r>
              <a:rPr lang="en-US" altLang="en-US" sz="800" dirty="0">
                <a:solidFill>
                  <a:srgbClr val="95909D"/>
                </a:solidFill>
                <a:latin typeface="Aptos" pitchFamily="34" charset="0"/>
                <a:ea typeface="Aptos" pitchFamily="34" charset="-122"/>
                <a:cs typeface="Aptos" pitchFamily="34" charset="-120"/>
              </a:rPr>
              <a:t>ZEN / AUTONOMOUS ENTERPRISE MIGRATION</a:t>
            </a:r>
            <a:endParaRPr lang="en-US" sz="800" dirty="0"/>
          </a:p>
        </p:txBody>
      </p:sp>
      <p:sp>
        <p:nvSpPr>
          <p:cNvPr id="4" name="Text 2"/>
          <p:cNvSpPr/>
          <p:nvPr/>
        </p:nvSpPr>
        <p:spPr>
          <a:xfrm>
            <a:off x="11137392" y="6583680"/>
            <a:ext cx="429768" cy="155448"/>
          </a:xfrm>
          <a:prstGeom prst="rect">
            <a:avLst/>
          </a:prstGeom>
          <a:noFill/>
          <a:ln/>
        </p:spPr>
        <p:txBody>
          <a:bodyPr wrap="square" lIns="0" tIns="0" rIns="0" bIns="0" rtlCol="0" anchor="ctr">
            <a:normAutofit/>
          </a:bodyPr>
          <a:lstStyle/>
          <a:p>
            <a:pPr algn="r" indent="0" marL="0">
              <a:buNone/>
            </a:pPr>
            <a:r>
              <a:rPr lang="en-US" altLang="en-US" sz="800" dirty="0">
                <a:solidFill>
                  <a:srgbClr val="95909D"/>
                </a:solidFill>
                <a:latin typeface="Aptos" pitchFamily="34" charset="0"/>
                <a:ea typeface="Aptos" pitchFamily="34" charset="-122"/>
                <a:cs typeface="Aptos" pitchFamily="34" charset="-120"/>
              </a:rPr>
              <a:t>08</a:t>
            </a:r>
            <a:endParaRPr lang="en-US" sz="800" dirty="0"/>
          </a:p>
        </p:txBody>
      </p:sp>
      <p:sp>
        <p:nvSpPr>
          <p:cNvPr id="6" name="Text 3"/>
          <p:cNvSpPr/>
          <p:nvPr/>
        </p:nvSpPr>
        <p:spPr>
          <a:xfrm>
            <a:off x="621792" y="576072"/>
            <a:ext cx="1088136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08 / BUSINESS VALUE &amp; SUCCESS</a:t>
            </a:r>
            <a:endParaRPr lang="en-US" sz="1000" dirty="0"/>
          </a:p>
        </p:txBody>
      </p:sp>
      <p:sp>
        <p:nvSpPr>
          <p:cNvPr id="7" name="Text 4"/>
          <p:cNvSpPr/>
          <p:nvPr/>
        </p:nvSpPr>
        <p:spPr>
          <a:xfrm>
            <a:off x="621792" y="905256"/>
            <a:ext cx="10945368" cy="603504"/>
          </a:xfrm>
          <a:prstGeom prst="rect">
            <a:avLst/>
          </a:prstGeom>
          <a:noFill/>
          <a:ln/>
        </p:spPr>
        <p:txBody>
          <a:bodyPr wrap="square" lIns="0" tIns="0" rIns="0" bIns="0" rtlCol="0" anchor="ctr">
            <a:normAutofit/>
          </a:bodyPr>
          <a:lstStyle/>
          <a:p>
            <a:pPr indent="0" marL="0">
              <a:buNone/>
            </a:pPr>
            <a:r>
              <a:rPr lang="en-US" altLang="en-US" sz="2900" b="1" dirty="0">
                <a:solidFill>
                  <a:srgbClr val="19171D"/>
                </a:solidFill>
                <a:latin typeface="Aptos Display" pitchFamily="34" charset="0"/>
                <a:ea typeface="Aptos Display" pitchFamily="34" charset="-122"/>
                <a:cs typeface="Aptos Display" pitchFamily="34" charset="-120"/>
              </a:rPr>
              <a:t>Accelerate customer time-to-value.</a:t>
            </a:r>
            <a:endParaRPr lang="en-US" sz="2900" dirty="0"/>
          </a:p>
        </p:txBody>
      </p:sp>
      <p:sp>
        <p:nvSpPr>
          <p:cNvPr id="8" name="Text 5"/>
          <p:cNvSpPr/>
          <p:nvPr/>
        </p:nvSpPr>
        <p:spPr>
          <a:xfrm>
            <a:off x="621792" y="1554480"/>
            <a:ext cx="10945368" cy="347472"/>
          </a:xfrm>
          <a:prstGeom prst="rect">
            <a:avLst/>
          </a:prstGeom>
          <a:noFill/>
          <a:ln/>
        </p:spPr>
        <p:txBody>
          <a:bodyPr wrap="square" lIns="0" tIns="0" rIns="0" bIns="0" rtlCol="0" anchor="ctr">
            <a:normAutofit/>
          </a:bodyPr>
          <a:lstStyle/>
          <a:p>
            <a:pPr indent="0" marL="0">
              <a:buNone/>
            </a:pPr>
            <a:r>
              <a:rPr lang="en-US" altLang="en-US" sz="1350" dirty="0">
                <a:solidFill>
                  <a:srgbClr val="66636D"/>
                </a:solidFill>
                <a:latin typeface="Aptos" pitchFamily="34" charset="0"/>
                <a:ea typeface="Aptos" pitchFamily="34" charset="-122"/>
                <a:cs typeface="Aptos" pitchFamily="34" charset="-120"/>
              </a:rPr>
              <a:t>For enterprise customers adopting Freshservice.</a:t>
            </a:r>
            <a:endParaRPr lang="en-US" sz="1350" dirty="0"/>
          </a:p>
        </p:txBody>
      </p:sp>
      <p:sp>
        <p:nvSpPr>
          <p:cNvPr id="9" name="Shape 6"/>
          <p:cNvSpPr/>
          <p:nvPr/>
        </p:nvSpPr>
        <p:spPr>
          <a:xfrm>
            <a:off x="621792" y="2240280"/>
            <a:ext cx="493776" cy="0"/>
          </a:xfrm>
          <a:prstGeom prst="line">
            <a:avLst/>
          </a:prstGeom>
          <a:noFill/>
          <a:ln w="38100">
            <a:solidFill>
              <a:srgbClr val="853BDD"/>
            </a:solidFill>
            <a:prstDash val="solid"/>
          </a:ln>
        </p:spPr>
      </p:sp>
      <p:sp>
        <p:nvSpPr>
          <p:cNvPr id="10" name="Text 7"/>
          <p:cNvSpPr/>
          <p:nvPr/>
        </p:nvSpPr>
        <p:spPr>
          <a:xfrm>
            <a:off x="621792" y="2496312"/>
            <a:ext cx="2496312" cy="356616"/>
          </a:xfrm>
          <a:prstGeom prst="rect">
            <a:avLst/>
          </a:prstGeom>
          <a:noFill/>
          <a:ln/>
        </p:spPr>
        <p:txBody>
          <a:bodyPr wrap="square" lIns="0" tIns="0" rIns="0" bIns="0" rtlCol="0" anchor="ctr">
            <a:normAutofit/>
          </a:bodyPr>
          <a:lstStyle/>
          <a:p>
            <a:pPr indent="0" marL="0">
              <a:buNone/>
            </a:pPr>
            <a:r>
              <a:rPr lang="en-US" altLang="en-US" sz="2050" b="1" dirty="0">
                <a:solidFill>
                  <a:srgbClr val="19171D"/>
                </a:solidFill>
                <a:latin typeface="Aptos" pitchFamily="34" charset="0"/>
                <a:ea typeface="Aptos" pitchFamily="34" charset="-122"/>
                <a:cs typeface="Aptos" pitchFamily="34" charset="-120"/>
              </a:rPr>
              <a:t>Faster</a:t>
            </a:r>
            <a:endParaRPr lang="en-US" sz="2050" dirty="0"/>
          </a:p>
        </p:txBody>
      </p:sp>
      <p:sp>
        <p:nvSpPr>
          <p:cNvPr id="11" name="Text 8"/>
          <p:cNvSpPr/>
          <p:nvPr/>
        </p:nvSpPr>
        <p:spPr>
          <a:xfrm>
            <a:off x="621792" y="3017520"/>
            <a:ext cx="2496312" cy="530352"/>
          </a:xfrm>
          <a:prstGeom prst="rect">
            <a:avLst/>
          </a:prstGeom>
          <a:noFill/>
          <a:ln/>
        </p:spPr>
        <p:txBody>
          <a:bodyPr wrap="square" lIns="0" tIns="0" rIns="0" bIns="0" rtlCol="0" anchor="t">
            <a:normAutofit/>
          </a:bodyPr>
          <a:lstStyle/>
          <a:p>
            <a:pPr indent="0" marL="0">
              <a:buNone/>
            </a:pPr>
            <a:r>
              <a:rPr lang="en-US" altLang="en-US" sz="1300" dirty="0">
                <a:solidFill>
                  <a:srgbClr val="66636D"/>
                </a:solidFill>
                <a:latin typeface="Aptos" pitchFamily="34" charset="0"/>
                <a:ea typeface="Aptos" pitchFamily="34" charset="-122"/>
                <a:cs typeface="Aptos" pitchFamily="34" charset="-120"/>
              </a:rPr>
              <a:t>Automate repetitive</a:t>
            </a:r>
            <a:endParaRPr lang="en-US" sz="1300" dirty="0"/>
          </a:p>
          <a:p>
            <a:pPr indent="0" marL="0">
              <a:buNone/>
            </a:pPr>
            <a:r>
              <a:rPr lang="en-US" altLang="en-US" sz="1300" dirty="0">
                <a:solidFill>
                  <a:srgbClr val="66636D"/>
                </a:solidFill>
                <a:latin typeface="Aptos" pitchFamily="34" charset="0"/>
                <a:ea typeface="Aptos" pitchFamily="34" charset="-122"/>
                <a:cs typeface="Aptos" pitchFamily="34" charset="-120"/>
              </a:rPr>
              <a:t>migration work.</a:t>
            </a:r>
            <a:endParaRPr lang="en-US" sz="1300" dirty="0"/>
          </a:p>
        </p:txBody>
      </p:sp>
      <p:sp>
        <p:nvSpPr>
          <p:cNvPr id="12" name="Shape 9"/>
          <p:cNvSpPr/>
          <p:nvPr/>
        </p:nvSpPr>
        <p:spPr>
          <a:xfrm>
            <a:off x="3438144" y="2240280"/>
            <a:ext cx="493776" cy="0"/>
          </a:xfrm>
          <a:prstGeom prst="line">
            <a:avLst/>
          </a:prstGeom>
          <a:noFill/>
          <a:ln w="38100">
            <a:solidFill>
              <a:srgbClr val="147E64"/>
            </a:solidFill>
            <a:prstDash val="solid"/>
          </a:ln>
        </p:spPr>
      </p:sp>
      <p:sp>
        <p:nvSpPr>
          <p:cNvPr id="13" name="Text 10"/>
          <p:cNvSpPr/>
          <p:nvPr/>
        </p:nvSpPr>
        <p:spPr>
          <a:xfrm>
            <a:off x="3438144" y="2496312"/>
            <a:ext cx="2496312" cy="356616"/>
          </a:xfrm>
          <a:prstGeom prst="rect">
            <a:avLst/>
          </a:prstGeom>
          <a:noFill/>
          <a:ln/>
        </p:spPr>
        <p:txBody>
          <a:bodyPr wrap="square" lIns="0" tIns="0" rIns="0" bIns="0" rtlCol="0" anchor="ctr">
            <a:normAutofit/>
          </a:bodyPr>
          <a:lstStyle/>
          <a:p>
            <a:pPr indent="0" marL="0">
              <a:buNone/>
            </a:pPr>
            <a:r>
              <a:rPr lang="en-US" altLang="en-US" sz="2050" b="1" dirty="0">
                <a:solidFill>
                  <a:srgbClr val="19171D"/>
                </a:solidFill>
                <a:latin typeface="Aptos" pitchFamily="34" charset="0"/>
                <a:ea typeface="Aptos" pitchFamily="34" charset="-122"/>
                <a:cs typeface="Aptos" pitchFamily="34" charset="-120"/>
              </a:rPr>
              <a:t>Safer</a:t>
            </a:r>
            <a:endParaRPr lang="en-US" sz="2050" dirty="0"/>
          </a:p>
        </p:txBody>
      </p:sp>
      <p:sp>
        <p:nvSpPr>
          <p:cNvPr id="14" name="Text 11"/>
          <p:cNvSpPr/>
          <p:nvPr/>
        </p:nvSpPr>
        <p:spPr>
          <a:xfrm>
            <a:off x="3438144" y="3017520"/>
            <a:ext cx="2496312" cy="530352"/>
          </a:xfrm>
          <a:prstGeom prst="rect">
            <a:avLst/>
          </a:prstGeom>
          <a:noFill/>
          <a:ln/>
        </p:spPr>
        <p:txBody>
          <a:bodyPr wrap="square" lIns="0" tIns="0" rIns="0" bIns="0" rtlCol="0" anchor="t">
            <a:normAutofit/>
          </a:bodyPr>
          <a:lstStyle/>
          <a:p>
            <a:pPr indent="0" marL="0">
              <a:buNone/>
            </a:pPr>
            <a:r>
              <a:rPr lang="en-US" altLang="en-US" sz="1300" dirty="0">
                <a:solidFill>
                  <a:srgbClr val="66636D"/>
                </a:solidFill>
                <a:latin typeface="Aptos" pitchFamily="34" charset="0"/>
                <a:ea typeface="Aptos" pitchFamily="34" charset="-122"/>
                <a:cs typeface="Aptos" pitchFamily="34" charset="-120"/>
              </a:rPr>
              <a:t>Test, validate and reconcile</a:t>
            </a:r>
            <a:endParaRPr lang="en-US" sz="1300" dirty="0"/>
          </a:p>
          <a:p>
            <a:pPr indent="0" marL="0">
              <a:buNone/>
            </a:pPr>
            <a:r>
              <a:rPr lang="en-US" altLang="en-US" sz="1300" dirty="0">
                <a:solidFill>
                  <a:srgbClr val="66636D"/>
                </a:solidFill>
                <a:latin typeface="Aptos" pitchFamily="34" charset="0"/>
                <a:ea typeface="Aptos" pitchFamily="34" charset="-122"/>
                <a:cs typeface="Aptos" pitchFamily="34" charset="-120"/>
              </a:rPr>
              <a:t>before and after migration.</a:t>
            </a:r>
            <a:endParaRPr lang="en-US" sz="1300" dirty="0"/>
          </a:p>
        </p:txBody>
      </p:sp>
      <p:sp>
        <p:nvSpPr>
          <p:cNvPr id="15" name="Shape 12"/>
          <p:cNvSpPr/>
          <p:nvPr/>
        </p:nvSpPr>
        <p:spPr>
          <a:xfrm>
            <a:off x="6254496" y="2240280"/>
            <a:ext cx="493776" cy="0"/>
          </a:xfrm>
          <a:prstGeom prst="line">
            <a:avLst/>
          </a:prstGeom>
          <a:noFill/>
          <a:ln w="38100">
            <a:solidFill>
              <a:srgbClr val="853BDD"/>
            </a:solidFill>
            <a:prstDash val="solid"/>
          </a:ln>
        </p:spPr>
      </p:sp>
      <p:sp>
        <p:nvSpPr>
          <p:cNvPr id="16" name="Text 13"/>
          <p:cNvSpPr/>
          <p:nvPr/>
        </p:nvSpPr>
        <p:spPr>
          <a:xfrm>
            <a:off x="6254496" y="2496312"/>
            <a:ext cx="2496312" cy="356616"/>
          </a:xfrm>
          <a:prstGeom prst="rect">
            <a:avLst/>
          </a:prstGeom>
          <a:noFill/>
          <a:ln/>
        </p:spPr>
        <p:txBody>
          <a:bodyPr wrap="square" lIns="0" tIns="0" rIns="0" bIns="0" rtlCol="0" anchor="ctr">
            <a:normAutofit/>
          </a:bodyPr>
          <a:lstStyle/>
          <a:p>
            <a:pPr indent="0" marL="0">
              <a:buNone/>
            </a:pPr>
            <a:r>
              <a:rPr lang="en-US" altLang="en-US" sz="2050" b="1" dirty="0">
                <a:solidFill>
                  <a:srgbClr val="19171D"/>
                </a:solidFill>
                <a:latin typeface="Aptos" pitchFamily="34" charset="0"/>
                <a:ea typeface="Aptos" pitchFamily="34" charset="-122"/>
                <a:cs typeface="Aptos" pitchFamily="34" charset="-120"/>
              </a:rPr>
              <a:t>Autonomous</a:t>
            </a:r>
            <a:endParaRPr lang="en-US" sz="2050" dirty="0"/>
          </a:p>
        </p:txBody>
      </p:sp>
      <p:sp>
        <p:nvSpPr>
          <p:cNvPr id="17" name="Text 14"/>
          <p:cNvSpPr/>
          <p:nvPr/>
        </p:nvSpPr>
        <p:spPr>
          <a:xfrm>
            <a:off x="6254496" y="3017520"/>
            <a:ext cx="2496312" cy="530352"/>
          </a:xfrm>
          <a:prstGeom prst="rect">
            <a:avLst/>
          </a:prstGeom>
          <a:noFill/>
          <a:ln/>
        </p:spPr>
        <p:txBody>
          <a:bodyPr wrap="square" lIns="0" tIns="0" rIns="0" bIns="0" rtlCol="0" anchor="t">
            <a:normAutofit/>
          </a:bodyPr>
          <a:lstStyle/>
          <a:p>
            <a:pPr indent="0" marL="0">
              <a:buNone/>
            </a:pPr>
            <a:r>
              <a:rPr lang="en-US" altLang="en-US" sz="1300" dirty="0">
                <a:solidFill>
                  <a:srgbClr val="66636D"/>
                </a:solidFill>
                <a:latin typeface="Aptos" pitchFamily="34" charset="0"/>
                <a:ea typeface="Aptos" pitchFamily="34" charset="-122"/>
                <a:cs typeface="Aptos" pitchFamily="34" charset="-120"/>
              </a:rPr>
              <a:t>Handle routine failures</a:t>
            </a:r>
            <a:endParaRPr lang="en-US" sz="1300" dirty="0"/>
          </a:p>
          <a:p>
            <a:pPr indent="0" marL="0">
              <a:buNone/>
            </a:pPr>
            <a:r>
              <a:rPr lang="en-US" altLang="en-US" sz="1300" dirty="0">
                <a:solidFill>
                  <a:srgbClr val="66636D"/>
                </a:solidFill>
                <a:latin typeface="Aptos" pitchFamily="34" charset="0"/>
                <a:ea typeface="Aptos" pitchFamily="34" charset="-122"/>
                <a:cs typeface="Aptos" pitchFamily="34" charset="-120"/>
              </a:rPr>
              <a:t>and recovery automatically.</a:t>
            </a:r>
            <a:endParaRPr lang="en-US" sz="1300" dirty="0"/>
          </a:p>
        </p:txBody>
      </p:sp>
      <p:sp>
        <p:nvSpPr>
          <p:cNvPr id="18" name="Shape 15"/>
          <p:cNvSpPr/>
          <p:nvPr/>
        </p:nvSpPr>
        <p:spPr>
          <a:xfrm>
            <a:off x="9070848" y="2240280"/>
            <a:ext cx="493776" cy="0"/>
          </a:xfrm>
          <a:prstGeom prst="line">
            <a:avLst/>
          </a:prstGeom>
          <a:noFill/>
          <a:ln w="38100">
            <a:solidFill>
              <a:srgbClr val="A56611"/>
            </a:solidFill>
            <a:prstDash val="solid"/>
          </a:ln>
        </p:spPr>
      </p:sp>
      <p:sp>
        <p:nvSpPr>
          <p:cNvPr id="19" name="Text 16"/>
          <p:cNvSpPr/>
          <p:nvPr/>
        </p:nvSpPr>
        <p:spPr>
          <a:xfrm>
            <a:off x="9070848" y="2496312"/>
            <a:ext cx="2496312" cy="356616"/>
          </a:xfrm>
          <a:prstGeom prst="rect">
            <a:avLst/>
          </a:prstGeom>
          <a:noFill/>
          <a:ln/>
        </p:spPr>
        <p:txBody>
          <a:bodyPr wrap="square" lIns="0" tIns="0" rIns="0" bIns="0" rtlCol="0" anchor="ctr">
            <a:normAutofit/>
          </a:bodyPr>
          <a:lstStyle/>
          <a:p>
            <a:pPr indent="0" marL="0">
              <a:buNone/>
            </a:pPr>
            <a:r>
              <a:rPr lang="en-US" altLang="en-US" sz="2050" b="1" dirty="0">
                <a:solidFill>
                  <a:srgbClr val="19171D"/>
                </a:solidFill>
                <a:latin typeface="Aptos" pitchFamily="34" charset="0"/>
                <a:ea typeface="Aptos" pitchFamily="34" charset="-122"/>
                <a:cs typeface="Aptos" pitchFamily="34" charset="-120"/>
              </a:rPr>
              <a:t>Human-controlled</a:t>
            </a:r>
            <a:endParaRPr lang="en-US" sz="2050" dirty="0"/>
          </a:p>
        </p:txBody>
      </p:sp>
      <p:sp>
        <p:nvSpPr>
          <p:cNvPr id="20" name="Text 17"/>
          <p:cNvSpPr/>
          <p:nvPr/>
        </p:nvSpPr>
        <p:spPr>
          <a:xfrm>
            <a:off x="9070848" y="3017520"/>
            <a:ext cx="2496312" cy="530352"/>
          </a:xfrm>
          <a:prstGeom prst="rect">
            <a:avLst/>
          </a:prstGeom>
          <a:noFill/>
          <a:ln/>
        </p:spPr>
        <p:txBody>
          <a:bodyPr wrap="square" lIns="0" tIns="0" rIns="0" bIns="0" rtlCol="0" anchor="t">
            <a:normAutofit/>
          </a:bodyPr>
          <a:lstStyle/>
          <a:p>
            <a:pPr indent="0" marL="0">
              <a:buNone/>
            </a:pPr>
            <a:r>
              <a:rPr lang="en-US" altLang="en-US" sz="1300" dirty="0">
                <a:solidFill>
                  <a:srgbClr val="66636D"/>
                </a:solidFill>
                <a:latin typeface="Aptos" pitchFamily="34" charset="0"/>
                <a:ea typeface="Aptos" pitchFamily="34" charset="-122"/>
                <a:cs typeface="Aptos" pitchFamily="34" charset="-120"/>
              </a:rPr>
              <a:t>Escalate uncertainty</a:t>
            </a:r>
            <a:endParaRPr lang="en-US" sz="1300" dirty="0"/>
          </a:p>
          <a:p>
            <a:pPr indent="0" marL="0">
              <a:buNone/>
            </a:pPr>
            <a:r>
              <a:rPr lang="en-US" altLang="en-US" sz="1300" dirty="0">
                <a:solidFill>
                  <a:srgbClr val="66636D"/>
                </a:solidFill>
                <a:latin typeface="Aptos" pitchFamily="34" charset="0"/>
                <a:ea typeface="Aptos" pitchFamily="34" charset="-122"/>
                <a:cs typeface="Aptos" pitchFamily="34" charset="-120"/>
              </a:rPr>
              <a:t>and critical issues.</a:t>
            </a:r>
            <a:endParaRPr lang="en-US" sz="1300" dirty="0"/>
          </a:p>
        </p:txBody>
      </p:sp>
      <p:sp>
        <p:nvSpPr>
          <p:cNvPr id="21" name="Shape 18"/>
          <p:cNvSpPr/>
          <p:nvPr/>
        </p:nvSpPr>
        <p:spPr>
          <a:xfrm>
            <a:off x="621792" y="3858768"/>
            <a:ext cx="10945368" cy="530352"/>
          </a:xfrm>
          <a:prstGeom prst="rect">
            <a:avLst>
              <a:gd name="adj" fmla="val 10345"/>
            </a:avLst>
          </a:prstGeom>
          <a:solidFill>
            <a:srgbClr val="F7F6F9"/>
          </a:solidFill>
          <a:ln w="8890">
            <a:solidFill>
              <a:srgbClr val="F7F6F9"/>
            </a:solidFill>
            <a:prstDash val="solid"/>
          </a:ln>
        </p:spPr>
      </p:sp>
      <p:sp>
        <p:nvSpPr>
          <p:cNvPr id="22" name="Text 19"/>
          <p:cNvSpPr/>
          <p:nvPr/>
        </p:nvSpPr>
        <p:spPr>
          <a:xfrm>
            <a:off x="804672" y="4032504"/>
            <a:ext cx="1261872"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66636D"/>
                </a:solidFill>
                <a:latin typeface="Aptos" pitchFamily="34" charset="0"/>
                <a:ea typeface="Aptos" pitchFamily="34" charset="-122"/>
                <a:cs typeface="Aptos" pitchFamily="34" charset="-120"/>
              </a:rPr>
              <a:t>PRIMARY USERS</a:t>
            </a:r>
            <a:endParaRPr lang="en-US" sz="1000" dirty="0"/>
          </a:p>
        </p:txBody>
      </p:sp>
      <p:sp>
        <p:nvSpPr>
          <p:cNvPr id="23" name="Text 20"/>
          <p:cNvSpPr/>
          <p:nvPr/>
        </p:nvSpPr>
        <p:spPr>
          <a:xfrm>
            <a:off x="2359152" y="3995928"/>
            <a:ext cx="9006840" cy="265176"/>
          </a:xfrm>
          <a:prstGeom prst="rect">
            <a:avLst/>
          </a:prstGeom>
          <a:noFill/>
          <a:ln/>
        </p:spPr>
        <p:txBody>
          <a:bodyPr wrap="square" lIns="0" tIns="0" rIns="0" bIns="0" rtlCol="0" anchor="ctr">
            <a:normAutofit/>
          </a:bodyPr>
          <a:lstStyle/>
          <a:p>
            <a:pPr indent="0" marL="0">
              <a:buNone/>
            </a:pPr>
            <a:r>
              <a:rPr lang="en-US" altLang="en-US" sz="1280" b="1" dirty="0">
                <a:solidFill>
                  <a:srgbClr val="19171D"/>
                </a:solidFill>
                <a:latin typeface="Aptos" pitchFamily="34" charset="0"/>
                <a:ea typeface="Aptos" pitchFamily="34" charset="-122"/>
                <a:cs typeface="Aptos" pitchFamily="34" charset="-120"/>
              </a:rPr>
              <a:t>IT administrators / Onboarding teams / Professional Services / Migration teams</a:t>
            </a:r>
            <a:endParaRPr lang="en-US" sz="1280" dirty="0"/>
          </a:p>
        </p:txBody>
      </p:sp>
      <p:sp>
        <p:nvSpPr>
          <p:cNvPr id="24" name="Text 21"/>
          <p:cNvSpPr/>
          <p:nvPr/>
        </p:nvSpPr>
        <p:spPr>
          <a:xfrm>
            <a:off x="621792" y="4681728"/>
            <a:ext cx="530352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853BDD"/>
                </a:solidFill>
                <a:latin typeface="Aptos" pitchFamily="34" charset="0"/>
                <a:ea typeface="Aptos" pitchFamily="34" charset="-122"/>
                <a:cs typeface="Aptos" pitchFamily="34" charset="-120"/>
              </a:rPr>
              <a:t>MVP SUCCESS TARGETS</a:t>
            </a:r>
            <a:endParaRPr lang="en-US" sz="1000" dirty="0"/>
          </a:p>
        </p:txBody>
      </p:sp>
      <p:sp>
        <p:nvSpPr>
          <p:cNvPr id="25" name="Text 22"/>
          <p:cNvSpPr/>
          <p:nvPr/>
        </p:nvSpPr>
        <p:spPr>
          <a:xfrm>
            <a:off x="621792" y="5001768"/>
            <a:ext cx="2496312" cy="640080"/>
          </a:xfrm>
          <a:prstGeom prst="rect">
            <a:avLst/>
          </a:prstGeom>
          <a:noFill/>
          <a:ln/>
        </p:spPr>
        <p:txBody>
          <a:bodyPr wrap="square" lIns="0" tIns="0" rIns="0" bIns="0" rtlCol="0" anchor="ctr">
            <a:normAutofit/>
          </a:bodyPr>
          <a:lstStyle/>
          <a:p>
            <a:pPr indent="0" marL="0">
              <a:buNone/>
            </a:pPr>
            <a:r>
              <a:rPr lang="en-US" altLang="en-US" sz="4200" b="1" dirty="0">
                <a:solidFill>
                  <a:srgbClr val="147E64"/>
                </a:solidFill>
                <a:latin typeface="Aptos Display" pitchFamily="34" charset="0"/>
                <a:ea typeface="Aptos Display" pitchFamily="34" charset="-122"/>
                <a:cs typeface="Aptos Display" pitchFamily="34" charset="-120"/>
              </a:rPr>
              <a:t>≥95%</a:t>
            </a:r>
            <a:endParaRPr lang="en-US" sz="4200" dirty="0"/>
          </a:p>
        </p:txBody>
      </p:sp>
      <p:sp>
        <p:nvSpPr>
          <p:cNvPr id="26" name="Text 23"/>
          <p:cNvSpPr/>
          <p:nvPr/>
        </p:nvSpPr>
        <p:spPr>
          <a:xfrm>
            <a:off x="621792" y="5715000"/>
            <a:ext cx="2496312" cy="457200"/>
          </a:xfrm>
          <a:prstGeom prst="rect">
            <a:avLst/>
          </a:prstGeom>
          <a:noFill/>
          <a:ln/>
        </p:spPr>
        <p:txBody>
          <a:bodyPr wrap="square" lIns="0" tIns="0" rIns="0" bIns="0" rtlCol="0" anchor="ctr">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Migration success</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rate</a:t>
            </a:r>
            <a:endParaRPr lang="en-US" sz="1320" dirty="0"/>
          </a:p>
        </p:txBody>
      </p:sp>
      <p:sp>
        <p:nvSpPr>
          <p:cNvPr id="27" name="Text 24"/>
          <p:cNvSpPr/>
          <p:nvPr/>
        </p:nvSpPr>
        <p:spPr>
          <a:xfrm>
            <a:off x="3438144" y="5001768"/>
            <a:ext cx="2496312" cy="640080"/>
          </a:xfrm>
          <a:prstGeom prst="rect">
            <a:avLst/>
          </a:prstGeom>
          <a:noFill/>
          <a:ln/>
        </p:spPr>
        <p:txBody>
          <a:bodyPr wrap="square" lIns="0" tIns="0" rIns="0" bIns="0" rtlCol="0" anchor="ctr">
            <a:normAutofit/>
          </a:bodyPr>
          <a:lstStyle/>
          <a:p>
            <a:pPr indent="0" marL="0">
              <a:buNone/>
            </a:pPr>
            <a:r>
              <a:rPr lang="en-US" altLang="en-US" sz="4200" b="1" dirty="0">
                <a:solidFill>
                  <a:srgbClr val="147E64"/>
                </a:solidFill>
                <a:latin typeface="Aptos Display" pitchFamily="34" charset="0"/>
                <a:ea typeface="Aptos Display" pitchFamily="34" charset="-122"/>
                <a:cs typeface="Aptos Display" pitchFamily="34" charset="-120"/>
              </a:rPr>
              <a:t>≥80%</a:t>
            </a:r>
            <a:endParaRPr lang="en-US" sz="4200" dirty="0"/>
          </a:p>
        </p:txBody>
      </p:sp>
      <p:sp>
        <p:nvSpPr>
          <p:cNvPr id="28" name="Text 25"/>
          <p:cNvSpPr/>
          <p:nvPr/>
        </p:nvSpPr>
        <p:spPr>
          <a:xfrm>
            <a:off x="3438144" y="5715000"/>
            <a:ext cx="2496312" cy="457200"/>
          </a:xfrm>
          <a:prstGeom prst="rect">
            <a:avLst/>
          </a:prstGeom>
          <a:noFill/>
          <a:ln/>
        </p:spPr>
        <p:txBody>
          <a:bodyPr wrap="square" lIns="0" tIns="0" rIns="0" bIns="0" rtlCol="0" anchor="ctr">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Recoverable failures</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automatically remediated</a:t>
            </a:r>
            <a:endParaRPr lang="en-US" sz="1320" dirty="0"/>
          </a:p>
        </p:txBody>
      </p:sp>
      <p:sp>
        <p:nvSpPr>
          <p:cNvPr id="29" name="Text 26"/>
          <p:cNvSpPr/>
          <p:nvPr/>
        </p:nvSpPr>
        <p:spPr>
          <a:xfrm>
            <a:off x="6254496" y="5001768"/>
            <a:ext cx="2496312" cy="640080"/>
          </a:xfrm>
          <a:prstGeom prst="rect">
            <a:avLst/>
          </a:prstGeom>
          <a:noFill/>
          <a:ln/>
        </p:spPr>
        <p:txBody>
          <a:bodyPr wrap="square" lIns="0" tIns="0" rIns="0" bIns="0" rtlCol="0" anchor="ctr">
            <a:normAutofit/>
          </a:bodyPr>
          <a:lstStyle/>
          <a:p>
            <a:pPr indent="0" marL="0">
              <a:buNone/>
            </a:pPr>
            <a:r>
              <a:rPr lang="en-US" altLang="en-US" sz="4200" b="1" dirty="0">
                <a:solidFill>
                  <a:srgbClr val="147E64"/>
                </a:solidFill>
                <a:latin typeface="Aptos Display" pitchFamily="34" charset="0"/>
                <a:ea typeface="Aptos Display" pitchFamily="34" charset="-122"/>
                <a:cs typeface="Aptos Display" pitchFamily="34" charset="-120"/>
              </a:rPr>
              <a:t>&lt;10%</a:t>
            </a:r>
            <a:endParaRPr lang="en-US" sz="4200" dirty="0"/>
          </a:p>
        </p:txBody>
      </p:sp>
      <p:sp>
        <p:nvSpPr>
          <p:cNvPr id="30" name="Text 27"/>
          <p:cNvSpPr/>
          <p:nvPr/>
        </p:nvSpPr>
        <p:spPr>
          <a:xfrm>
            <a:off x="6254496" y="5715000"/>
            <a:ext cx="2496312" cy="457200"/>
          </a:xfrm>
          <a:prstGeom prst="rect">
            <a:avLst/>
          </a:prstGeom>
          <a:noFill/>
          <a:ln/>
        </p:spPr>
        <p:txBody>
          <a:bodyPr wrap="square" lIns="0" tIns="0" rIns="0" bIns="0" rtlCol="0" anchor="ctr">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Records requiring</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human intervention</a:t>
            </a:r>
            <a:endParaRPr lang="en-US" sz="1320" dirty="0"/>
          </a:p>
        </p:txBody>
      </p:sp>
      <p:sp>
        <p:nvSpPr>
          <p:cNvPr id="31" name="Text 28"/>
          <p:cNvSpPr/>
          <p:nvPr/>
        </p:nvSpPr>
        <p:spPr>
          <a:xfrm>
            <a:off x="9070848" y="5001768"/>
            <a:ext cx="2496312" cy="640080"/>
          </a:xfrm>
          <a:prstGeom prst="rect">
            <a:avLst/>
          </a:prstGeom>
          <a:noFill/>
          <a:ln/>
        </p:spPr>
        <p:txBody>
          <a:bodyPr wrap="square" lIns="0" tIns="0" rIns="0" bIns="0" rtlCol="0" anchor="ctr">
            <a:normAutofit/>
          </a:bodyPr>
          <a:lstStyle/>
          <a:p>
            <a:pPr indent="0" marL="0">
              <a:buNone/>
            </a:pPr>
            <a:r>
              <a:rPr lang="en-US" altLang="en-US" sz="4200" b="1" dirty="0">
                <a:solidFill>
                  <a:srgbClr val="147E64"/>
                </a:solidFill>
                <a:latin typeface="Aptos Display" pitchFamily="34" charset="0"/>
                <a:ea typeface="Aptos Display" pitchFamily="34" charset="-122"/>
                <a:cs typeface="Aptos Display" pitchFamily="34" charset="-120"/>
              </a:rPr>
              <a:t>0</a:t>
            </a:r>
            <a:endParaRPr lang="en-US" sz="4200" dirty="0"/>
          </a:p>
        </p:txBody>
      </p:sp>
      <p:sp>
        <p:nvSpPr>
          <p:cNvPr id="32" name="Text 29"/>
          <p:cNvSpPr/>
          <p:nvPr/>
        </p:nvSpPr>
        <p:spPr>
          <a:xfrm>
            <a:off x="9070848" y="5715000"/>
            <a:ext cx="2496312" cy="457200"/>
          </a:xfrm>
          <a:prstGeom prst="rect">
            <a:avLst/>
          </a:prstGeom>
          <a:noFill/>
          <a:ln/>
        </p:spPr>
        <p:txBody>
          <a:bodyPr wrap="square" lIns="0" tIns="0" rIns="0" bIns="0" rtlCol="0" anchor="ctr">
            <a:normAutofit/>
          </a:bodyPr>
          <a:lstStyle/>
          <a:p>
            <a:pPr indent="0" marL="0">
              <a:buNone/>
            </a:pPr>
            <a:r>
              <a:rPr lang="en-US" altLang="en-US" sz="1320" dirty="0">
                <a:solidFill>
                  <a:srgbClr val="66636D"/>
                </a:solidFill>
                <a:latin typeface="Aptos" pitchFamily="34" charset="0"/>
                <a:ea typeface="Aptos" pitchFamily="34" charset="-122"/>
                <a:cs typeface="Aptos" pitchFamily="34" charset="-120"/>
              </a:rPr>
              <a:t>Duplicate</a:t>
            </a:r>
            <a:endParaRPr lang="en-US" sz="1320" dirty="0"/>
          </a:p>
          <a:p>
            <a:pPr indent="0" marL="0">
              <a:buNone/>
            </a:pPr>
            <a:r>
              <a:rPr lang="en-US" altLang="en-US" sz="1320" dirty="0">
                <a:solidFill>
                  <a:srgbClr val="66636D"/>
                </a:solidFill>
                <a:latin typeface="Aptos" pitchFamily="34" charset="0"/>
                <a:ea typeface="Aptos" pitchFamily="34" charset="-122"/>
                <a:cs typeface="Aptos" pitchFamily="34" charset="-120"/>
              </a:rPr>
              <a:t>records</a:t>
            </a:r>
            <a:endParaRPr lang="en-US" sz="1320" dirty="0"/>
          </a:p>
        </p:txBody>
      </p:sp>
      <p:sp>
        <p:nvSpPr>
          <p:cNvPr id="33" name="Text 30"/>
          <p:cNvSpPr/>
          <p:nvPr/>
        </p:nvSpPr>
        <p:spPr>
          <a:xfrm>
            <a:off x="621792" y="6281928"/>
            <a:ext cx="10945368" cy="155448"/>
          </a:xfrm>
          <a:prstGeom prst="rect">
            <a:avLst/>
          </a:prstGeom>
          <a:noFill/>
          <a:ln/>
        </p:spPr>
        <p:txBody>
          <a:bodyPr wrap="square" lIns="0" tIns="0" rIns="0" bIns="0" rtlCol="0" anchor="ctr">
            <a:normAutofit/>
          </a:bodyPr>
          <a:lstStyle/>
          <a:p>
            <a:pPr indent="0" marL="0">
              <a:buNone/>
            </a:pPr>
            <a:r>
              <a:rPr lang="en-US" altLang="en-US" sz="1050" b="1" dirty="0">
                <a:solidFill>
                  <a:srgbClr val="A56611"/>
                </a:solidFill>
                <a:latin typeface="Aptos" pitchFamily="34" charset="0"/>
                <a:ea typeface="Aptos" pitchFamily="34" charset="-122"/>
                <a:cs typeface="Aptos" pitchFamily="34" charset="-120"/>
              </a:rPr>
              <a:t>Target metrics for the MVP. Not claimed achieved results.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9171D"/>
        </a:solidFill>
      </p:bgPr>
    </p:bg>
    <p:spTree>
      <p:nvGrpSpPr>
        <p:cNvPr id="1" name=""/>
        <p:cNvGrpSpPr/>
        <p:nvPr/>
      </p:nvGrpSpPr>
      <p:grpSpPr>
        <a:xfrm>
          <a:off x="0" y="0"/>
          <a:ext cx="0" cy="0"/>
          <a:chOff x="0" y="0"/>
          <a:chExt cx="0" cy="0"/>
        </a:xfrm>
      </p:grpSpPr>
      <p:sp>
        <p:nvSpPr>
          <p:cNvPr id="2" name="Shape 0"/>
          <p:cNvSpPr/>
          <p:nvPr/>
        </p:nvSpPr>
        <p:spPr>
          <a:xfrm>
            <a:off x="621792" y="6473952"/>
            <a:ext cx="10945368" cy="0"/>
          </a:xfrm>
          <a:prstGeom prst="line">
            <a:avLst/>
          </a:prstGeom>
          <a:noFill/>
          <a:ln w="8255">
            <a:solidFill>
              <a:srgbClr val="3A3542"/>
            </a:solidFill>
            <a:prstDash val="solid"/>
          </a:ln>
        </p:spPr>
      </p:sp>
      <p:sp>
        <p:nvSpPr>
          <p:cNvPr id="3" name="Text 1"/>
          <p:cNvSpPr/>
          <p:nvPr/>
        </p:nvSpPr>
        <p:spPr>
          <a:xfrm>
            <a:off x="621792" y="6592824"/>
            <a:ext cx="5486400" cy="137160"/>
          </a:xfrm>
          <a:prstGeom prst="rect">
            <a:avLst/>
          </a:prstGeom>
          <a:noFill/>
          <a:ln/>
        </p:spPr>
        <p:txBody>
          <a:bodyPr wrap="square" lIns="0" tIns="0" rIns="0" bIns="0" rtlCol="0" anchor="ctr">
            <a:normAutofit/>
          </a:bodyPr>
          <a:lstStyle/>
          <a:p>
            <a:pPr indent="0" marL="0">
              <a:buNone/>
            </a:pPr>
            <a:r>
              <a:rPr lang="en-US" altLang="en-US" sz="800" dirty="0">
                <a:solidFill>
                  <a:srgbClr val="B9B2C3"/>
                </a:solidFill>
                <a:latin typeface="Aptos" pitchFamily="34" charset="0"/>
                <a:ea typeface="Aptos" pitchFamily="34" charset="-122"/>
                <a:cs typeface="Aptos" pitchFamily="34" charset="-120"/>
              </a:rPr>
              <a:t>ZEN / AUTONOMOUS ENTERPRISE MIGRATION</a:t>
            </a:r>
            <a:endParaRPr lang="en-US" sz="800" dirty="0"/>
          </a:p>
        </p:txBody>
      </p:sp>
      <p:sp>
        <p:nvSpPr>
          <p:cNvPr id="4" name="Text 2"/>
          <p:cNvSpPr/>
          <p:nvPr/>
        </p:nvSpPr>
        <p:spPr>
          <a:xfrm>
            <a:off x="11137392" y="6583680"/>
            <a:ext cx="429768" cy="155448"/>
          </a:xfrm>
          <a:prstGeom prst="rect">
            <a:avLst/>
          </a:prstGeom>
          <a:noFill/>
          <a:ln/>
        </p:spPr>
        <p:txBody>
          <a:bodyPr wrap="square" lIns="0" tIns="0" rIns="0" bIns="0" rtlCol="0" anchor="ctr">
            <a:normAutofit/>
          </a:bodyPr>
          <a:lstStyle/>
          <a:p>
            <a:pPr algn="r" indent="0" marL="0">
              <a:buNone/>
            </a:pPr>
            <a:r>
              <a:rPr lang="en-US" altLang="en-US" sz="800" dirty="0">
                <a:solidFill>
                  <a:srgbClr val="B9B2C3"/>
                </a:solidFill>
                <a:latin typeface="Aptos" pitchFamily="34" charset="0"/>
                <a:ea typeface="Aptos" pitchFamily="34" charset="-122"/>
                <a:cs typeface="Aptos" pitchFamily="34" charset="-120"/>
              </a:rPr>
              <a:t>09</a:t>
            </a:r>
            <a:endParaRPr lang="en-US" sz="800" dirty="0"/>
          </a:p>
        </p:txBody>
      </p:sp>
      <p:sp>
        <p:nvSpPr>
          <p:cNvPr id="6" name="Text 3"/>
          <p:cNvSpPr/>
          <p:nvPr/>
        </p:nvSpPr>
        <p:spPr>
          <a:xfrm>
            <a:off x="621792" y="594360"/>
            <a:ext cx="7315200"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CDA6FF"/>
                </a:solidFill>
                <a:latin typeface="Aptos" pitchFamily="34" charset="0"/>
                <a:ea typeface="Aptos" pitchFamily="34" charset="-122"/>
                <a:cs typeface="Aptos" pitchFamily="34" charset="-120"/>
              </a:rPr>
              <a:t>09 / THE VISION</a:t>
            </a:r>
            <a:endParaRPr lang="en-US" sz="1000" dirty="0"/>
          </a:p>
        </p:txBody>
      </p:sp>
      <p:sp>
        <p:nvSpPr>
          <p:cNvPr id="7" name="Text 4"/>
          <p:cNvSpPr/>
          <p:nvPr/>
        </p:nvSpPr>
        <p:spPr>
          <a:xfrm>
            <a:off x="621792" y="1051560"/>
            <a:ext cx="10945368" cy="685800"/>
          </a:xfrm>
          <a:prstGeom prst="rect">
            <a:avLst/>
          </a:prstGeom>
          <a:noFill/>
          <a:ln/>
        </p:spPr>
        <p:txBody>
          <a:bodyPr wrap="square" lIns="0" tIns="0" rIns="0" bIns="0" rtlCol="0" anchor="ctr">
            <a:normAutofit/>
          </a:bodyPr>
          <a:lstStyle/>
          <a:p>
            <a:pPr indent="0" marL="0">
              <a:buNone/>
            </a:pPr>
            <a:r>
              <a:rPr lang="en-US" altLang="en-US" sz="4200" b="1" dirty="0">
                <a:solidFill>
                  <a:srgbClr val="B9B2C3"/>
                </a:solidFill>
                <a:latin typeface="Aptos Display" pitchFamily="34" charset="0"/>
                <a:ea typeface="Aptos Display" pitchFamily="34" charset="-122"/>
                <a:cs typeface="Aptos Display" pitchFamily="34" charset="-120"/>
              </a:rPr>
              <a:t>From Migration Project</a:t>
            </a:r>
            <a:endParaRPr lang="en-US" sz="4200" dirty="0"/>
          </a:p>
        </p:txBody>
      </p:sp>
      <p:sp>
        <p:nvSpPr>
          <p:cNvPr id="8" name="Text 5"/>
          <p:cNvSpPr/>
          <p:nvPr/>
        </p:nvSpPr>
        <p:spPr>
          <a:xfrm>
            <a:off x="621792" y="1819656"/>
            <a:ext cx="10945368" cy="685800"/>
          </a:xfrm>
          <a:prstGeom prst="rect">
            <a:avLst/>
          </a:prstGeom>
          <a:noFill/>
          <a:ln/>
        </p:spPr>
        <p:txBody>
          <a:bodyPr wrap="square" lIns="0" tIns="0" rIns="0" bIns="0" rtlCol="0" anchor="ctr">
            <a:normAutofit/>
          </a:bodyPr>
          <a:lstStyle/>
          <a:p>
            <a:pPr indent="0" marL="0">
              <a:buNone/>
            </a:pPr>
            <a:r>
              <a:rPr lang="en-US" altLang="en-US" sz="4200" b="1" dirty="0">
                <a:solidFill>
                  <a:srgbClr val="FFFFFF"/>
                </a:solidFill>
                <a:latin typeface="Aptos Display" pitchFamily="34" charset="0"/>
                <a:ea typeface="Aptos Display" pitchFamily="34" charset="-122"/>
                <a:cs typeface="Aptos Display" pitchFamily="34" charset="-120"/>
              </a:rPr>
              <a:t>to Migration Agent</a:t>
            </a:r>
            <a:endParaRPr lang="en-US" sz="4200" dirty="0"/>
          </a:p>
        </p:txBody>
      </p:sp>
      <p:sp>
        <p:nvSpPr>
          <p:cNvPr id="9" name="Text 6"/>
          <p:cNvSpPr/>
          <p:nvPr/>
        </p:nvSpPr>
        <p:spPr>
          <a:xfrm>
            <a:off x="621792" y="3145536"/>
            <a:ext cx="4443984"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B9B2C3"/>
                </a:solidFill>
                <a:latin typeface="Aptos" pitchFamily="34" charset="0"/>
                <a:ea typeface="Aptos" pitchFamily="34" charset="-122"/>
                <a:cs typeface="Aptos" pitchFamily="34" charset="-120"/>
              </a:rPr>
              <a:t>TODAY</a:t>
            </a:r>
            <a:endParaRPr lang="en-US" sz="1000" dirty="0"/>
          </a:p>
        </p:txBody>
      </p:sp>
      <p:sp>
        <p:nvSpPr>
          <p:cNvPr id="10" name="Text 7"/>
          <p:cNvSpPr/>
          <p:nvPr/>
        </p:nvSpPr>
        <p:spPr>
          <a:xfrm>
            <a:off x="621792" y="3520440"/>
            <a:ext cx="4681728" cy="420624"/>
          </a:xfrm>
          <a:prstGeom prst="rect">
            <a:avLst/>
          </a:prstGeom>
          <a:noFill/>
          <a:ln/>
        </p:spPr>
        <p:txBody>
          <a:bodyPr wrap="square" lIns="0" tIns="0" rIns="0" bIns="0" rtlCol="0" anchor="ctr">
            <a:normAutofit/>
          </a:bodyPr>
          <a:lstStyle/>
          <a:p>
            <a:pPr indent="0" marL="0">
              <a:buNone/>
            </a:pPr>
            <a:r>
              <a:rPr lang="en-US" altLang="en-US" sz="2200" b="1" dirty="0">
                <a:solidFill>
                  <a:srgbClr val="B9B2C3"/>
                </a:solidFill>
                <a:latin typeface="Aptos" pitchFamily="34" charset="0"/>
                <a:ea typeface="Aptos" pitchFamily="34" charset="-122"/>
                <a:cs typeface="Aptos" pitchFamily="34" charset="-120"/>
              </a:rPr>
              <a:t>People manage every step.</a:t>
            </a:r>
            <a:endParaRPr lang="en-US" sz="2200" dirty="0"/>
          </a:p>
        </p:txBody>
      </p:sp>
      <p:sp>
        <p:nvSpPr>
          <p:cNvPr id="11" name="Text 8"/>
          <p:cNvSpPr/>
          <p:nvPr/>
        </p:nvSpPr>
        <p:spPr>
          <a:xfrm>
            <a:off x="621792" y="4261104"/>
            <a:ext cx="4663440" cy="841248"/>
          </a:xfrm>
          <a:prstGeom prst="rect">
            <a:avLst/>
          </a:prstGeom>
          <a:noFill/>
          <a:ln/>
        </p:spPr>
        <p:txBody>
          <a:bodyPr wrap="square" lIns="0" tIns="0" rIns="0" bIns="0" rtlCol="0" anchor="t">
            <a:normAutofit/>
          </a:bodyPr>
          <a:lstStyle/>
          <a:p>
            <a:pPr indent="0" marL="0">
              <a:buNone/>
            </a:pPr>
            <a:r>
              <a:rPr lang="en-US" altLang="en-US" sz="1500" dirty="0">
                <a:solidFill>
                  <a:srgbClr val="B9B2C3"/>
                </a:solidFill>
                <a:latin typeface="Aptos" pitchFamily="34" charset="0"/>
                <a:ea typeface="Aptos" pitchFamily="34" charset="-122"/>
                <a:cs typeface="Aptos" pitchFamily="34" charset="-120"/>
              </a:rPr>
              <a:t>Configure → Map → Script → Test</a:t>
            </a:r>
            <a:endParaRPr lang="en-US" sz="1500" dirty="0"/>
          </a:p>
          <a:p>
            <a:pPr indent="0" marL="0">
              <a:buNone/>
            </a:pPr>
            <a:r>
              <a:rPr lang="en-US" altLang="en-US" sz="1500" dirty="0">
                <a:solidFill>
                  <a:srgbClr val="B9B2C3"/>
                </a:solidFill>
                <a:latin typeface="Aptos" pitchFamily="34" charset="0"/>
                <a:ea typeface="Aptos" pitchFamily="34" charset="-122"/>
                <a:cs typeface="Aptos" pitchFamily="34" charset="-120"/>
              </a:rPr>
              <a:t>Migrate → Troubleshoot → Validate</a:t>
            </a:r>
            <a:endParaRPr lang="en-US" sz="1500" dirty="0"/>
          </a:p>
        </p:txBody>
      </p:sp>
      <p:sp>
        <p:nvSpPr>
          <p:cNvPr id="12" name="Shape 9"/>
          <p:cNvSpPr/>
          <p:nvPr/>
        </p:nvSpPr>
        <p:spPr>
          <a:xfrm>
            <a:off x="5541264" y="3136392"/>
            <a:ext cx="0" cy="2304288"/>
          </a:xfrm>
          <a:prstGeom prst="line">
            <a:avLst/>
          </a:prstGeom>
          <a:noFill/>
          <a:ln w="12700">
            <a:solidFill>
              <a:srgbClr val="3A3542"/>
            </a:solidFill>
            <a:prstDash val="solid"/>
          </a:ln>
        </p:spPr>
      </p:sp>
      <p:sp>
        <p:nvSpPr>
          <p:cNvPr id="13" name="Text 10"/>
          <p:cNvSpPr/>
          <p:nvPr/>
        </p:nvSpPr>
        <p:spPr>
          <a:xfrm>
            <a:off x="6108192" y="3145536"/>
            <a:ext cx="5458968" cy="182880"/>
          </a:xfrm>
          <a:prstGeom prst="rect">
            <a:avLst/>
          </a:prstGeom>
          <a:noFill/>
          <a:ln/>
        </p:spPr>
        <p:txBody>
          <a:bodyPr wrap="square" lIns="0" tIns="0" rIns="0" bIns="0" rtlCol="0" anchor="ctr">
            <a:normAutofit/>
          </a:bodyPr>
          <a:lstStyle/>
          <a:p>
            <a:pPr algn="l" indent="0" marL="0">
              <a:buNone/>
            </a:pPr>
            <a:r>
              <a:rPr lang="en-US" altLang="en-US" sz="1000" b="1" dirty="0">
                <a:solidFill>
                  <a:srgbClr val="B6EDCF"/>
                </a:solidFill>
                <a:latin typeface="Aptos" pitchFamily="34" charset="0"/>
                <a:ea typeface="Aptos" pitchFamily="34" charset="-122"/>
                <a:cs typeface="Aptos" pitchFamily="34" charset="-120"/>
              </a:rPr>
              <a:t>WITH ZEN</a:t>
            </a:r>
            <a:endParaRPr lang="en-US" sz="1000" dirty="0"/>
          </a:p>
        </p:txBody>
      </p:sp>
      <p:sp>
        <p:nvSpPr>
          <p:cNvPr id="14" name="Text 11"/>
          <p:cNvSpPr/>
          <p:nvPr/>
        </p:nvSpPr>
        <p:spPr>
          <a:xfrm>
            <a:off x="6108192" y="3520440"/>
            <a:ext cx="5458968" cy="420624"/>
          </a:xfrm>
          <a:prstGeom prst="rect">
            <a:avLst/>
          </a:prstGeom>
          <a:noFill/>
          <a:ln/>
        </p:spPr>
        <p:txBody>
          <a:bodyPr wrap="square" lIns="0" tIns="0" rIns="0" bIns="0" rtlCol="0" anchor="ctr">
            <a:normAutofit/>
          </a:bodyPr>
          <a:lstStyle/>
          <a:p>
            <a:pPr indent="0" marL="0">
              <a:buNone/>
            </a:pPr>
            <a:r>
              <a:rPr lang="en-US" altLang="en-US" sz="2200" b="1" dirty="0">
                <a:solidFill>
                  <a:srgbClr val="FFFFFF"/>
                </a:solidFill>
                <a:latin typeface="Aptos" pitchFamily="34" charset="0"/>
                <a:ea typeface="Aptos" pitchFamily="34" charset="-122"/>
                <a:cs typeface="Aptos" pitchFamily="34" charset="-120"/>
              </a:rPr>
              <a:t>"Move JSM to Freshservice."</a:t>
            </a:r>
            <a:endParaRPr lang="en-US" sz="2200" dirty="0"/>
          </a:p>
        </p:txBody>
      </p:sp>
      <p:sp>
        <p:nvSpPr>
          <p:cNvPr id="15" name="Text 12"/>
          <p:cNvSpPr/>
          <p:nvPr/>
        </p:nvSpPr>
        <p:spPr>
          <a:xfrm>
            <a:off x="6108192" y="4261104"/>
            <a:ext cx="5458968" cy="722376"/>
          </a:xfrm>
          <a:prstGeom prst="rect">
            <a:avLst/>
          </a:prstGeom>
          <a:noFill/>
          <a:ln/>
        </p:spPr>
        <p:txBody>
          <a:bodyPr wrap="square" lIns="0" tIns="0" rIns="0" bIns="0" rtlCol="0" anchor="t">
            <a:normAutofit/>
          </a:bodyPr>
          <a:lstStyle/>
          <a:p>
            <a:pPr indent="0" marL="0">
              <a:buNone/>
            </a:pPr>
            <a:r>
              <a:rPr lang="en-US" altLang="en-US" sz="1500" dirty="0">
                <a:solidFill>
                  <a:srgbClr val="FFFFFF"/>
                </a:solidFill>
                <a:latin typeface="Aptos" pitchFamily="34" charset="0"/>
                <a:ea typeface="Aptos" pitchFamily="34" charset="-122"/>
                <a:cs typeface="Aptos" pitchFamily="34" charset="-120"/>
              </a:rPr>
              <a:t>Discover → Map → Test → Execute</a:t>
            </a:r>
            <a:endParaRPr lang="en-US" sz="1500" dirty="0"/>
          </a:p>
          <a:p>
            <a:pPr indent="0" marL="0">
              <a:buNone/>
            </a:pPr>
            <a:r>
              <a:rPr lang="en-US" altLang="en-US" sz="1500" dirty="0">
                <a:solidFill>
                  <a:srgbClr val="FFFFFF"/>
                </a:solidFill>
                <a:latin typeface="Aptos" pitchFamily="34" charset="0"/>
                <a:ea typeface="Aptos" pitchFamily="34" charset="-122"/>
                <a:cs typeface="Aptos" pitchFamily="34" charset="-120"/>
              </a:rPr>
              <a:t>Remediate → Reconcile → Explain</a:t>
            </a:r>
            <a:endParaRPr lang="en-US" sz="1500" dirty="0"/>
          </a:p>
        </p:txBody>
      </p:sp>
      <p:sp>
        <p:nvSpPr>
          <p:cNvPr id="16" name="Text 13"/>
          <p:cNvSpPr/>
          <p:nvPr/>
        </p:nvSpPr>
        <p:spPr>
          <a:xfrm>
            <a:off x="6108192" y="5157216"/>
            <a:ext cx="5458968" cy="320040"/>
          </a:xfrm>
          <a:prstGeom prst="rect">
            <a:avLst/>
          </a:prstGeom>
          <a:noFill/>
          <a:ln/>
        </p:spPr>
        <p:txBody>
          <a:bodyPr wrap="square" lIns="0" tIns="0" rIns="0" bIns="0" rtlCol="0" anchor="ctr">
            <a:normAutofit/>
          </a:bodyPr>
          <a:lstStyle/>
          <a:p>
            <a:pPr indent="0" marL="0">
              <a:buNone/>
            </a:pPr>
            <a:r>
              <a:rPr lang="en-US" altLang="en-US" sz="1700" b="1" dirty="0">
                <a:solidFill>
                  <a:srgbClr val="B6EDCF"/>
                </a:solidFill>
                <a:latin typeface="Aptos" pitchFamily="34" charset="0"/>
                <a:ea typeface="Aptos" pitchFamily="34" charset="-122"/>
                <a:cs typeface="Aptos" pitchFamily="34" charset="-120"/>
              </a:rPr>
              <a:t>Human only when needed.</a:t>
            </a:r>
            <a:endParaRPr lang="en-US" sz="1700" dirty="0"/>
          </a:p>
        </p:txBody>
      </p:sp>
      <p:sp>
        <p:nvSpPr>
          <p:cNvPr id="17" name="Text 14"/>
          <p:cNvSpPr/>
          <p:nvPr/>
        </p:nvSpPr>
        <p:spPr>
          <a:xfrm>
            <a:off x="621792" y="5998464"/>
            <a:ext cx="10945368" cy="356616"/>
          </a:xfrm>
          <a:prstGeom prst="rect">
            <a:avLst/>
          </a:prstGeom>
          <a:noFill/>
          <a:ln/>
        </p:spPr>
        <p:txBody>
          <a:bodyPr wrap="square" lIns="0" tIns="0" rIns="0" bIns="0" rtlCol="0" anchor="ctr">
            <a:normAutofit/>
          </a:bodyPr>
          <a:lstStyle/>
          <a:p>
            <a:pPr indent="0" marL="0">
              <a:buNone/>
            </a:pPr>
            <a:r>
              <a:rPr lang="en-US" altLang="en-US" sz="2400" b="1" dirty="0">
                <a:solidFill>
                  <a:srgbClr val="FFFFFF"/>
                </a:solidFill>
                <a:latin typeface="Aptos" pitchFamily="34" charset="0"/>
                <a:ea typeface="Aptos" pitchFamily="34" charset="-122"/>
                <a:cs typeface="Aptos" pitchFamily="34" charset="-120"/>
              </a:rPr>
              <a:t>Give Zen the goal. Let Zen own the migration.</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Zen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Zen | The Autonomous Enterprise Migration Agent</dc:title>
  <dc:subject>Goal-driven enterprise migration from Jira Service Management to Freshservice</dc:subject>
  <dc:creator>Zen</dc:creator>
  <cp:lastModifiedBy>Zen</cp:lastModifiedBy>
  <cp:revision>1</cp:revision>
  <dcterms:created xsi:type="dcterms:W3CDTF">2026-09-26T02:36:09Z</dcterms:created>
  <dcterms:modified xsi:type="dcterms:W3CDTF">2026-09-26T02:36:09Z</dcterms:modified>
</cp:coreProperties>
</file>