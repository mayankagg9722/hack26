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EN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92608"/>
            <a:ext cx="11338560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914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20" kern="0" dirty="0">
                <a:solidFill>
                  <a:srgbClr val="94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78992" y="914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CUSTOMER ONBOARDING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012680" y="914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20" kern="0" dirty="0">
                <a:solidFill>
                  <a:srgbClr val="8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PROTOTYPE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38912" y="656539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C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ZEN  /  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:\personal\hackathon\devpost\01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40080"/>
            <a:ext cx="12188952" cy="81290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7FD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rot="1200000">
            <a:off x="676656" y="621792"/>
            <a:ext cx="493776" cy="493776"/>
          </a:xfrm>
          <a:prstGeom prst="arc">
            <a:avLst/>
          </a:prstGeom>
          <a:solidFill>
            <a:srgbClr val="FCFAFD">
              <a:alpha val="0"/>
            </a:srgbClr>
          </a:solidFill>
          <a:ln w="63500">
            <a:solidFill>
              <a:srgbClr val="9400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298448" y="7498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60" kern="0" dirty="0">
                <a:solidFill>
                  <a:srgbClr val="151218"/>
                </a:solidFill>
              </a:rPr>
              <a:t>ZEN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454896" y="694944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F5ECFF"/>
          </a:solidFill>
          <a:ln w="12700">
            <a:solidFill>
              <a:srgbClr val="F5EC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28048" y="745236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9400FF"/>
                </a:solidFill>
              </a:rPr>
              <a:t>ENTERPRISE AI ONBOARDING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15568" y="1874520"/>
            <a:ext cx="99669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151218"/>
                </a:solidFill>
              </a:rPr>
              <a:t>The AI onboarding agent that gets every customer to value.</a:t>
            </a:r>
            <a:endParaRPr lang="en-US" sz="3900" dirty="0"/>
          </a:p>
        </p:txBody>
      </p:sp>
      <p:sp>
        <p:nvSpPr>
          <p:cNvPr id="10" name="Shape 7"/>
          <p:cNvSpPr/>
          <p:nvPr/>
        </p:nvSpPr>
        <p:spPr>
          <a:xfrm>
            <a:off x="5184648" y="3794760"/>
            <a:ext cx="1828800" cy="0"/>
          </a:xfrm>
          <a:prstGeom prst="line">
            <a:avLst/>
          </a:prstGeom>
          <a:noFill/>
          <a:ln w="38100">
            <a:solidFill>
              <a:srgbClr val="9400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84248" y="418795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16B"/>
                </a:solidFill>
              </a:rPr>
              <a:t>Zen understands the goal, sees the screen, guides each step and brings in a human only when needed.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072384" y="5321808"/>
            <a:ext cx="6053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9400FF"/>
                </a:solidFill>
              </a:rPr>
              <a:t>HIGH-TOUCH EXPERIENCE  •  SOFTWARE SCALE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953512" y="6144768"/>
            <a:ext cx="6291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8E98"/>
                </a:solidFill>
              </a:rPr>
              <a:t>Hackathon prototype  |  Enterprise product vision  | 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THE ENTERPRISE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Onboarding still scales with headcount.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Every new customer adds coordination, repetition and avoidable delay.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2148840"/>
            <a:ext cx="3438144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4140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00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" y="2788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18"/>
                </a:solidFill>
              </a:rPr>
              <a:t>Scheduling drag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8952" y="327355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Customer is ready Monday.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The next specialist slot is Friday.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8952" y="42245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400FF"/>
                </a:solidFill>
              </a:rPr>
              <a:t>5 days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764792" y="43525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16B"/>
                </a:solidFill>
              </a:rPr>
              <a:t>lost momentum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34256" y="2148840"/>
            <a:ext cx="3438144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2856" y="24140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00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62856" y="2788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18"/>
                </a:solidFill>
              </a:rPr>
              <a:t>Repetitive work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62856" y="327355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Your strongest CSM repeats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the same setup for the 40th time.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62856" y="42245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400FF"/>
                </a:solidFill>
              </a:rPr>
              <a:t>40×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568696" y="43525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16B"/>
                </a:solidFill>
              </a:rPr>
              <a:t>same walkthrough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38160" y="2148840"/>
            <a:ext cx="3438144" cy="3200400"/>
          </a:xfrm>
          <a:prstGeom prst="roundRect">
            <a:avLst>
              <a:gd name="adj" fmla="val 2286"/>
            </a:avLst>
          </a:prstGeom>
          <a:solidFill>
            <a:srgbClr val="FFF9F9"/>
          </a:solidFill>
          <a:ln w="10160">
            <a:solidFill>
              <a:srgbClr val="F2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24140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00FF"/>
                </a:solidFill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66760" y="2788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18"/>
                </a:solidFill>
              </a:rPr>
              <a:t>Silent drop-off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66760" y="327355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One confusing integration step.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Customer leaves and never returns.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66760" y="42245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64545"/>
                </a:solidFill>
              </a:rPr>
              <a:t>1 step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9372600" y="43525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16B"/>
                </a:solidFill>
              </a:rPr>
              <a:t>can stop activation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0352" y="5806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40" kern="0" dirty="0">
                <a:solidFill>
                  <a:srgbClr val="151218"/>
                </a:solidFill>
              </a:rPr>
              <a:t>THE BOTTLENECK IS NOT KNOWLEDGE. IT IS CONTEXT, TIMING AND AVAILABILITY.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INITIAL MARKET WEDGE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Healthcare operations SaaS.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Start where onboarding is complex, regulated and repeated across many locations.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901952"/>
            <a:ext cx="3703320" cy="4251960"/>
          </a:xfrm>
          <a:prstGeom prst="roundRect">
            <a:avLst>
              <a:gd name="adj" fmla="val 1975"/>
            </a:avLst>
          </a:prstGeom>
          <a:solidFill>
            <a:srgbClr val="151218"/>
          </a:solidFill>
          <a:ln w="10160">
            <a:solidFill>
              <a:srgbClr val="1512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12848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302A34"/>
          </a:solidFill>
          <a:ln w="12700">
            <a:solidFill>
              <a:srgbClr val="302A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63140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D6B5F4"/>
                </a:solidFill>
              </a:rPr>
              <a:t>IDEAL CUSTOMER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277063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Vertical SaaS platforms serving multi-site clinics.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2944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CDD5"/>
                </a:solidFill>
              </a:rPr>
              <a:t>Practice management  •  Billing  •  Patient engagement  •  Workforce operations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96519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CDA0F3"/>
                </a:solidFill>
              </a:rPr>
              <a:t>WHY THIS WEDGE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" y="532180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High configuration + thin CS capacity + costly setup errors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45152" y="20116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5" kern="0" dirty="0">
                <a:solidFill>
                  <a:srgbClr val="9400FF"/>
                </a:solidFill>
              </a:rPr>
              <a:t>ONE CUSTOMER, A CUSTOM PLAYBOOK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248716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55574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166360" y="24963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1218"/>
                </a:solidFill>
              </a:rPr>
              <a:t>Import practitioners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78040" y="250545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Validate roles, locations and provider IDs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37176" y="2852928"/>
            <a:ext cx="0" cy="457200"/>
          </a:xfrm>
          <a:prstGeom prst="line">
            <a:avLst/>
          </a:prstGeom>
          <a:noFill/>
          <a:ln w="13970">
            <a:solidFill>
              <a:srgbClr val="D4CF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319272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38785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166360" y="33284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1218"/>
                </a:solidFill>
              </a:rPr>
              <a:t>Connect systems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78040" y="333756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Calendar, accounting, payments and messaging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37176" y="3685032"/>
            <a:ext cx="0" cy="457200"/>
          </a:xfrm>
          <a:prstGeom prst="line">
            <a:avLst/>
          </a:prstGeom>
          <a:noFill/>
          <a:ln w="13970">
            <a:solidFill>
              <a:srgbClr val="D4CF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4151376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421995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166360" y="4160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1218"/>
                </a:solidFill>
              </a:rPr>
              <a:t>Apply clinic policy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78040" y="416966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Tax rules, permissions and approved workflows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37176" y="4517136"/>
            <a:ext cx="0" cy="457200"/>
          </a:xfrm>
          <a:prstGeom prst="line">
            <a:avLst/>
          </a:prstGeom>
          <a:noFill/>
          <a:ln w="13970">
            <a:solidFill>
              <a:srgbClr val="D4CF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4983480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505206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166360" y="4992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1218"/>
                </a:solidFill>
              </a:rPr>
              <a:t>Train each role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78040" y="500176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Front desk, clinicians and administrators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45152" y="5797296"/>
            <a:ext cx="6903720" cy="411480"/>
          </a:xfrm>
          <a:prstGeom prst="roundRect">
            <a:avLst>
              <a:gd name="adj" fmla="val 17778"/>
            </a:avLst>
          </a:prstGeom>
          <a:solidFill>
            <a:srgbClr val="F5ECFF"/>
          </a:solidFill>
          <a:ln w="10160">
            <a:solidFill>
              <a:srgbClr val="D9B1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591616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B00D4"/>
                </a:solidFill>
              </a:rPr>
              <a:t>CUSTOMIZATION LAYER  →  customer policies + role-based flows + approved terminology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THE ZEN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An agent that works with the customer.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Not another help-center bot. Zen observes progress and acts in the moment.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2148840"/>
            <a:ext cx="2487168" cy="2514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9572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643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216152" y="248716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400FF"/>
                </a:solidFill>
              </a:rPr>
              <a:t>UNDERSTANDS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218"/>
                </a:solidFill>
              </a:rPr>
              <a:t>Goal + setup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5478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“Connect accounting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for 12 clinics.”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81528" y="3163824"/>
            <a:ext cx="219456" cy="420624"/>
          </a:xfrm>
          <a:prstGeom prst="chevron">
            <a:avLst/>
          </a:prstGeom>
          <a:solidFill>
            <a:srgbClr val="D6D1DA"/>
          </a:solidFill>
          <a:ln w="12700">
            <a:solidFill>
              <a:srgbClr val="D6D1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2148840"/>
            <a:ext cx="2487168" cy="2514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239572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4643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050792" y="248716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400FF"/>
                </a:solidFill>
              </a:rPr>
              <a:t>SEES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66160" y="29718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218"/>
                </a:solidFill>
              </a:rPr>
              <a:t>Live context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6160" y="35478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Customer is on the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Integrations screen.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16168" y="3163824"/>
            <a:ext cx="219456" cy="420624"/>
          </a:xfrm>
          <a:prstGeom prst="chevron">
            <a:avLst/>
          </a:prstGeom>
          <a:solidFill>
            <a:srgbClr val="D6D1DA"/>
          </a:solidFill>
          <a:ln w="12700">
            <a:solidFill>
              <a:srgbClr val="D6D1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2148840"/>
            <a:ext cx="2487168" cy="2514600"/>
          </a:xfrm>
          <a:prstGeom prst="roundRect">
            <a:avLst>
              <a:gd name="adj" fmla="val 2941"/>
            </a:avLst>
          </a:prstGeom>
          <a:solidFill>
            <a:srgbClr val="F5ECFF"/>
          </a:solidFill>
          <a:ln w="10160">
            <a:solidFill>
              <a:srgbClr val="D9B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39572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4643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885432" y="248716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400FF"/>
                </a:solidFill>
              </a:rPr>
              <a:t>GUIDES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0" y="29718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218"/>
                </a:solidFill>
              </a:rPr>
              <a:t>Next best action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0" y="35478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Highlights QuickBooks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and waits.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750808" y="3163824"/>
            <a:ext cx="219456" cy="420624"/>
          </a:xfrm>
          <a:prstGeom prst="chevron">
            <a:avLst/>
          </a:prstGeom>
          <a:solidFill>
            <a:srgbClr val="D6D1DA"/>
          </a:solidFill>
          <a:ln w="12700">
            <a:solidFill>
              <a:srgbClr val="D6D1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34272" y="2148840"/>
            <a:ext cx="2487168" cy="2514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0" y="239572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24643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720072" y="248716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400FF"/>
                </a:solidFill>
              </a:rPr>
              <a:t>ESCALATES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235440" y="29718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218"/>
                </a:solidFill>
              </a:rPr>
              <a:t>Human judgment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235440" y="35478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Pricing or edge case,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with context attached.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221992" y="5138928"/>
            <a:ext cx="7726680" cy="612648"/>
          </a:xfrm>
          <a:prstGeom prst="roundRect">
            <a:avLst>
              <a:gd name="adj" fmla="val 44776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42032" y="5330952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One session  →  one customer outcome  →  one structured learning signal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EXAMPLE 01 — LIVE GUIDANCE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Zen points. The customer acts.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The instruction appears exactly where work is happening—not in another tab.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47088"/>
            <a:ext cx="7827264" cy="4645152"/>
          </a:xfrm>
          <a:prstGeom prst="roundRect">
            <a:avLst>
              <a:gd name="adj" fmla="val 1378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C9C4CE">
                <a:alpha val="22000"/>
              </a:srgbClr>
            </a:outerShdw>
          </a:effectLst>
        </p:spPr>
      </p:sp>
      <p:pic>
        <p:nvPicPr>
          <p:cNvPr id="6" name="Image 0" descr="Q:\personal\hackathon\devpost\04-live-session-spot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74520"/>
            <a:ext cx="7772400" cy="45902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68512" y="1993392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F5ECFF"/>
          </a:solidFill>
          <a:ln w="12700">
            <a:solidFill>
              <a:srgbClr val="F5EC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41664" y="2043684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9400FF"/>
                </a:solidFill>
              </a:rPr>
              <a:t>IN THE MOMENT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8668512" y="25054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16B"/>
                </a:solidFill>
              </a:rPr>
              <a:t>Customer goal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68512" y="28163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218"/>
                </a:solidFill>
              </a:rPr>
              <a:t>Connect the accounting system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668512" y="354787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Zen identifies the right integration, spotlights the real button and waits for completion.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68512" y="47731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400FF"/>
                </a:solidFill>
              </a:rPr>
              <a:t>1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668512" y="5248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clear next step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0104120" y="47731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400FF"/>
                </a:solidFill>
              </a:rPr>
              <a:t>0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10104120" y="5248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tab switching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668512" y="57424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00FF"/>
                </a:solidFill>
              </a:rPr>
              <a:t>Why it matters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668512" y="59984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1218"/>
                </a:solidFill>
              </a:rPr>
              <a:t>Context turns documentation into action.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EXAMPLE 03 — RISK PREVENTION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Zen catches the costly “small” mistake.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The difference between answering a question and understanding the setup.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47088"/>
            <a:ext cx="7872984" cy="4645152"/>
          </a:xfrm>
          <a:prstGeom prst="roundRect">
            <a:avLst>
              <a:gd name="adj" fmla="val 1378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C9C4CE">
                <a:alpha val="22000"/>
              </a:srgbClr>
            </a:outerShdw>
          </a:effectLst>
        </p:spPr>
      </p:sp>
      <p:pic>
        <p:nvPicPr>
          <p:cNvPr id="6" name="Image 0" descr="Q:\personal\hackathon\devpost\06-mapping-g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74520"/>
            <a:ext cx="7818120" cy="45902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0" y="1993392"/>
            <a:ext cx="2788920" cy="1389888"/>
          </a:xfrm>
          <a:prstGeom prst="roundRect">
            <a:avLst>
              <a:gd name="adj" fmla="val 5263"/>
            </a:avLst>
          </a:prstGeom>
          <a:solidFill>
            <a:srgbClr val="FFF6F6"/>
          </a:solidFill>
          <a:ln w="12700">
            <a:solidFill>
              <a:srgbClr val="F1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0" y="225856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64545"/>
                </a:solidFill>
              </a:rPr>
              <a:t>WRONG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961120" y="25786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64545"/>
                </a:solidFill>
              </a:rPr>
              <a:t>GST 10%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8961120" y="29992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16B"/>
                </a:solidFill>
              </a:rPr>
              <a:t>Generic default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802368" y="3584448"/>
            <a:ext cx="384048" cy="548640"/>
          </a:xfrm>
          <a:prstGeom prst="downArrow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0" y="4343400"/>
            <a:ext cx="2788920" cy="1389888"/>
          </a:xfrm>
          <a:prstGeom prst="roundRect">
            <a:avLst>
              <a:gd name="adj" fmla="val 5263"/>
            </a:avLst>
          </a:prstGeom>
          <a:solidFill>
            <a:srgbClr val="EAF8F0"/>
          </a:solidFill>
          <a:ln w="12700">
            <a:solidFill>
              <a:srgbClr val="B9E3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0" y="460857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38A4A"/>
                </a:solidFill>
              </a:rPr>
              <a:t>RIGHT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961120" y="49286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8A4A"/>
                </a:solidFill>
              </a:rPr>
              <a:t>GST-FREE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8961120" y="5349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16B"/>
                </a:solidFill>
              </a:rPr>
              <a:t>Health-provider context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686800" y="608990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151218"/>
                </a:solidFill>
              </a:rPr>
              <a:t>PREVENT REWORK  •  PROTECT TRUST  •  ACCELERATE GO-LIVE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THE OPERATING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Automation without losing visibility.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Zen runs the sessions. Customer Success keeps control of the portfolio.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19656"/>
            <a:ext cx="7296912" cy="4736592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C9C4CE">
                <a:alpha val="22000"/>
              </a:srgbClr>
            </a:outerShdw>
          </a:effectLst>
        </p:spPr>
      </p:sp>
      <p:pic>
        <p:nvPicPr>
          <p:cNvPr id="6" name="Image 0" descr="Q:\personal\hackathon\devpost\08-admin-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47088"/>
            <a:ext cx="7242048" cy="46817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192024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5ECFF"/>
          </a:solidFill>
          <a:ln w="10160">
            <a:solidFill>
              <a:srgbClr val="DAB8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66760" y="21031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9400FF"/>
                </a:solidFill>
              </a:rPr>
              <a:t>91%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509760" y="21488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1218"/>
                </a:solidFill>
              </a:rPr>
              <a:t>self-serve rate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509760" y="248716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16B"/>
                </a:solidFill>
              </a:rPr>
              <a:t>Illustrative demo metric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138160" y="324612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66760" y="34290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9400FF"/>
                </a:solidFill>
              </a:rPr>
              <a:t>2.4 days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509760" y="3474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1218"/>
                </a:solidFill>
              </a:rPr>
              <a:t>time to value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509760" y="38130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16B"/>
                </a:solidFill>
              </a:rPr>
              <a:t>Illustrative demo metric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38160" y="457200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66760" y="47548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9400FF"/>
                </a:solidFill>
              </a:rPr>
              <a:t>4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509760" y="4800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1218"/>
                </a:solidFill>
              </a:rPr>
              <a:t>human escalations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9509760" y="513892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16B"/>
                </a:solidFill>
              </a:rPr>
              <a:t>Only where judgment matters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549640" y="5989320"/>
            <a:ext cx="2423160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22792" y="6039612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PORTFOLIO INTELLIGENCE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FITS THE EXISTING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Embed once. Connect what enterprises already use.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Zen acts as an orchestration layer—not a replacement for systems of record.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947672"/>
            <a:ext cx="2834640" cy="3566160"/>
          </a:xfrm>
          <a:prstGeom prst="roundRect">
            <a:avLst>
              <a:gd name="adj" fmla="val 2581"/>
            </a:avLst>
          </a:prstGeom>
          <a:solidFill>
            <a:srgbClr val="F7F6F8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677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66616B"/>
                </a:solidFill>
              </a:rPr>
              <a:t>YOUR PRODUCT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32688" y="2743200"/>
            <a:ext cx="202996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91056" y="29626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400FF"/>
                </a:solidFill>
              </a:rPr>
              <a:t>&lt;/&gt;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24712" y="34015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218"/>
                </a:solidFill>
              </a:rPr>
              <a:t>Web app / mobile app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97280" y="42793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4329684"/>
            <a:ext cx="1545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1-LINE JS SDK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41248" y="47823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16B"/>
                </a:solidFill>
              </a:rPr>
              <a:t>or native SDK / secure session link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75304" y="3255264"/>
            <a:ext cx="457200" cy="69494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947672"/>
            <a:ext cx="2880360" cy="3566160"/>
          </a:xfrm>
          <a:prstGeom prst="roundRect">
            <a:avLst>
              <a:gd name="adj" fmla="val 2540"/>
            </a:avLst>
          </a:prstGeom>
          <a:solidFill>
            <a:srgbClr val="F5ECFF"/>
          </a:solidFill>
          <a:ln w="10160">
            <a:solidFill>
              <a:srgbClr val="D9B1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22677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9400FF"/>
                </a:solidFill>
              </a:rPr>
              <a:t>ZEN ORCHESTRATION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99432" y="2724912"/>
            <a:ext cx="21762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2834640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218"/>
                </a:solidFill>
              </a:rPr>
              <a:t>Session + screen context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99432" y="3291840"/>
            <a:ext cx="21762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3401568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218"/>
                </a:solidFill>
              </a:rPr>
              <a:t>Customer-specific playbook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99432" y="3858768"/>
            <a:ext cx="21762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3968496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218"/>
                </a:solidFill>
              </a:rPr>
              <a:t>Tool calls + policy checks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99432" y="4425696"/>
            <a:ext cx="21762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4535424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218"/>
                </a:solidFill>
              </a:rPr>
              <a:t>Human escalation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53712" y="5056632"/>
            <a:ext cx="2286000" cy="256032"/>
          </a:xfrm>
          <a:prstGeom prst="roundRect">
            <a:avLst>
              <a:gd name="adj" fmla="val 50000"/>
            </a:avLst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5106924"/>
            <a:ext cx="2139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REST + WEBHOOKS + EVENTS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360920" y="3255264"/>
            <a:ext cx="457200" cy="69494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28432" y="1947672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2677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66616B"/>
                </a:solidFill>
              </a:rPr>
              <a:t>SYSTEMS ALREADY IN PLACE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02752" y="270662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IDENTITY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9034272" y="267919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Okta  •  Entra ID  •  WorkOS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302752" y="2980944"/>
            <a:ext cx="2907792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02752" y="320954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KNOWLEDGE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034272" y="318211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SharePoint  •  Confluence  •  Zendesk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302752" y="3483864"/>
            <a:ext cx="2907792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02752" y="371246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CUSTOMER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9034272" y="368503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Salesforce  •  HubSpot  •  Gainsight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302752" y="3986784"/>
            <a:ext cx="2907792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02752" y="421538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WORK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9034272" y="418795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Teams  •  Slack  •  Jira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302752" y="4489704"/>
            <a:ext cx="2907792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02752" y="471830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DATA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9034272" y="469087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Segment  •  Snowflake  •  Power BI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58368" y="5934456"/>
            <a:ext cx="10881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51218"/>
                </a:solidFill>
              </a:rPr>
              <a:t>Example: Salesforce opens the session → Zen guides QuickBooks setup → unresolved issue creates a Zendesk ticket with transcript → outcome flows to Gainsight.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DESIGNED FOR ENTERPRISE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A control plane around the agent.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Production architecture: observable, governable and integration-ready.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993392"/>
            <a:ext cx="2148840" cy="3273552"/>
          </a:xfrm>
          <a:prstGeom prst="roundRect">
            <a:avLst>
              <a:gd name="adj" fmla="val 3404"/>
            </a:avLst>
          </a:prstGeom>
          <a:solidFill>
            <a:srgbClr val="F7F6F8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28600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5" kern="0" dirty="0">
                <a:solidFill>
                  <a:srgbClr val="66616B"/>
                </a:solidFill>
              </a:rPr>
              <a:t>CUSTOMER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" y="2743200"/>
            <a:ext cx="17830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880360"/>
            <a:ext cx="1527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Embedded widget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3401568"/>
            <a:ext cx="17830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3538728"/>
            <a:ext cx="1527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Voice / text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" y="4059936"/>
            <a:ext cx="17830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4197096"/>
            <a:ext cx="1527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Screen share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16936" y="3364992"/>
            <a:ext cx="310896" cy="51206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72384" y="1993392"/>
            <a:ext cx="2377440" cy="3273552"/>
          </a:xfrm>
          <a:prstGeom prst="roundRect">
            <a:avLst>
              <a:gd name="adj" fmla="val 3077"/>
            </a:avLst>
          </a:prstGeom>
          <a:solidFill>
            <a:srgbClr val="F5ECFF"/>
          </a:solidFill>
          <a:ln w="10160">
            <a:solidFill>
              <a:srgbClr val="D9B1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22860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5" kern="0" dirty="0">
                <a:solidFill>
                  <a:srgbClr val="9400FF"/>
                </a:solidFill>
              </a:rPr>
              <a:t>ZEN AGENT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55264" y="2743200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880360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218"/>
                </a:solidFill>
              </a:rPr>
              <a:t>Goal planner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55264" y="3401568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3538728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218"/>
                </a:solidFill>
              </a:rPr>
              <a:t>Screen context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55264" y="4059936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4197096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218"/>
                </a:solidFill>
              </a:rPr>
              <a:t>Policy guardrails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50992" y="3364992"/>
            <a:ext cx="310896" cy="51206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06440" y="1993392"/>
            <a:ext cx="2395728" cy="3273552"/>
          </a:xfrm>
          <a:prstGeom prst="roundRect">
            <a:avLst>
              <a:gd name="adj" fmla="val 3053"/>
            </a:avLst>
          </a:prstGeom>
          <a:solidFill>
            <a:srgbClr val="F7F6F8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2286000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5" kern="0" dirty="0">
                <a:solidFill>
                  <a:srgbClr val="66616B"/>
                </a:solidFill>
              </a:rPr>
              <a:t>KNOWLEDGE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89320" y="2743200"/>
            <a:ext cx="202996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7336" y="2880360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Product docs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89320" y="3401568"/>
            <a:ext cx="202996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17336" y="3538728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Approved answers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0" y="4059936"/>
            <a:ext cx="202996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4197096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Session memory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403336" y="3364992"/>
            <a:ext cx="310896" cy="51206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58784" y="1993392"/>
            <a:ext cx="2971800" cy="3273552"/>
          </a:xfrm>
          <a:prstGeom prst="roundRect">
            <a:avLst>
              <a:gd name="adj" fmla="val 2462"/>
            </a:avLst>
          </a:prstGeom>
          <a:solidFill>
            <a:srgbClr val="F7F6F8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41664" y="228600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5" kern="0" dirty="0">
                <a:solidFill>
                  <a:srgbClr val="66616B"/>
                </a:solidFill>
              </a:rPr>
              <a:t>ENTERPRISE SYSTEMS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741664" y="2743200"/>
            <a:ext cx="26060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69680" y="2880360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CRM + Support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741664" y="3401568"/>
            <a:ext cx="26060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69680" y="3538728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Slack / Teams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741664" y="4059936"/>
            <a:ext cx="26060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69680" y="4197096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Analytics + Data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6928" y="55961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400FF"/>
                </a:solidFill>
              </a:rPr>
              <a:t>CONTROL LAYER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664208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737360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IDENTITY &amp; RBAC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511296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84448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AUDIT TRAIL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358384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31536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DATA BOUNDARIES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205472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78624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HUMAN APPROVAL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9052560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EVALUATION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66928" y="623620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6616B"/>
                </a:solidFill>
              </a:rPr>
              <a:t>Architecture is the proposed production target; the submitted hackathon experience is a frontend prototype.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ENTERPRISE VALUE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Turn onboarding from a queue into a system.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Four stakeholder wins from one shared customer journey.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2011680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9400FF"/>
                </a:solidFill>
              </a:rPr>
              <a:t>⏱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49808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6616B"/>
                </a:solidFill>
              </a:rPr>
              <a:t>CUSTOMER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" y="3529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218"/>
                </a:solidFill>
              </a:rPr>
              <a:t>Start now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9808" y="4206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No calendar delay.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Guidance in context.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4992" y="2011680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9400FF"/>
                </a:solidFill>
              </a:rPr>
              <a:t>◎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84448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6616B"/>
                </a:solidFill>
              </a:rPr>
              <a:t>CUSTOMER SUCCESS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84448" y="3529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218"/>
                </a:solidFill>
              </a:rPr>
              <a:t>Focus humans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84448" y="4206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Escalate judgment.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Automate repetition.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9632" y="2011680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9400FF"/>
                </a:solidFill>
              </a:rPr>
              <a:t>↗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419088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6616B"/>
                </a:solidFill>
              </a:rPr>
              <a:t>PRODUCT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3529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218"/>
                </a:solidFill>
              </a:rPr>
              <a:t>See friction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19088" y="4206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Every struggle becomes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a roadmap signal.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34272" y="2011680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151218"/>
          </a:solidFill>
          <a:ln w="10160">
            <a:solidFill>
              <a:srgbClr val="1512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5372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DA0F3"/>
                </a:solidFill>
              </a:rPr>
              <a:t>∞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253728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CDA0F3"/>
                </a:solidFill>
              </a:rPr>
              <a:t>LEADERSHIP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253728" y="3529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Scale coverage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253728" y="4206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4CFD8"/>
                </a:solidFill>
              </a:rPr>
              <a:t>More customers without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CFD8"/>
                </a:solidFill>
              </a:rPr>
              <a:t>linear headcount.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93592" y="58978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400FF"/>
                </a:solidFill>
              </a:rPr>
              <a:t>NORTH STAR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17720" y="583387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218"/>
                </a:solidFill>
              </a:rPr>
              <a:t>Time from signed contract → first customer value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676656" y="676656"/>
            <a:ext cx="566928" cy="566928"/>
          </a:xfrm>
          <a:prstGeom prst="arc">
            <a:avLst/>
          </a:prstGeom>
          <a:solidFill>
            <a:srgbClr val="151218">
              <a:alpha val="0"/>
            </a:srgbClr>
          </a:solidFill>
          <a:ln w="76200">
            <a:solidFill>
              <a:srgbClr val="940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8229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40" kern="0" dirty="0">
                <a:solidFill>
                  <a:srgbClr val="FFFFFF"/>
                </a:solidFill>
              </a:rPr>
              <a:t>ZEN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94944" y="1847088"/>
            <a:ext cx="6766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High-touch onboarding.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Every customer.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No extra headcount.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13232" y="45720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DA0F3"/>
                </a:solidFill>
              </a:rPr>
              <a:t>Let’s see it live.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5166360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9B4BD"/>
                </a:solidFill>
              </a:rPr>
              <a:t>Interactive prototype  →  Landing page  →  Guided session  →  Admin Hub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70648" y="1207008"/>
            <a:ext cx="4096512" cy="2752344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C9C4CE">
                <a:alpha val="22000"/>
              </a:srgbClr>
            </a:outerShdw>
          </a:effectLst>
        </p:spPr>
      </p:sp>
      <p:pic>
        <p:nvPicPr>
          <p:cNvPr id="8" name="Image 0" descr="Q:\personal\hackathon\devpost\07-comple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234440"/>
            <a:ext cx="4041648" cy="2697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98080" y="4315968"/>
            <a:ext cx="4041648" cy="1069848"/>
          </a:xfrm>
          <a:prstGeom prst="roundRect">
            <a:avLst>
              <a:gd name="adj" fmla="val 6838"/>
            </a:avLst>
          </a:prstGeom>
          <a:solidFill>
            <a:srgbClr val="25212A"/>
          </a:solidFill>
          <a:ln w="12700">
            <a:solidFill>
              <a:srgbClr val="3A344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45537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 / 5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714232" y="464515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4BD"/>
                </a:solidFill>
              </a:rPr>
              <a:t>steps completed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058400" y="45537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DA0F3"/>
                </a:solidFill>
              </a:rPr>
              <a:t>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424160" y="464515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9B4BD"/>
                </a:solidFill>
              </a:rPr>
              <a:t>human handoffs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0" y="5742432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885"/>
                </a:solidFill>
              </a:rPr>
              <a:t>Prototype metrics shown are illustrative.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Zen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 — Enterprise Customer Onboarding, Reimagined</dc:title>
  <dc:subject>Enterprise AI onboarding agent hackathon pitch</dc:subject>
  <dc:creator>Zen</dc:creator>
  <cp:lastModifiedBy>Zen</cp:lastModifiedBy>
  <cp:revision>1</cp:revision>
  <dcterms:created xsi:type="dcterms:W3CDTF">2026-08-30T12:45:01Z</dcterms:created>
  <dcterms:modified xsi:type="dcterms:W3CDTF">2026-08-30T12:45:01Z</dcterms:modified>
</cp:coreProperties>
</file>